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831cc354534604" /><Relationship Type="http://schemas.openxmlformats.org/officeDocument/2006/relationships/extended-properties" Target="/docProps/app.xml" Id="R2f0bd7e820be4a09" /><Relationship Type="http://schemas.openxmlformats.org/officeDocument/2006/relationships/officeDocument" Target="/ppt/presentation.xml" Id="Rc099bb76a5034b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c99ab33b7e4237"/>
  </p:sldMasterIdLst>
  <p:notesMasterIdLst>
    <p:notesMasterId xmlns:r="http://schemas.openxmlformats.org/officeDocument/2006/relationships" r:id="R78e355d47c184ed9"/>
  </p:notesMasterIdLst>
  <p:sldIdLst>
    <p:sldId xmlns:r="http://schemas.openxmlformats.org/officeDocument/2006/relationships" id="256" r:id="R1fba40d25a3c44bb"/>
    <p:sldId xmlns:r="http://schemas.openxmlformats.org/officeDocument/2006/relationships" id="257" r:id="Rf5e58e37b5854b57"/>
    <p:sldId xmlns:r="http://schemas.openxmlformats.org/officeDocument/2006/relationships" id="258" r:id="R7e518e7237cd481b"/>
    <p:sldId xmlns:r="http://schemas.openxmlformats.org/officeDocument/2006/relationships" id="259" r:id="Rcde17016f15848c5"/>
    <p:sldId xmlns:r="http://schemas.openxmlformats.org/officeDocument/2006/relationships" id="260" r:id="Rae41095f27804d24"/>
    <p:sldId xmlns:r="http://schemas.openxmlformats.org/officeDocument/2006/relationships" id="261" r:id="Rf085bb3449574ad9"/>
    <p:sldId xmlns:r="http://schemas.openxmlformats.org/officeDocument/2006/relationships" id="262" r:id="R9d8c303c4c404260"/>
    <p:sldId xmlns:r="http://schemas.openxmlformats.org/officeDocument/2006/relationships" id="263" r:id="Rb8db46157c2e4d13"/>
    <p:sldId xmlns:r="http://schemas.openxmlformats.org/officeDocument/2006/relationships" id="264" r:id="R7e6cabb911d44ed9"/>
    <p:sldId xmlns:r="http://schemas.openxmlformats.org/officeDocument/2006/relationships" id="265" r:id="R9983539c1df34f3b"/>
    <p:sldId xmlns:r="http://schemas.openxmlformats.org/officeDocument/2006/relationships" id="266" r:id="Rfa7faa9c5f4c440b"/>
    <p:sldId xmlns:r="http://schemas.openxmlformats.org/officeDocument/2006/relationships" id="267" r:id="R5e498460268f44b5"/>
    <p:sldId xmlns:r="http://schemas.openxmlformats.org/officeDocument/2006/relationships" id="268" r:id="R6613b2d2e4c2401e"/>
    <p:sldId xmlns:r="http://schemas.openxmlformats.org/officeDocument/2006/relationships" id="269" r:id="R94b1f4671be542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ac8e7f07154d1f" /><Relationship Type="http://schemas.openxmlformats.org/officeDocument/2006/relationships/slideMaster" Target="/ppt/slideMasters/slideMaster1.xml" Id="R5dc99ab33b7e4237" /><Relationship Type="http://schemas.openxmlformats.org/officeDocument/2006/relationships/notesMaster" Target="/ppt/notesMasters/notesMaster1.xml" Id="R78e355d47c184ed9" /><Relationship Type="http://schemas.openxmlformats.org/officeDocument/2006/relationships/presProps" Target="/ppt/presProps.xml" Id="R6ea4389dabb54ec2" /><Relationship Type="http://schemas.openxmlformats.org/officeDocument/2006/relationships/viewProps" Target="/ppt/viewProps.xml" Id="Rfa059a92758e446c" /><Relationship Type="http://schemas.openxmlformats.org/officeDocument/2006/relationships/tableStyles" Target="/ppt/tableStyles.xml" Id="R57145e05c2ad4b93" /><Relationship Type="http://schemas.openxmlformats.org/officeDocument/2006/relationships/slide" Target="/ppt/slides/slide1.xml" Id="R1fba40d25a3c44bb" /><Relationship Type="http://schemas.openxmlformats.org/officeDocument/2006/relationships/slide" Target="/ppt/slides/slide2.xml" Id="Rf5e58e37b5854b57" /><Relationship Type="http://schemas.openxmlformats.org/officeDocument/2006/relationships/slide" Target="/ppt/slides/slide3.xml" Id="R7e518e7237cd481b" /><Relationship Type="http://schemas.openxmlformats.org/officeDocument/2006/relationships/slide" Target="/ppt/slides/slide4.xml" Id="Rcde17016f15848c5" /><Relationship Type="http://schemas.openxmlformats.org/officeDocument/2006/relationships/slide" Target="/ppt/slides/slide5.xml" Id="Rae41095f27804d24" /><Relationship Type="http://schemas.openxmlformats.org/officeDocument/2006/relationships/slide" Target="/ppt/slides/slide6.xml" Id="Rf085bb3449574ad9" /><Relationship Type="http://schemas.openxmlformats.org/officeDocument/2006/relationships/slide" Target="/ppt/slides/slide7.xml" Id="R9d8c303c4c404260" /><Relationship Type="http://schemas.openxmlformats.org/officeDocument/2006/relationships/slide" Target="/ppt/slides/slide8.xml" Id="Rb8db46157c2e4d13" /><Relationship Type="http://schemas.openxmlformats.org/officeDocument/2006/relationships/slide" Target="/ppt/slides/slide9.xml" Id="R7e6cabb911d44ed9" /><Relationship Type="http://schemas.openxmlformats.org/officeDocument/2006/relationships/slide" Target="/ppt/slides/slide10.xml" Id="R9983539c1df34f3b" /><Relationship Type="http://schemas.openxmlformats.org/officeDocument/2006/relationships/slide" Target="/ppt/slides/slide11.xml" Id="Rfa7faa9c5f4c440b" /><Relationship Type="http://schemas.openxmlformats.org/officeDocument/2006/relationships/slide" Target="/ppt/slides/slide12.xml" Id="R5e498460268f44b5" /><Relationship Type="http://schemas.openxmlformats.org/officeDocument/2006/relationships/slide" Target="/ppt/slides/slide13.xml" Id="R6613b2d2e4c2401e" /><Relationship Type="http://schemas.openxmlformats.org/officeDocument/2006/relationships/slide" Target="/ppt/slides/slide14.xml" Id="R94b1f4671be542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3354cebcbe4c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0e70116ac54485" /><Relationship Type="http://schemas.openxmlformats.org/officeDocument/2006/relationships/notesMaster" Target="/ppt/notesMasters/notesMaster1.xml" Id="R9dcb3565523f4f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f9610b45884242" /><Relationship Type="http://schemas.openxmlformats.org/officeDocument/2006/relationships/notesMaster" Target="/ppt/notesMasters/notesMaster1.xml" Id="Radebe3a71b7840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4c45978c2a463f" /><Relationship Type="http://schemas.openxmlformats.org/officeDocument/2006/relationships/notesMaster" Target="/ppt/notesMasters/notesMaster1.xml" Id="R65e643c1a8c642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44ed3c888b4791" /><Relationship Type="http://schemas.openxmlformats.org/officeDocument/2006/relationships/notesMaster" Target="/ppt/notesMasters/notesMaster1.xml" Id="R60726da0686448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6ebfd78ecc4c7d" /><Relationship Type="http://schemas.openxmlformats.org/officeDocument/2006/relationships/notesMaster" Target="/ppt/notesMasters/notesMaster1.xml" Id="Rbfcd6302429e4f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8b3894e7064bda" /><Relationship Type="http://schemas.openxmlformats.org/officeDocument/2006/relationships/notesMaster" Target="/ppt/notesMasters/notesMaster1.xml" Id="R538c7e65dc9d42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35f0464d21420e" /><Relationship Type="http://schemas.openxmlformats.org/officeDocument/2006/relationships/notesMaster" Target="/ppt/notesMasters/notesMaster1.xml" Id="R638be20540994c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49b86ec28a4ec5" /><Relationship Type="http://schemas.openxmlformats.org/officeDocument/2006/relationships/notesMaster" Target="/ppt/notesMasters/notesMaster1.xml" Id="R54db545f8c8349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0125338dfe4095" /><Relationship Type="http://schemas.openxmlformats.org/officeDocument/2006/relationships/notesMaster" Target="/ppt/notesMasters/notesMaster1.xml" Id="Rf79a511de11545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3a69e8c90d42f3" /><Relationship Type="http://schemas.openxmlformats.org/officeDocument/2006/relationships/notesMaster" Target="/ppt/notesMasters/notesMaster1.xml" Id="R85842619f86642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70bc923ff24de3" /><Relationship Type="http://schemas.openxmlformats.org/officeDocument/2006/relationships/notesMaster" Target="/ppt/notesMasters/notesMaster1.xml" Id="Rffbb46405c2640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6dbddbe781450a" /><Relationship Type="http://schemas.openxmlformats.org/officeDocument/2006/relationships/notesMaster" Target="/ppt/notesMasters/notesMaster1.xml" Id="R9813354c383d41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5c7a1228dd46ad" /><Relationship Type="http://schemas.openxmlformats.org/officeDocument/2006/relationships/notesMaster" Target="/ppt/notesMasters/notesMaster1.xml" Id="Ra05466a2a3944b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4902bf801848cf" /><Relationship Type="http://schemas.openxmlformats.org/officeDocument/2006/relationships/notesMaster" Target="/ppt/notesMasters/notesMaster1.xml" Id="R30896a39f0cf42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753a63df144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70a188307e4e4b" /><Relationship Type="http://schemas.openxmlformats.org/officeDocument/2006/relationships/slideLayout" Target="/ppt/slideLayouts/slideLayout1.xml" Id="R5861e9f0de5d48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61e9f0de5d48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4eb867d0e4ab7" /><Relationship Type="http://schemas.openxmlformats.org/officeDocument/2006/relationships/image" Target="/ppt/media/image.png" Id="R005b870556604640" /><Relationship Type="http://schemas.openxmlformats.org/officeDocument/2006/relationships/image" Target="/ppt/media/image2.png" Id="Re2be05b475834053" /><Relationship Type="http://schemas.openxmlformats.org/officeDocument/2006/relationships/notesSlide" Target="/ppt/notesSlides/notesSlide1.xml" Id="R1af76ea11472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f3dc4e4a244ef" /><Relationship Type="http://schemas.openxmlformats.org/officeDocument/2006/relationships/notesSlide" Target="/ppt/notesSlides/notesSlide2.xml" Id="R5712b0ca4588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de82a1e5d47b2" /><Relationship Type="http://schemas.openxmlformats.org/officeDocument/2006/relationships/notesSlide" Target="/ppt/notesSlides/notesSlide3.xml" Id="Rb61e4dbefa074a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ea4c6f5e6449d" /><Relationship Type="http://schemas.openxmlformats.org/officeDocument/2006/relationships/notesSlide" Target="/ppt/notesSlides/notesSlide4.xml" Id="R30202a5612ea45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d9eefa90347df" /><Relationship Type="http://schemas.openxmlformats.org/officeDocument/2006/relationships/notesSlide" Target="/ppt/notesSlides/notesSlide5.xml" Id="Ra752b822d30c41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8330dde7b4d83" /><Relationship Type="http://schemas.openxmlformats.org/officeDocument/2006/relationships/notesSlide" Target="/ppt/notesSlides/notesSlide6.xml" Id="R8dc2395d834249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41e63c62c406c" /><Relationship Type="http://schemas.openxmlformats.org/officeDocument/2006/relationships/notesSlide" Target="/ppt/notesSlides/notesSlide7.xml" Id="R00be14520d1749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7b270823b4857" /><Relationship Type="http://schemas.openxmlformats.org/officeDocument/2006/relationships/notesSlide" Target="/ppt/notesSlides/notesSlide8.xml" Id="Rd7545cf5175e4a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ee37f6f6944c0" /><Relationship Type="http://schemas.openxmlformats.org/officeDocument/2006/relationships/notesSlide" Target="/ppt/notesSlides/notesSlide9.xml" Id="Re4d5033d30ed4e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0fc17320a4eda" /><Relationship Type="http://schemas.openxmlformats.org/officeDocument/2006/relationships/notesSlide" Target="/ppt/notesSlides/notesSlide10.xml" Id="R665cbb661cfd40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2ccc6fe504c6d" /><Relationship Type="http://schemas.openxmlformats.org/officeDocument/2006/relationships/notesSlide" Target="/ppt/notesSlides/notesSlide11.xml" Id="R1ffd3669138b49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0161c95ae475e" /><Relationship Type="http://schemas.openxmlformats.org/officeDocument/2006/relationships/notesSlide" Target="/ppt/notesSlides/notesSlide12.xml" Id="R756f6621e9bd44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6dea0f84e4f22" /><Relationship Type="http://schemas.openxmlformats.org/officeDocument/2006/relationships/notesSlide" Target="/ppt/notesSlides/notesSlide13.xml" Id="Rc3c870ca9e1042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ab55b16d14834" /><Relationship Type="http://schemas.openxmlformats.org/officeDocument/2006/relationships/notesSlide" Target="/ppt/notesSlides/notesSlide14.xml" Id="R8ece4b0bd95743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52638F-22DE-47C5-9514-A80D4ED3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AD25E-4074-4141-A9B5-C4DEA70A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FF859-ADFD-4DEC-9702-878A9329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C3100-933F-461F-BCD6-A263C12D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B9B2E-C74F-4F24-A103-CDCCA77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DB76D-6862-493E-860B-88A837AB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FBCBE-A799-4BD2-B88B-A9F9F9DC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FEF71-7715-4C51-9111-BEAC0664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98CAE-4BD5-4A13-BBFA-D2B5A2BA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E5243-1D16-4EBC-AC7D-5DA655D4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4DD8B-B38F-40D5-8121-967B1731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B9ED4-2649-46C1-9F19-4B759AEC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39744-018F-46A3-B77A-2DBF0FA7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D8E79-DE0C-4DD2-B163-C02DD1AB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6345B-A4CD-4B8C-94DA-56738FC1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7C2E4-5008-4A5A-9EDF-95521DDB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72D2D-6610-4434-B354-C69D7192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71985-56DC-4A2B-ADE7-607C4CEE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F0AF3-FE1E-4B81-A1BD-43612120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D7370-FE6A-431C-A083-7269E535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801F5-8E5A-4B5B-B6C2-F194BA13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FB252-CFBA-4197-B314-51CE73EA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4E4B3-6F7A-4FEA-977E-3746B4AB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87A50-49A6-4C39-9E97-111058CB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94095-FBD8-4223-BFDE-F690440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10A791-5B95-4E0E-A784-F46657B2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C8357-1E40-4AB0-BD21-0FEE3775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79EBF6-7F5C-4058-939C-1084E880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8269F5-31A7-43FF-891A-48FA407D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A9319-6BB1-435D-B7AD-16860F3D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0E9217-530D-4A71-BB71-D3CCE042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036CBB-7F7B-41DF-B5D4-0B429E72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6E0144-6E1A-47E5-8786-C7E46EFF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C4805A-5FE3-44EA-83B6-18E0D9C6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8116B5-8726-452E-A418-652B9D09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6"/>
          </a:solidFill>
          <a:ln xmlns:a="http://schemas.openxmlformats.org/drawingml/2006/main" w="0">
            <a:solidFill>
              <a:srgbClr val="0713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1E0868-8C96-4A50-B8C8-8BB61676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43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b870556604640"/>
          <a:stretch xmlns:a="http://schemas.openxmlformats.org/drawingml/2006/main"/>
        </p:blipFill>
        <p:spPr>
          <a:xfrm xmlns:a="http://schemas.openxmlformats.org/drawingml/2006/main">
            <a:off x="685800" y="540677"/>
            <a:ext cx="876300" cy="823647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e05b475834053"/>
          <a:stretch xmlns:a="http://schemas.openxmlformats.org/drawingml/2006/main"/>
        </p:blipFill>
        <p:spPr>
          <a:xfrm xmlns:a="http://schemas.openxmlformats.org/drawingml/2006/main">
            <a:off x="1820161" y="647700"/>
            <a:ext cx="2436628" cy="6286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BD3AE5-D4A5-4E82-BC86-9A9E2830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1A2B"/>
          </a:solidFill>
          <a:ln xmlns:a="http://schemas.openxmlformats.org/drawingml/2006/main" w="13335">
            <a:solidFill>
              <a:srgbClr val="FF5A7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641058-F1F6-4EED-AE71-0CE20399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64E2BB-D7AC-44F7-8802-14E83E00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基于 PathVQA 数据集的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84B7C9-4779-4941-BBA2-B357D91A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轻量级医疗视觉问答模型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A25EF4-406F-4BE4-92EC-9B280C47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F611B1-C924-442F-AB3B-2E0CE55D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答辩人：周健   学号：208221335   专业：人工智能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88362C-DB49-44E7-8F62-D6D14CA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指导教师：王青云 / 蔡亮亮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17F0AF-6CE9-48DD-BBB7-7F2B65DD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102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Medical Visual Question Answering</a:t>
            </a:r>
          </a:p>
        </p:txBody>
      </p:sp>
    </p:spTree>
    <p:extLst>
      <p:ext uri="{BB962C8B-B14F-4D97-AF65-F5344CB8AC3E}">
        <p14:creationId xmlns:p14="http://schemas.microsoft.com/office/powerpoint/2010/main" val="11339766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8ADA1-8018-4A4A-8F8E-B2FD56D6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1F461-AC39-4CDF-9A49-B1B14F8C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4ED97-3FA7-4AE9-B857-B56FC158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12A6F-3104-4999-B32C-603209B4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D014A-0669-48D3-8353-45815E4E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0B3CD-D426-4D60-A20A-64572E54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948F7-7808-41AA-A83F-76ACF4ED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55A20-FA9C-414D-A677-C72D7439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EE7EA-47C4-4F15-A31A-C65A57A0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44EE9-B553-4104-989C-A5B62DBB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A275D-C216-4AD6-BCB1-E0FD2DBD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16946-7992-4BE9-A045-89331758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95937-DE1C-4E07-B621-FE08CC40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8D7D9-331E-43A0-968B-291160B3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67B5B-0484-4F4D-A777-4CBDB55D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35633-A436-4BB6-9BE6-FD054E9C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80281-B64A-4B6C-8906-A1D44160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05E61-C537-4C0F-8F0A-E6BD1CBC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72CD8-4185-4068-8B9A-62760A70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BA7DD-6CF4-4296-AD49-FDD240A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71F94-A42D-4D6F-97BF-69EDDE9E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FAB57-97EC-436E-AB2B-F54F913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0424C-ACE7-439C-A8B5-20F24B08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351615-CFA8-4E2A-ABC3-5B96D31E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44374-4C50-4479-8E6B-AA9FB03B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052B5-269C-477D-96C1-DE5711BC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BAD632-4DE7-403A-8CF0-E18A1BDB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82BE20-B845-4D7A-BF42-B5802448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8EDCD4-B40D-47B3-B7FE-538E926B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F0F083-8689-4488-AFAD-87D69C71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065CAD-53FC-4BF7-AD94-321CBCF1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9A4FAB-4DB0-4219-8B73-6144C636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3177C3-7336-4579-84A6-3E58CDA0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824E55-3734-4920-AB0A-2DA80E9B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01 / 研究背景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2B19BD-9690-4732-8793-B4FB60D4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0120D7-009E-433A-851F-F0FE4C4B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医疗视觉问答让系统同时理解图像和问题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F706AE-44CF-45B1-9697-AFD17812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任务目标是根据医学图像与自然语言问题，输出有针对性的候选答案。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F18208-DCEF-4A44-B304-474CFC18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4095B0-A221-49F8-8C37-CD5C57B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19C7E1-1B3D-4744-8367-B5EA1FCC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6675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BEA08B-DFD5-4CFB-9199-8F5939C0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3E5296-AA3D-4165-B418-2BF15D20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86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医学图像数量增长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1D554B-5F24-4818-A67E-7803A3F5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6860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病理、影像等医学视觉数据不断积累，人工逐一分析成本较高。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EA5F29-F84C-4DB2-8E78-FDB2AA15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5F60F0-E223-466E-A4FE-9F6F99B9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76ACA7-0F4B-475E-A241-0EEFDDCF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66675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7108D2-1EDC-4AA4-966C-604867B5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527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628208-7C2D-40BD-BFBA-0D3D6C1A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86050"/>
            <a:ext cx="2686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问答交互更直观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0E64DF-F137-4D35-AC1F-113B5904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90875"/>
            <a:ext cx="26860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用户可以围绕图像提出具体问题，系统返回与问题相关的答案。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9C7209-3131-4801-A936-D97E4940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276781-E6DD-43B2-918F-DC98FBA8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98DCFE-270F-4F1D-A9D5-6D31AE48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66675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395DF9-4755-4DC6-8C3C-4C694521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527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1C6CC5-2BE1-47DC-99B6-C94BA385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2686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轻量模型更易落地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737A86-F3D0-4DA5-B734-B9DB8DAB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90875"/>
            <a:ext cx="26860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在普通本地环境中完成训练、评估和网页端演示，具有工程可行性。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F67E55-4AD6-4836-969C-44A70915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95875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B2A"/>
          </a:solidFill>
          <a:ln xmlns:a="http://schemas.openxmlformats.org/drawingml/2006/main" w="13335">
            <a:solidFill>
              <a:srgbClr val="FF5A7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69C367-4B10-4E9E-AAB5-938C9359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197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rPr>
              <a:t>系统定位：教学辅助、原型验证和候选答案推荐。</a:t>
            </a:r>
          </a:p>
        </p:txBody>
      </p:sp>
    </p:spTree>
    <p:extLst>
      <p:ext uri="{BB962C8B-B14F-4D97-AF65-F5344CB8AC3E}">
        <p14:creationId xmlns:p14="http://schemas.microsoft.com/office/powerpoint/2010/main" val="18952905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4386F3-ECAD-48D4-A1B7-AD0277CC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27BB2-7F27-4199-BFF5-F7D4D8FC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66F9A-82B4-48C8-A9D4-CD33270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1EFE0-E689-40A6-B055-B955AF5E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24194-2C07-47B6-A8EC-E91C7CB3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2C01D-0B56-4A03-A2C0-D9268385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E1590-DB29-4601-87E4-971F4C48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A7FF6-2AEF-401E-93EA-3954671A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01383-0811-410C-8C1F-1D394F52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39EAD-580B-44C9-8429-2BCB7B9D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88877-6B10-4773-8CBD-C8268778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E175A-F86F-4DBF-953A-8DBE2EED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AC1C2-9666-4C7A-A80F-BFF50B1A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74BC7-FEE5-4F95-B95A-8514DF35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F19D5-752E-422D-947E-4B4EDAFF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2BC76-6164-4CE5-A76A-1D819B7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7FD20-3B07-4119-B018-7F8DD091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694ED-AA77-499F-8FE4-53E9E232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6870A-80E8-4129-B919-9D957207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E489A-32DC-4CC8-9A8E-E10515F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4395A-07DC-432F-92A2-B890DA7A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1D708D-3105-4E8C-8284-1AE5E29A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DE35D-0CFF-448C-BCBB-ACEAFA7C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BB2FC-ECEE-4344-BF75-F934922C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65D93-D823-407B-B451-69B7BF83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286F4C-CA60-4BE9-A09F-3A4E12AA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B2C098-9860-4C3C-AEC4-6561F7F8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C43B1-772C-435D-89C9-BF30565B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A9693-6388-4137-9B80-0C73C8BB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F9BB13-30F8-4746-8CE3-6EB880C0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71D3A1-F101-4989-9F8E-480B297D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10E5DD-339F-4990-A53D-FD75E307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D148EF-FD72-401D-8228-1B870320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34A848-3076-410B-BC00-749E75A9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02 / 研究目标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301AA8-D933-4DE6-9E4B-CD6F7F74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3F1808-C72D-4F3D-B4A0-F0CC4E0A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构建轻量级医疗视觉问答模型与网页原型系统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BC9479-FE92-4E1E-93C6-6B464126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本文关注模型可训练、结果可评估、系统可演示。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DBB6D8-C482-4777-8143-D4B7B931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667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C6A166-DA68-4F22-A372-988985CA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667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A2ED5-4941-4E57-9D15-5FB8BEE3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66675" cy="2047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C64975-43A5-451D-B1A2-8C75FC9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4BD330-3C1F-4AFA-A0A2-D8C404D0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目标一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314603-A8DB-4C02-A206-D93209A3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22098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完成 PathVQA 数据解析、清洗、词表构建和答案类别映射。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DBC3B7-1B5C-4AC8-ABDC-00E6F667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33625"/>
            <a:ext cx="2667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85CBE6-07AE-42D4-A119-D7900E9E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2667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6BD52E-0F4C-4B0E-90F1-3FFB1E00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66675" cy="2047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F49B45-AC64-4E33-AFE2-F8E3E06F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09825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314B69-6254-41A1-A044-E976F549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431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目标二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BBB0A1-D05F-41CE-AB0E-8761BBD1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57525"/>
            <a:ext cx="22098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设计图像分支、文本分支和融合分类器，完成多模态建模。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9ACFC0-078F-45D9-95C6-513CAA07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2667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BBAAF0-C2B1-4F3F-8B6A-1E8700CE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667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04F3E3-34F3-4B8B-AE05-A5CC4D90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66675" cy="2047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AEBE98-F01C-43DF-9794-F59C5FCE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9825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EE7A7F-18A6-423D-AB6C-839A7018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431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目标三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7100E1-0156-465A-8F57-BD8822B4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22098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通过两阶段训练提升效果，并用准确率、候选命中等指标进行评估。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656399-E681-4322-8AD3-427A228A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33625"/>
            <a:ext cx="242887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77937D-2DB6-4815-BF31-4973660C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242887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0CC656-719E-4267-89C4-B4183414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66675" cy="2047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224708-507B-43BE-95D7-49047B82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409825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DF21ED-D948-46B0-A804-7A96ADF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43175"/>
            <a:ext cx="1971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目标四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4C2129-270E-4947-871F-17B946F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57525"/>
            <a:ext cx="19716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搭建网页端问答系统，实现图像上传、问题输入和候选答案展示。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BC2793-9836-436F-8724-A02B52E1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95850"/>
            <a:ext cx="714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2E0D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8ECD78-FC27-48D0-86C3-6537E7F5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0540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数据处理  /  模型训练  /  实验评估  /  系统实现</a:t>
            </a:r>
          </a:p>
        </p:txBody>
      </p:sp>
    </p:spTree>
    <p:extLst>
      <p:ext uri="{BB962C8B-B14F-4D97-AF65-F5344CB8AC3E}">
        <p14:creationId xmlns:p14="http://schemas.microsoft.com/office/powerpoint/2010/main" val="6037678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CCBC09-D928-4A27-873A-1979A615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C6CAF-8C9B-4402-B038-CBF6E1B0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BC9F3-95C2-4F96-A688-8931BE86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BC101-1D62-4354-9E66-DC0132E8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AF8F9-F1E2-4896-8D32-A286F913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78163-139A-4DC5-BC48-C9B82145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09494-B248-47F8-B64E-A1B9FE96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CDB4A-988F-4B53-96B3-2D3083B3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C1702-7091-4649-956F-11BC1F20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CB98C-43A4-4F6C-B3FA-7FFF3041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EAC32-9F75-402C-8854-6448B3A1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3ED48-FF72-4203-BD41-3BA3C06E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FD57E-F8AA-4D5F-A2D4-0E6B3C7B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8654C-5CAC-422D-AB9E-E474ABD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9D1C8-4790-4550-95E3-05EA99D4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54206-1737-4E30-AABA-3E600B79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391F8-DC33-4039-A193-906F6709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F0548-CB56-4670-B050-4FEBE6D8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45ECF-3C63-4A1B-91D5-B1DFF2DC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BE699-4270-44E2-941C-148CE4CC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500D3-EC33-4A1E-98E5-407CDB3F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63E73-1EE2-4DB7-B992-FC4A0584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32507D-387B-45CE-B741-D5FDC9C5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A0A9C-B2C7-416A-A4D9-41A1A8D8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8DF46-2F83-4E4D-A8DF-2374706C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783DCB-4617-4489-A1C4-F7253D8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A97023-9824-438C-AB15-069DE82C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3CA761-F081-4662-8642-EB559C96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F7A11F-3B9A-46B0-AA54-3BF32961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8AB3A5-5DA5-4702-9D9A-866331FF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48FEC9-2FB7-4558-8F49-6BEEEA8E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235FD2-599D-4580-A383-C3117491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AA9D3D-4E71-4486-88B3-8D1F342A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68346B-3C18-4C41-8688-2DCBE250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03 / 技术路线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B38DE3-9001-416E-9CBC-0A94A925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F1D901-CBD4-45B9-90F3-93A93772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形成从数据到网页演示的完整闭环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08E24F-98B1-422B-AA43-42FA3116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系统围绕数据、模型、训练、评估和应用五个环节展开。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18C5A0-95DE-47CB-8FE6-2226A1C6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7175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46A6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8E6F95-DC87-439C-86ED-F8FD65C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485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EF9E44-280E-4285-B657-7911AF6F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D1954B-5910-4B2E-84DF-1EF16A42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40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PathVQA</a:t>
            </a:r>
          </a:p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固定划分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156306-C639-43F2-91FC-BBAB9724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71825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3CB332-ED42-44AE-887E-3DC0423C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22E0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8E2FFC-D5A9-4325-834A-9274C741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1485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F2CD26-DD23-4CD2-AAC5-1D0F29FD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模型设计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1187E8-3935-4DE0-B851-3A55668C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140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LSTM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F88F20-C36F-40E3-8341-0712840C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71825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B53C3C-B6EF-4C1D-A529-72404251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7175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FFB8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863F5D-D5B5-41C8-988C-52EABCD9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86050"/>
            <a:ext cx="1485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94DC98-4497-4C30-A075-313B8ED4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训练优化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053ED8-6542-456A-B513-B4BC1C6E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140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两阶段</a:t>
            </a:r>
          </a:p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微调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998652-487B-42A5-A223-74696430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71825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C63B65-1F1F-4052-A0B9-FF8A6111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5DE3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5967F6-EB18-4B57-874B-6CD096E1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1485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B48D5C-4EEE-4792-AC9B-57139A37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rPr>
              <a:t>结果评估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AEB91E-6337-43B1-8A94-50CD9D8B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76600"/>
            <a:ext cx="140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准确率</a:t>
            </a:r>
          </a:p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候选命中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2417C8-A387-4478-9DF8-F87D1F44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71825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05C6DA-6699-494B-880A-C9C38FA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71750"/>
            <a:ext cx="1200150" cy="1581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FF5A7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715712-1F2B-4166-9F92-76A7AB28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86050"/>
            <a:ext cx="9715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A72"/>
          </a:solidFill>
          <a:ln xmlns:a="http://schemas.openxmlformats.org/drawingml/2006/main" w="0">
            <a:solidFill>
              <a:srgbClr val="FF5A7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5627E9-85B0-4A06-A26E-C78A2AF1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0"/>
            <a:ext cx="895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rPr>
              <a:t>网页系统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EBFD18-2992-4C72-AC4C-3C38B6E9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467100"/>
            <a:ext cx="895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页面</a:t>
            </a:r>
          </a:p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交互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A7C67B-5B18-4DD2-BAE1-D3181F50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3A50BC-420F-4C2B-A984-00CD9288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5143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EEE85A-599E-4D98-B8A9-C06F1395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24450"/>
            <a:ext cx="487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闭环实现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DCB264-6F3C-4BB3-9882-A09EBE58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5950"/>
            <a:ext cx="487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数据 → 模型 → 结果 → 系统</a:t>
            </a:r>
          </a:p>
        </p:txBody>
      </p:sp>
    </p:spTree>
    <p:extLst>
      <p:ext uri="{BB962C8B-B14F-4D97-AF65-F5344CB8AC3E}">
        <p14:creationId xmlns:p14="http://schemas.microsoft.com/office/powerpoint/2010/main" val="7574269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A1A36-B5AD-414B-96E6-6D36C9B7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DDA98-1C0F-418F-9B30-C83CBF38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A53CE-88CA-40ED-BDD2-2086DE80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F0472-9C31-4D3D-AEE9-D8F884B6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F846F-B55F-400F-9AE7-A187B9D8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D89B3-AD6B-4E88-848A-3BCB8630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F4F25-EC79-41EB-83EB-B2293216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C6172-9930-46C9-A20F-D3C663E5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A370B-1F90-4A74-877F-90B868FF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A863C-097F-4176-AFB4-E75EC24D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61FEE-36ED-4271-849D-BD47395F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F7933-AF71-41ED-9A60-B71F851C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0A3CC-497B-46F4-BFEE-1A26755C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C895F-7058-493E-BA8C-C01E82B4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64443-F928-47F6-8017-4D7CB81D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5B51B-2641-4479-8141-DA6081DD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3D72E-5410-4904-83AA-40F0C650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34CDB-C248-4405-8310-9510A78E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6CBE9-45B5-491B-AF05-F10F95C6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B0330-8216-49F8-9A02-411D1897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B9181-6E21-4D74-A3CF-A51C81CB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41CA8-D2EA-4986-A65A-47EC6946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C96D5-61EA-48C0-99B8-8E6C6AD1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FB809-5E7F-40C9-941F-A215DCD5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FCCAC-1BB5-402E-9FC2-947F65D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E36A63-A455-491C-A2D9-662BCBDF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191DF-739A-4617-A91C-CB70DDAD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BEBC78-FEAC-4261-AECA-0FB3B68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EA2B24-EE6F-4CF0-AE27-B54CF05C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82E37-DA80-4CE9-B314-E81649C5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C35A95-97EC-4C66-8095-45B0C0C9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0A859A-672C-448E-A69B-A668E113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8E213B-29B8-443F-ACF1-7F4E75A3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6B5205-10C2-415A-A8DB-F5B8C4DE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04 / 数据集与预处理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288D48-58A4-434E-B695-CAA3E322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237A4B-AABD-4A2F-80B1-8CAF9FBF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PathVQA 数据固定划分，保证实验可复现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6C2A9-81CC-4C99-B0EC-C471AE58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训练集构建词表与答案类别，验证集和测试集复用同一映射。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DD9D1D-7F98-4343-A474-3023EA22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E4BC2C-DDCC-4F5C-AAF6-E5F86A7E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C59757-C45D-4126-B98C-51A60417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12,523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A0E2C8-5172-421A-8CC8-FB8E87FD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B09AAB-6FE4-4775-8EB3-04BFDAE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7EDD30-7BE1-4A9E-A713-FDBEB0F2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FE9A48-EDED-4461-A67F-254651EC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050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2,438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578075-10E5-4C4C-9CE3-8938C1AF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76575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1BDD04-9AD6-42D5-B926-D8E79229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B31E13-CA6A-4645-BF74-19772554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5E1779-8D6D-43C1-AD2D-6D8C7AAF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050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rPr>
              <a:t>2,342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96B862-7568-4D32-AACF-C32C8089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76575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测试样本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E4EA00-EC1B-4D7E-83D1-36F0E807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429125"/>
            <a:ext cx="981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1ABF8C-FE42-4D36-8154-FF817DA9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33875"/>
            <a:ext cx="981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2769A-546D-4C0D-96F1-AC88515B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33875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2F6CD2-3F90-4EC0-8D01-9489756D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05325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13C062-1742-4255-B1B9-6CAA0076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38675"/>
            <a:ext cx="935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预处理流程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E5ABE7-7D30-4C29-95E8-65B0E81D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133975"/>
            <a:ext cx="935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读取问答数据 → 文本分词 → 建立词表 → 答案映射 → 张量输入</a:t>
            </a:r>
          </a:p>
        </p:txBody>
      </p:sp>
    </p:spTree>
    <p:extLst>
      <p:ext uri="{BB962C8B-B14F-4D97-AF65-F5344CB8AC3E}">
        <p14:creationId xmlns:p14="http://schemas.microsoft.com/office/powerpoint/2010/main" val="17353883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E71F6-5CDF-4BB5-9F6C-563FDDA9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42581-E658-4A28-BE12-B8181658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71C98-3139-4BBD-BBF3-C05551A3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8F5D8-3865-481E-B9CA-342494C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5C68-C1EF-4C10-BB15-2CB42782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089FD-60A3-4052-93A6-67506A0B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E0FFA-33CA-4B68-A66A-0BA9D0CF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45BEC-DF9E-40A2-B206-6B1E302C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15021-DA7E-4788-8272-C0AED871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EB23F-ACFD-4702-B79C-CF539957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A1A3B-D6B1-4059-AADD-9AB08EFC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9913D-E4C8-4ADC-812F-B95102DB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945B2-873B-465A-A2ED-DD1B392F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3E171-99B6-493F-A41F-E5827473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815D5-061A-4E74-8A07-0CB30CF4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D9A96-FBE2-4BE8-B321-49655AA7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BF4F1-11BC-4EC5-B8CB-32D38A35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D5B3E-CAAE-4661-963A-91DD8AF9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F910E-5515-4D72-B29E-F5B6C2B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1148D-F2D4-4443-810A-0456A4DC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8D914-2781-42E6-A339-9A3B187F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114D8-4B2E-4F90-BCE2-A992AF72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E9E6B-3A28-4F24-BFD0-125E2232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C7448-99F6-4121-BD4C-F93F565F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C541EC-6805-45FC-9F8F-C4E5681C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342B8-E8D9-4C7B-B520-B3AE298B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24D14-1396-48FA-98B8-F0FAB090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49AF8-3699-4421-B36D-753A7743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F12D2D-9D8A-47CC-B993-F7F2B04F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E3AE25-C575-4563-B187-B97D9492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963CC1-DED5-4832-8112-199AE5C0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0E7895-97E3-4F1E-A0B3-60DDA3A9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26C85F-FF83-4EB2-93B2-E4C398AC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06550-53F4-4FD5-9FC7-B427727B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05 / 数据表示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1E1341-37FF-4842-9957-D9296F1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403FA5-8791-4227-A5E4-8D413E35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问题文本和答案空间被转换为模型可学习的形式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E1C677-C248-4C07-9C8D-240DA960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模型输入不仅包括图像，还包括经过编码的问题序列。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86AAF5-1FF4-4FE0-A5AD-0B4E07C7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8DC0F2-B638-4334-8E87-B7D0A98A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476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B36AA9-C460-44CE-AE7D-C769D66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224×224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9702F8-5637-439B-A607-5409FFA4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图像输入尺寸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C05013-9125-4060-9AC2-A4C0A7CE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3362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7E5CCF-FF45-4EAE-AE41-A04D0266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33625"/>
            <a:ext cx="2476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B5D34F-958A-455B-A2FA-EF35387B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0032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5EF504-C802-48C8-A887-B53AE472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71825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最大问题长度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ACDD22-CD45-4011-9B18-CD38FD57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E15E1C-00F8-41DC-91C1-03FA9FFA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476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150E80-B868-48D4-ABFC-BC4D162F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032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4,331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C276BD-3865-4EF3-90A6-96C45008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问题词表规模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988CFE-AA46-4440-BEE1-8456BBB6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191D9D-4233-4FBA-B046-3BB92D8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476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A72"/>
          </a:solidFill>
          <a:ln xmlns:a="http://schemas.openxmlformats.org/drawingml/2006/main" w="0">
            <a:solidFill>
              <a:srgbClr val="FF5A7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84F14D-481A-435A-B082-EDF73A26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0032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rPr>
              <a:t>2,079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745623-56FA-4F7D-9D23-D5E2A2DB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71825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答案类别数量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9448EB-64CE-4CFF-8C11-1CC03835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67250"/>
            <a:ext cx="9334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910ACD-1AAE-4657-8598-415EA6BE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9334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241556-FC54-4D1F-912B-F0C4A0B5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6032A6-66A3-41EE-ACFE-5707559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980B93-BA0D-478B-8210-5FA8E4C2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76800"/>
            <a:ext cx="8877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建模方式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FFE448-2674-43EF-9147-C919C87D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81625"/>
            <a:ext cx="887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医疗视觉问答被建模为多类别分类任务，模型从 2,079 个候选答案中选择最可能答案。</a:t>
            </a:r>
          </a:p>
        </p:txBody>
      </p:sp>
    </p:spTree>
    <p:extLst>
      <p:ext uri="{BB962C8B-B14F-4D97-AF65-F5344CB8AC3E}">
        <p14:creationId xmlns:p14="http://schemas.microsoft.com/office/powerpoint/2010/main" val="5559293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044ED2-271C-478A-9144-21816A69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D6820-6E68-44C7-9AD2-3880C87E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BAA6F-2D36-4EE0-8008-FE682D5E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48A28-AFB8-4213-BCE8-BBE30F13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D4B23-B568-4EDD-BCF1-428BD38D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E18B5-AB7A-4E5A-89EE-A6AE9F89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F0DCE-890F-4BC6-9B25-54E884FB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0C72F-F14E-488A-86B0-BE998C51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50541-B06F-4CA2-A201-A90545C6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ED5A8-5CCD-456A-894D-23E5E5D3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D7C3E-CA0D-4BC5-A38E-9F145068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682A2-F264-41DF-9EE0-9DE7D799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84E43-9F0A-4983-8752-36CAF4AA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770EA-9A26-43FF-94FD-76CAFC4A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5B368-46B8-4C61-B9EC-4E4DA72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339D3-0EED-453F-A593-B498CB99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DBE4E-EFA1-4C78-AB8F-196F7B62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B829C-0E0C-4D24-9B18-3CC6FAC9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F50C1-D884-40AB-BBC9-43EC6D69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3A8B6-6B0D-4CA8-AF2E-ED6BF46C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4C04F-0582-4B87-BDCE-B81393E2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96C66-09B4-4EEE-A98F-F72CA832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74F4E-E7CE-4D27-A001-5DE2294B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56CED-EF82-440F-B542-E402DA2B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DED132-D8B1-4E19-AD15-679BA168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40651-02FA-49D9-A551-A4764E79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E1BF7A-3DE3-4536-9276-3BFBBF7D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80432-0195-4B18-9661-DF6F9EDD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71831-B973-42FA-8144-5AD1CB54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42DD60-59FA-4A71-99F1-6862142B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75D30-77D9-4D3F-964E-776E37FE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5874E3-FB14-4D85-B40E-B283ED5F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4E130D-8015-4BC6-AF24-5DF7E6BB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EEF6E2-09ED-4AAE-A498-4CDD7A07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06 / 模型总体结构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D7646E-186E-4253-8995-66881A9A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357964-5AC8-41F6-A981-33E62BCB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图像特征 + 文本特征 → 融合分类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4643BE-23D1-485F-B2FF-AEC7521B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轻量级多模态模型由图像编码、文本编码、特征融合和答案分类组成。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1F53F2-1E69-4DC6-86F3-487AAB42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46A6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87D4C8-91B1-461D-9EEF-D7A24F1D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485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8D3B5A-D2D8-4840-AF11-4990EDD7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医学图像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3C1783-609D-4ACD-A5B7-055379E8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224×224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922065-1346-4A54-A762-5E6AB091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76525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26B2CB-BBD9-44E8-AC3D-53526162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46A6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D2DA34-A558-46F1-A3C5-562F01FA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1771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C09F61-2C87-4F51-A9BB-5811EC26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527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F1D42F-A643-424F-B1A9-FC7211A2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输出 512 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83EDB8-37EA-4473-9C06-E36FF64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CEE365-40AD-4C8E-BBB8-804E0D16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71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22E0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B4B322-DA3F-424A-964C-74EE315D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485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18D74E-0315-49C2-8B30-355EF99B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问题文本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30160A-5C41-4079-B635-C762B58B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最长 20 词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29907C-5320-44A4-8D33-3A28CC57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27031D-F12F-42B6-AC09-C7DA3C90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22E0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D87F97-5B4F-419F-A992-72F000E0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19550"/>
            <a:ext cx="1771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42A678-7F1E-4D8C-9217-D0FF7519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910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文本编码器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952E27-8A2F-40F9-A8F9-5DE0106C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1695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Embedding + LSTM</a:t>
            </a:r>
          </a:p>
          <a:p xmlns:a="http://schemas.openxmlformats.org/drawingml/2006/main">
            <a:pPr algn="ctr">
              <a:def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输出 256 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435961-ABA8-4058-9EDE-EE1EB908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96D8CB-2EB8-4389-8158-188DF582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9562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FFB84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4E1C16-DEB4-4465-AB13-D0FD3FE3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09925"/>
            <a:ext cx="1771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00782C-5922-480D-AC08-78CD1569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8137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特征拼接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B1D9D7-2687-4EF5-84D7-125870C9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800475"/>
            <a:ext cx="1695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512 + 256</a:t>
            </a:r>
          </a:p>
          <a:p xmlns:a="http://schemas.openxmlformats.org/drawingml/2006/main">
            <a:pPr algn="ctr">
              <a:defRPr sz="150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= 768 维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9BF149-F802-4BC0-92E4-F95E075C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A18857-71EC-4F23-8F9D-3C578D6E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5DE39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3BF1AF-A3EC-4246-9D0D-6BAA5DB3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57550"/>
            <a:ext cx="16764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64A314-49BE-4044-90A1-53FF3CA4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2900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rPr>
              <a:t>答案分类器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890E904-AFEA-427A-AAEF-4B6650B9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4810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输出 2,079 类</a:t>
            </a:r>
          </a:p>
        </p:txBody>
      </p:sp>
    </p:spTree>
    <p:extLst>
      <p:ext uri="{BB962C8B-B14F-4D97-AF65-F5344CB8AC3E}">
        <p14:creationId xmlns:p14="http://schemas.microsoft.com/office/powerpoint/2010/main" val="1076988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A01A47-D2A6-4CCA-9245-E127CA9E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98ADD-6762-4193-A770-8050B4D1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BF1B0-1BB2-4111-9857-C322B9B4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BCA54-8348-481B-9990-957EEBD2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91789-8042-4A05-8EAB-12939CD3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7BB5B-29DE-4287-AEB0-F23A2AC4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FEC92-ADDF-4F82-BE1C-3B18EB4A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6184A-008C-4249-ABB7-B0D0F270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9CA87-0905-4C7A-B28E-9B730B06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790FA-B30F-4027-B8CE-C97DF147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83214-4114-4EA9-ADE2-D7803A6C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E9398-33FE-4AEC-8B74-8A0381F6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4373D-23F8-4DBF-A65C-14A1005D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E4319-282C-4EC3-B699-F0BC5D5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12034-9908-44FC-B19C-0325A5B7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61A7B-7217-4BA3-9C6D-6F0E5520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3548F-202A-4542-A98F-88AF253B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2B648-8BBC-41EC-B8E4-371A6243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C1407-8A5B-427C-BEBF-5306BC7D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ED942-A3E8-4751-B66E-B176284B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FE466-427B-44D8-9E09-52C81D6F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FC4E7-F0B9-4DBA-8F78-CFF56E13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13933-E316-4951-8EA1-EBC56701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B4B3E-C322-41B6-AB13-2F0379A7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D1DE40-544E-43A3-B4E9-AF2B32CA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A58A4-C53C-446E-8BA5-19F42A52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650AA-EFB8-45E7-83CE-5F7ED9D2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015AC2-6611-4F48-8298-D1D1C722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855FF8-7C2B-47F0-9657-366FF8F3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EE0B4-F6F4-495C-BCF3-D4CAE849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A97DBD-4504-49A3-8784-E9D697E7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ADE84F-93F3-4ECF-8C1E-CEE994E8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23D1D7-AD26-4593-BC1E-92ED16A2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E3D42F-42E2-42D4-ADBA-D83364E3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07 / 图像编码模块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588198-5948-486D-AE80-B3B21D79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652CB8-8824-47E7-A357-3AFDF96F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ResNet18 提取医学图像的高层视觉特征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2F368D-8038-49BD-9C80-C8BEB356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图像分支负责把医学图像压缩成固定维度的视觉表示。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088B2D-3912-450B-B17C-9D8A207E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81250"/>
            <a:ext cx="3286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3D3E22-DA51-47FA-8C96-7A10CF60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3286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9197C3-376A-419D-B712-FCE7376B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66675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56F399-EC82-44D9-8D97-F72B348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5745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53CD52-EAC3-4BC7-AA8D-4A3A06EE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90800"/>
            <a:ext cx="28289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输入处理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2CA541-A6C7-445A-A829-D9F9E7F4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05150"/>
            <a:ext cx="282892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图像统一调整为 224×224，并转换为模型可接收的张量。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2626BE-4966-4B76-AB4E-6E4CD03B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3286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10F249-CFC0-4418-B139-322F710F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3286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90D527-82D7-4A3A-926E-6A324531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66675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322E14-3F34-494A-A497-52D86783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B23F41-D3E3-4F9A-B467-5B755FAA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8289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骨干网络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95918A-5E03-4E0A-AE8C-F40369EA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282892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采用 ResNet18 作为视觉编码器，兼顾表达能力与训练成本。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3B8C2E-0997-4452-8D66-65EFB76E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81250"/>
            <a:ext cx="3286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A91843-88D6-4A9F-8335-802158A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86000"/>
            <a:ext cx="3286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74AD7D-F12C-4303-ABCC-F664EB04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86000"/>
            <a:ext cx="66675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D375BE-BD3A-43D7-88A0-CDE97E16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5745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0144AA-2C7E-4007-A3B3-6C3637C9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90800"/>
            <a:ext cx="28289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特征输出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B0119E-81B9-4EA0-9D06-3B792835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05150"/>
            <a:ext cx="282892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去除原分类层后，输出 512 维图像特征，用于后续图文融合。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2F3A6C-CA2F-4D0F-A6E4-B2759887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91125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1A2B"/>
          </a:solidFill>
          <a:ln xmlns:a="http://schemas.openxmlformats.org/drawingml/2006/main" w="13335">
            <a:solidFill>
              <a:srgbClr val="46A6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0CB086-9217-4ABB-B0C6-A92106C6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第一阶段冻结骨干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4375F7-FBA8-46E1-A334-4FD27F57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91125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1A2B"/>
          </a:solidFill>
          <a:ln xmlns:a="http://schemas.openxmlformats.org/drawingml/2006/main" w="13335">
            <a:solidFill>
              <a:srgbClr val="FFB84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BD6CED-0307-4FE3-B9D4-31EB68AF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054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第二阶段微调高层特征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63C7B0-6D7F-479C-98E2-504E3630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91125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1A2B"/>
          </a:solidFill>
          <a:ln xmlns:a="http://schemas.openxmlformats.org/drawingml/2006/main" w="13335">
            <a:solidFill>
              <a:srgbClr val="5DE39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7B0B26-3C3F-4A9F-8270-83EEB69D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30542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rPr>
              <a:t>减少过拟合风险</a:t>
            </a:r>
          </a:p>
        </p:txBody>
      </p:sp>
    </p:spTree>
    <p:extLst>
      <p:ext uri="{BB962C8B-B14F-4D97-AF65-F5344CB8AC3E}">
        <p14:creationId xmlns:p14="http://schemas.microsoft.com/office/powerpoint/2010/main" val="9593585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CC571E-52C8-46A6-9098-D03AD4AF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C53B9-AA53-4132-812E-7921B8DE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04330-F3A6-4134-B43B-1325A2F3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3849B-7DEB-4950-A1A9-440F042A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63050-11EC-4789-A83B-E55C82EA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DC94A-82A5-4482-A780-AA448655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13241-77C6-49FA-A605-A42B804F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D6927-8F46-4FA7-8E29-927D1826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960EC-64F9-48F7-9471-1AE5A26F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FB67B-2229-47AB-88D2-478E9FCD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5F392-C2D4-4EBB-B962-A5D009E6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5FD3E-1C0B-4532-A66A-E68FBEE2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2941F-6395-40CD-A023-8D5B790C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D2281-9018-4568-A777-13A2D496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DFD84-5923-4C96-BB1A-1C98C424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6CAFC-F69F-429C-BAF9-537FBC29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0C4B7-9E63-479C-B7F0-2AC997C6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3E858-CD58-4004-81F3-35A2D9D8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45937-25FE-4267-801C-56232421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56E72-1773-49F8-9B7A-CF9CFCBA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4174F-0941-4EFB-9E58-A4732278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92B2C-442D-4BC5-9F64-922CCF3C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9D8AB-DFFA-4591-83AB-5976E7FA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7BE36B-1799-4676-B2D9-2CFD5A7B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FA9FC3-1A35-4B71-8CDF-EC61F6B4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91246A-19B7-47CF-81C5-31268A04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E9B790-F5DD-487B-8D45-1F3C18EE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94CF6-B39A-483D-BC68-3092BF83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E47BC4-A83E-4859-A1E6-E1EE8CD0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45CC96-D5F9-4B16-8BDF-BBB1270D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24B690-BA9E-4037-BD86-B84996CB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2F4588-FEE6-412E-9B0F-CBA65509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BB0F71-6511-45C9-9DA9-80A72A8D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0B9596-B925-47D6-BD47-F3D8778E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08 / 文本编码与融合分类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3270B-6E76-43B4-869D-4C174313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03F221-B70C-4764-B5BA-D0D09625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LSTM 编码问题语义，拼接后完成答案预测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A44D77-B274-442F-AE2E-8A28DC71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文本分支和图像分支共同决定最终候选答案。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E416CE-AF79-43EA-B839-A58A7648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6D895F-EF1D-467B-A075-0E310BB5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EB20F3-B8F9-45E6-A533-C18B7A15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46F575-B85C-4D45-B2FC-63C227D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7E770D-9F60-4DDE-A9DE-2AE1147F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733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文本编码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AEAE3C-217D-43D1-B397-BCE0420A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733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问题先映射为词索引，再经过 Embedding 与 LSTM，得到 256 维语义特征。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0761DB-0323-41FB-BB75-C5EE7DDE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6527E2-DE48-45A3-AF2A-DBE716E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2F5D09-1384-458D-A980-295968C7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DFA3FD-0020-4031-A7DF-9D93BD0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5D4C5B-B465-4B92-8602-61D031C3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733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特征融合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8AF80D-56D1-49F8-85AF-82640786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2733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将 512 维图像特征与 256 维文本特征拼接，形成 768 维联合特征。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701959-5930-49D2-93C5-EE00F4CB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6E3671-5B98-4B6D-AB99-B8537376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389BC5-F5C2-4AD3-9D36-79F31C17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26744F-E6BF-47B1-B3CD-D50B96D9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38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BF46D4-0C43-465F-88B0-52EFB2E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733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答案分类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7616FA-F26F-4F31-9F41-DD26C27C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733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联合特征进入全连接分类器，输出 2,079 个答案类别的预测得分。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30E222-FFE9-4029-8ACE-D7E7812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000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1B2A"/>
          </a:solidFill>
          <a:ln xmlns:a="http://schemas.openxmlformats.org/drawingml/2006/main" w="11430">
            <a:solidFill>
              <a:srgbClr val="22E0D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3E521F-F4BB-4B93-A9CA-FE9CE911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1000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模型输出首选答案，同时保留前五个候选答案用于系统展示。</a:t>
            </a:r>
          </a:p>
        </p:txBody>
      </p:sp>
    </p:spTree>
    <p:extLst>
      <p:ext uri="{BB962C8B-B14F-4D97-AF65-F5344CB8AC3E}">
        <p14:creationId xmlns:p14="http://schemas.microsoft.com/office/powerpoint/2010/main" val="16372310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7DBC17-086E-4F98-B5BA-97AA50B9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56B0B-DB5B-4936-AA10-088CF3EA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134FD-37FD-4706-8B69-8636D0D4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27BEB-F0C5-4469-BF24-3707E900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DD2AE-45F7-4C55-ABAA-1FFE2313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6EDC5-4596-4635-9A8F-1754D150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FB727-35E7-4E09-BC5A-3CD9E2D4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E8F05-53A3-4F5C-9189-6DE78109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0E8E0-CFC0-441F-A52A-769BB079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566F2-50CE-47B8-AFC1-F311D91D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ED241-8C4F-46BB-816A-DCC34DE4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9B4A6-4813-44F9-9F5F-92389075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FB460-4163-44CD-B791-51C3DE54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B7666-2724-47E5-8BDC-A0993DAB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5B5CE-40C9-4212-82D0-3FDEA7C6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285EA-79CC-4CCB-BAF0-F12772B4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BB2D1-F6D3-43E3-9DCF-F57928B0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9574F-8C68-4714-9F99-536C0165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A535B-8E90-4746-84B5-7214A07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94180-3D5C-41D9-A6DF-B40BE502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9B06E-4A4F-4AAF-9611-76C122F7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EEC99-BF3F-4674-93E2-4D9ABA3D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6D3DE-3397-44DB-BA29-9B6913BD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34265-B085-4792-8818-EDF315C9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997D9-5605-42DF-A49D-A034E291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4501B6-9527-4B02-9111-A48BDC95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921903-172E-4F9B-BF09-91131E4C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6D1E0-BD29-464B-B7EA-40DCCB62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DF128B-7167-4948-BABB-393BF2A7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B2735-20C7-4604-907D-8418A916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D4F558-414C-46F6-8D7A-F06031C5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480218-DF7F-44E1-837B-9A7FE65F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9164E2-F804-4123-92C4-25BCABBF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97FB20-C989-491C-9055-4715A05C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09 / 训练策略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499BCB-21CE-45F6-8E52-B5658812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19E9F5-3894-41C7-B807-17963B41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两阶段训练兼顾稳定性与特征适配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8C0910-A6EF-49BB-86A0-BBC8C662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先学习图文到答案的基础映射，再微调高层视觉特征。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67FCE0-2792-4D35-B93E-1C94B7AE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9638FB-B7E3-46E6-8C25-EF070698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E98F8D-21FF-4C96-8765-59E94EA3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66675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985E34-1D92-4A5B-9EBE-06EE7252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05075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09EAF-8B1D-4232-9767-03B5911A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38425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第一阶段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B1BDB5-901C-41C7-8051-6029CDB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90875"/>
            <a:ext cx="3829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冻结图像骨干网络</a:t>
            </a:r>
          </a:p>
          <a:p xmlns:a="http://schemas.openxmlformats.org/drawingml/2006/main">
            <a:pPr algn="l">
              <a:def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训练文本编码器 + 分类器</a:t>
            </a:r>
          </a:p>
          <a:p xmlns:a="http://schemas.openxmlformats.org/drawingml/2006/main">
            <a:pPr algn="l">
              <a:def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训练 5 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A8CFBB-BFEB-4ACA-AC76-E25B3E95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81375"/>
            <a:ext cx="952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FAFF"/>
          </a:solidFill>
          <a:ln xmlns:a="http://schemas.openxmlformats.org/drawingml/2006/main" w="0">
            <a:solidFill>
              <a:srgbClr val="F5FA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93CD53-3A83-4D1D-A343-A4075504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28875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819D7E-ACE5-4F96-B526-35C5F776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3286BD-0ACA-4F79-BF24-649E0863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66675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A0B98F-A01E-4383-B509-4672A950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05075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1C3D34-FC9D-4A04-B1DF-FFCF5B5A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38425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8799E2-DFA2-46CF-AC71-5AB328EA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90875"/>
            <a:ext cx="3829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解冻高层视觉特征</a:t>
            </a:r>
          </a:p>
          <a:p xmlns:a="http://schemas.openxmlformats.org/drawingml/2006/main">
            <a:pPr algn="l">
              <a:def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使用小学习率微调</a:t>
            </a:r>
          </a:p>
          <a:p xmlns:a="http://schemas.openxmlformats.org/drawingml/2006/main">
            <a:pPr algn="l">
              <a:def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训练 3 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CBEDB5-918C-4E3E-BE8D-162EB812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57800"/>
            <a:ext cx="3143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1A2B"/>
          </a:solidFill>
          <a:ln xmlns:a="http://schemas.openxmlformats.org/drawingml/2006/main" w="13335">
            <a:solidFill>
              <a:srgbClr val="46A6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64C4B8-2DDB-43DF-BFAC-727648AC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721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基础训练：学习率 0.001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8BD674-CE38-4931-BAD1-A232CB9E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5780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1A2B"/>
          </a:solidFill>
          <a:ln xmlns:a="http://schemas.openxmlformats.org/drawingml/2006/main" w="13335">
            <a:solidFill>
              <a:srgbClr val="FFB8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2A90F4-F12A-43FB-96F0-B159498E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3721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高层微调：学习率 0.00001</a:t>
            </a:r>
          </a:p>
        </p:txBody>
      </p:sp>
    </p:spTree>
    <p:extLst>
      <p:ext uri="{BB962C8B-B14F-4D97-AF65-F5344CB8AC3E}">
        <p14:creationId xmlns:p14="http://schemas.microsoft.com/office/powerpoint/2010/main" val="9931317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BD8E9-D61A-4518-BEF5-A3C87652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66558-711D-47C1-A6F1-5896A934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32D86-837F-44D4-A3BC-F35F853F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D6D95-2B9F-4A94-A1A4-20BD7AE3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256F6-CFAC-4A02-B4CA-4CFC118C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1E5E2-B68C-42E0-A0E8-446A844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07B5B-86EF-4398-A4EB-686F89D7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FB422-0327-4DAC-AF67-0187ACFD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EFB0D-D9EA-4267-8E16-199EDBCB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7E23C-84E2-4AEF-836F-FF5BE33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9A87A-2127-4719-8599-2061C257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DC475-74DE-4F3B-A641-77CF940A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6AA4A-7A4C-4E99-9907-6F461669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F71E9-A7A2-4EAC-8FF5-CF8196C0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620B6-C44D-4613-900B-F88EE700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D34F1-E95B-4B42-BF09-1F4B199E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7657F-C949-4C82-8776-87F4B48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49650-72DC-45AF-A7A9-CE1FFACF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E5CE7-4767-4726-8837-01A7BD43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6E777-9B67-4855-9D0D-E442CD44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92E82-AA4D-409F-83C8-9A355DA5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34F4A-4958-4151-B817-23351911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F3E9F-5518-4455-ACEE-18413A7E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6CD6F-9C6E-4970-908A-BE1EFC25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4A188-E8F7-469D-877F-5C18AE1B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0D07C-7EBA-4E55-B454-1C10DA12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3539F-0828-4099-B35C-603ED5FE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05BA4E-3523-4AE3-BD8C-3B688F46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55B77-F440-48BA-AB5C-7992BC79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DD7F77-3582-4A93-8636-685631AF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4475C4-B98D-4BA3-ACB9-7C53152C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65B38C-E98A-4D88-BD1C-E21DB28A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FCAB11-5E0E-4AFE-8C7E-167144B4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4EFA25-D666-4BAB-B8C0-F250C3ED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10 / 评价指标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110F16-F553-4B21-B32E-0538C67E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B39563-A5C0-4045-AFDB-5BC2711C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从首选答案和候选答案两个角度评价模型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92AA2E-7537-49E1-9F7F-E0C3ABB8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既评价模型第一答案是否正确，也评价正确答案是否进入候选列表。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CC3234-8D62-4B4B-8306-CCCF2CF9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1CA943-1C4C-421B-A1AC-6D3A8B86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ADB6C1-D1CD-4A6E-A9FF-390C439B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66675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9B5212-FA32-4596-9054-9330909A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A21BAB-733B-4AB8-8A22-3423FC6B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损失值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61C567-7AB5-477A-8092-4191BF45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686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衡量预测结果与真实答案之间的差距，数值越低说明分类误差越小。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B93CE0-5733-47DF-B03D-40544CDE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EC4147-D55D-47EB-99B9-CD843940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CE5C46-B875-4B89-9465-FCFDA4E8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66675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822C0D-1817-4B1F-B31C-DB9C7454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527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564452-6DB0-4894-BB8D-60B0A866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8605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首选答案准确率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172468-7F0A-4225-A8F5-F9D639C2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19450"/>
            <a:ext cx="2686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模型排名第一的答案与标准答案一致时，记为预测正确。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A91FBF-E940-44B2-8F23-347C9F61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F36277-991B-4EA1-9276-0FF16631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8514F8-8C2D-484B-A3AF-F16030CA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66675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F3DB8D-7E9C-41E4-AEA0-191977A3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CD5D1B-2383-48FF-BEB7-7492A3C6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8605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前五候选命中率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B07A00-9760-4465-855C-6BD21B0A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686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标准答案出现在前五个候选答案中时，记为候选命中。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077FE6-C47F-4AE3-849C-88081C23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1970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rPr>
              <a:t>网页端展示前五个候选答案，更符合辅助参考场景。</a:t>
            </a:r>
          </a:p>
        </p:txBody>
      </p:sp>
    </p:spTree>
    <p:extLst>
      <p:ext uri="{BB962C8B-B14F-4D97-AF65-F5344CB8AC3E}">
        <p14:creationId xmlns:p14="http://schemas.microsoft.com/office/powerpoint/2010/main" val="5759784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A68F23-9E66-49E4-958D-83223166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A4AB7-DA28-4C42-AC91-0C282124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9F6A2-6927-493D-9E84-8EB63CD3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9CE1A-AB47-4FB6-B90D-DFDFBDF8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77793-1E43-404F-B7AF-9620CAB4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A1385-2F84-490C-9C04-BE2C0C2E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E3330-4AF9-4296-B0D0-90D17A0B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6CD46-6180-4FDD-BAE2-6B879968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873BA-C1A2-4AF2-A6CF-3174555B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0A2C8-D982-4927-981B-603B9BED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BBE18-1EFD-4C3B-A687-051DBBF0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D4F46-E06B-4795-8F4F-45D55E48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2F950-414C-49E7-9090-CCE580FC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4CEB2-0BE6-40B3-8736-E71E36BF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2F0FA-B3F6-4F40-BDD3-A8B206D2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60FBC-BEDC-4515-9159-D38A17B0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78369-1558-4F99-A372-C26472C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F3CA4-B631-4D7F-87AA-904A58D8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62410-10F6-45E1-8734-0408B04F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21332-7105-46E7-8A79-29327E6B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DA9D5-7FCE-47A3-A831-65C0BCAF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5B55F-0433-4F27-8900-A2EEE603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ADF57-FC4B-47FA-B506-C18CC201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071498-A27C-4C6F-906E-ABE47157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76B87-0764-4641-B1DD-50E6134F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51224A-434A-4C02-9B9B-025F9760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DA81C-2C7F-4CA3-AE16-BB931026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177D81-15AA-4687-8C53-E370BD69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2539EA-73C1-49AF-8C88-4E38CD73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613D06-4E82-4807-8E7B-82C02056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B85CB-0574-4A24-BCD1-066E1ABA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79CA87-712B-4D60-8FAA-9C893B83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6F4B4C-1140-4120-8079-A99D72A4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456300-A1F7-4C00-88B7-BD0318A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11 / 实验结果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68DAE1-D9E1-4E08-860E-1521C499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80BB0F-6089-4682-911C-4E174506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二阶段微调后，首选准确率和候选命中率均有提升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F2923F-CD94-4D0E-AE5D-B824C74B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最终测试集首选答案准确率为 49.87%，前五候选命中率为 85.65%。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D03286-1027-4251-B65A-684BA5ED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3336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1BAE8B-9B87-429B-8128-E32CD3E8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6D9BC5-30D6-4CE4-97DF-D1600458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2066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472239-85DE-4094-9541-BA2E2DEA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1325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最终首选准确率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EFF3E0-4589-4E90-BFC4-B4E8493D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AB52B7-EA9D-4CD2-95A8-17EB17F8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AF8A83-974C-4166-A66F-B0C5E0C7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09825"/>
            <a:ext cx="2066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F3F6F1-C4C0-4607-BB9E-C2C5C4F0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81325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最终候选命中率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9F8E96-86C1-48F5-BFF8-88A55E61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3336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9C3406-E021-44E4-95E2-8DDB66BF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D8FC88-FCA9-4D61-9DCE-05F8E552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9825"/>
            <a:ext cx="2066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+5.72%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526FA9-6CEA-4726-A36E-08483A35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81325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首选准确率提升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2F6513-E131-44D8-87AA-358BF132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23336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1430">
            <a:solidFill>
              <a:srgbClr val="264B6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37C73B-7D76-4CE6-8C35-107799E5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2175DC-886D-4EDE-B44D-684BEA6B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09825"/>
            <a:ext cx="2066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+4.27%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C69586-5E77-49AE-92B6-7111AF92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81325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候选命中率提升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BBF80C-B4D2-4247-9D7C-5D75C054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672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首选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5E8FF9-1CF0-4232-B7CD-A1A2D317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5715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2D45"/>
          </a:solidFill>
          <a:ln xmlns:a="http://schemas.openxmlformats.org/drawingml/2006/main" w="0">
            <a:solidFill>
              <a:srgbClr val="172D4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533320-B3F0-4274-9C94-723871AC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252317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80A620-D1B5-41EA-8072-32E4E6E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91075"/>
            <a:ext cx="5715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2D45"/>
          </a:solidFill>
          <a:ln xmlns:a="http://schemas.openxmlformats.org/drawingml/2006/main" w="0">
            <a:solidFill>
              <a:srgbClr val="172D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899F37-1827-4E04-8DF8-25BACE0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91075"/>
            <a:ext cx="2850071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286747-8E7D-48F5-8E98-0C07CD61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14825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44.15%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8CFF1E-3040-4666-80AF-B9BFF8BF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72440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5E910E-A998-4F50-B7B0-1CB073E2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67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D36A52-B822-4A11-B02A-F3986AEF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5715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2D45"/>
          </a:solidFill>
          <a:ln xmlns:a="http://schemas.openxmlformats.org/drawingml/2006/main" w="0">
            <a:solidFill>
              <a:srgbClr val="172D4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A2E410-3B65-42E5-9FDA-19F882AC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4650867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6A8BF4F-00BB-4716-B23E-EC7AD253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91200"/>
            <a:ext cx="5715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2D45"/>
          </a:solidFill>
          <a:ln xmlns:a="http://schemas.openxmlformats.org/drawingml/2006/main" w="0">
            <a:solidFill>
              <a:srgbClr val="172D4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7629CB-70AE-4A07-A420-DC839A6B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91200"/>
            <a:ext cx="489489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8DE115-6A94-4E94-9002-A1292C53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3149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81.38%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086C84-8B08-4B73-AFC7-8524BC50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724525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</p:spTree>
    <p:extLst>
      <p:ext uri="{BB962C8B-B14F-4D97-AF65-F5344CB8AC3E}">
        <p14:creationId xmlns:p14="http://schemas.microsoft.com/office/powerpoint/2010/main" val="3117555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2357B5-8B84-4960-9482-F087671A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2B841-3FA0-4A78-87C1-A0CA3693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18473-EE41-445E-A67B-1A46ED73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38D92-C984-45F7-864F-E964D0D3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C144A-1535-4743-A952-A68D3176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3AD92-6D46-4226-9957-FA6B68B2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0FA9F-EDE4-4083-8DDB-EC4A53AB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35B18-CDFE-483E-B736-CD3F9A81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FDF7C-9A0A-4BCD-8402-D053DE49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3A359-0F65-4B40-B995-90811DC4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8FE86-5BDF-4881-B482-4790E3AC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37A5D-FB2B-481D-81D5-56A5956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B1E1A-0C44-468A-B8AA-0A4C574E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AAE02-8C5B-4E23-8643-A2F302B8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5008F-7CC0-4A4A-B15E-942685CD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F45C9-3128-401F-B7B4-F061AAE6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B421E-9AF4-4384-851E-6F1FF9DC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65FB0-E755-4F47-8081-4F3CB413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C4B98-B6D8-4EDC-BC40-01B4EE2F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9B616-D58B-4622-AF09-F412AFBC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473CE-6FA2-4B5B-8757-EED2B0AE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E1B75-6BC1-4F19-A539-BCB3F028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EB4DD-E44C-4B90-9DB5-582A7E47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69803B-D4C0-4E65-A4E7-3484B9B0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24928C-278A-4581-954B-43618EC5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6E7D7-D70A-495F-8CD8-B2F26D6C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73DD20-9D56-4AAB-B7A0-C62DBA44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B7F1AD-8276-4C9E-A854-EDCD0E56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E1592C-F76E-45D9-A573-1E2F1242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AEBB14-E08B-4936-A6F6-5CBD101D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A13BBD-949D-4936-95FF-FBAB6F21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22DBB6-5E91-4546-A316-AEC6E24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1D4601-126D-42C0-805D-1CF5A279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0A4783-D705-4B78-948F-26DADA1C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12 / 系统实现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CFBD34-6D2C-4F6F-B515-D5BFDB5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DA5783-7527-42C6-878E-D01A5AEC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网页端将模型预测结果转化为可交互问答流程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015B98-046B-4D51-B3F4-54ECC7CC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系统围绕图像输入、问题输入、模型推理和结果展示进行设计。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BE4CB9-42E5-4FBB-93A2-E8295335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2190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46A6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132AC8-436C-4CB8-90B4-B62A876B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1962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63FFE5-0717-41C2-BDAD-750363BF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52750"/>
            <a:ext cx="1885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图像上传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1DAE9D-2F0C-474C-9C04-A0BDCBB0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71850"/>
            <a:ext cx="1885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输入医学图像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D3F273-B271-444B-AE05-4459D2D2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194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E06F05-88D5-4C24-BD9E-19B81312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67000"/>
            <a:ext cx="2190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22E0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E7E2F0-F1C4-4BDE-82D1-297CC51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781300"/>
            <a:ext cx="1962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B7E3FB-76BD-470C-B99B-19706EA0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52750"/>
            <a:ext cx="1885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问题输入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37BBD9-84BD-43E2-93C7-461A3E0B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371850"/>
            <a:ext cx="1885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文本问题</a:t>
            </a:r>
          </a:p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高频问题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218389-CBA0-46C0-B581-73B0D89E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194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8B33A0-6B4F-45D6-B69F-DD4D50A1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667000"/>
            <a:ext cx="2190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FFB8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B8544F-956F-436D-9AAE-05153321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81300"/>
            <a:ext cx="1962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0554BB-4AC8-44AC-9FEF-0E855ECB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52750"/>
            <a:ext cx="1885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模型推理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5869C9-8F41-4144-84D0-84A111AA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71850"/>
            <a:ext cx="1885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加载最优模型</a:t>
            </a:r>
          </a:p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输出排序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E25430-F8BA-40CD-ACFB-9972DCD6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194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2AC15B-8F4F-4137-B5BB-1E3C0D2A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6670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15240">
            <a:solidFill>
              <a:srgbClr val="5DE3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227131-BEB9-4CD5-8698-44933E62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781300"/>
            <a:ext cx="12954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BBD57C-101A-4F8F-9224-F1E45D10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9527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DE39A"/>
                </a:solidFill>
                <a:latin typeface="Microsoft YaHei"/>
                <a:ea typeface="Microsoft YaHei"/>
                <a:cs typeface="Microsoft YaHei"/>
              </a:rPr>
              <a:t>答案展示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82EF53-BDBD-41BB-8321-DD3CA3BC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71850"/>
            <a:ext cx="1219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首选答案</a:t>
            </a:r>
          </a:p>
          <a:p xmlns:a="http://schemas.openxmlformats.org/drawingml/2006/main">
            <a:pPr algn="ctr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候选答案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9DB133-DA43-4EEB-B1E9-AAA7379F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5A72"/>
                </a:solidFill>
                <a:latin typeface="Microsoft YaHei"/>
                <a:ea typeface="Microsoft YaHei"/>
                <a:cs typeface="Microsoft YaHei"/>
              </a:rPr>
              <a:t>概率用于排序参考，不等同于临床诊断置信度。</a:t>
            </a:r>
          </a:p>
        </p:txBody>
      </p:sp>
    </p:spTree>
    <p:extLst>
      <p:ext uri="{BB962C8B-B14F-4D97-AF65-F5344CB8AC3E}">
        <p14:creationId xmlns:p14="http://schemas.microsoft.com/office/powerpoint/2010/main" val="6757445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F2A75F-0C4F-4FC5-8E1A-F53FED18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6"/>
          </a:solidFill>
          <a:ln xmlns:a="http://schemas.openxmlformats.org/drawingml/2006/main" w="0">
            <a:solidFill>
              <a:srgbClr val="050B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406BB-DA54-4E7D-BA93-F2640C4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/>
          </a:solidFill>
          <a:ln xmlns:a="http://schemas.openxmlformats.org/drawingml/2006/main" w="0">
            <a:solidFill>
              <a:srgbClr val="08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1B852-DEB2-4469-BDEF-8EDFB62C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4BB42-E023-45D0-A9E3-FEBF3675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922AE-F73F-4729-8D82-D28D2F12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45330-E1A4-423F-88A5-6116F224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48661-D5B9-4D4E-9569-E134722A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6B835-B9A4-43B0-BCA3-5F5CD88F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A8661-7E5C-4D1B-8043-DD19AE13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C7F6D-D93F-4F36-89C7-F08EEF43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15B41-01CB-440E-9910-77747CC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73A0C-36D9-4439-9837-2D36A5E7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A9D9B-CC04-4410-94E3-89758C69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02EBD-BB97-41D6-A6D2-59CA21A2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81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52A77-A3CC-4B57-A94B-7E10A3D3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9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EE15F-0919-41F5-BC58-12A25461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85D95-F868-43A7-B34D-58FB1C90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6"/>
          </a:solidFill>
          <a:ln xmlns:a="http://schemas.openxmlformats.org/drawingml/2006/main" w="0">
            <a:solidFill>
              <a:srgbClr val="0E2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D4DEB-7C59-45F4-BABA-4DB10C79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D4AF7-5F9A-4E06-9081-DBB02CDA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2C5DC-A3BA-4C9D-BA9D-7AC6C815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248877-3D6A-42A0-B34D-1E067C2D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87219-E96B-43AB-8EB3-F48EF34E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B6A2C-33AC-448B-BC0B-B9688657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A102A-B806-46A0-959F-7B445F75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28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2671F-5A57-4F55-B3FD-8BB60AFA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138C7-F4B2-4805-8F7F-D067F798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19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759C0-DE80-4217-994D-ACE525C4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29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CCB29A-D15C-49E1-8466-6227F307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4097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C66"/>
          </a:solidFill>
          <a:ln xmlns:a="http://schemas.openxmlformats.org/drawingml/2006/main" w="0">
            <a:solidFill>
              <a:srgbClr val="143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37724-AE1D-49F6-A82E-95F09A43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4A"/>
          </a:solidFill>
          <a:ln xmlns:a="http://schemas.openxmlformats.org/drawingml/2006/main" w="0">
            <a:solidFill>
              <a:srgbClr val="0F3A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4A5699-A377-4135-A4C6-8A631595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72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61E3CE-B9C9-4DE4-99AA-F41493E2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7215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2629AE-B0E2-4475-A100-C3BDDD1D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D72FB4-F91C-4FEA-B9AB-531F8FFB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9B65A-C8CE-4064-9754-B459B207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13 / 总结与展望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E2528B-DFF8-488B-8C89-51AFA5FB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6A6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FB75C2-91AD-4B4C-AE20-F5D7C4E0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本文完成轻量级医疗视觉问答模型与网页原型系统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8EF048-CFAF-4346-AC86-713FC2CD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工作覆盖数据处理、模型训练、实验评估与系统实现。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BFDF63-672E-469E-89AB-F87B495A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21D014-271B-4DAF-9043-3798CA46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767F1A-CCC4-4CF3-8D29-C68E8456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D22FB7-EAA6-4B80-B86C-322C3366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A6FF"/>
          </a:solidFill>
          <a:ln xmlns:a="http://schemas.openxmlformats.org/drawingml/2006/main" w="0">
            <a:solidFill>
              <a:srgbClr val="46A6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F07D6F-AD9A-4EEB-9192-4DC6A35B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686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完成工作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8D1A06-7C34-46EC-A4B6-0F671D97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26860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构建 PathVQA 数据处理流程，完成轻量级多模态模型训练与评估。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0D7DD2-1A46-48EA-83EA-4B1AC1A9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24792F-F60E-4F3A-B868-E570C75E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EECCB5-1FF6-479D-B392-1216B0CB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8A6DBB-EC14-4994-BEC9-22DD566C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62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39A"/>
          </a:solidFill>
          <a:ln xmlns:a="http://schemas.openxmlformats.org/drawingml/2006/main" w="0">
            <a:solidFill>
              <a:srgbClr val="5DE39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10D194-1AD5-4246-B546-39E406DD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95550"/>
            <a:ext cx="2686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14570D-93CB-40E8-9418-3CAB2EAB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00375"/>
            <a:ext cx="26860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测试集首选准确率为 49.87%，前五候选命中率为 85.65%。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C5F213-62EF-4BAB-BBEF-CB4710C2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C11568-D586-4561-A7C2-C8B39179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855D68-E16C-4D2B-BE33-8F887D1B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B36C2E-CD0E-4D70-B257-67FC5538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E0D0"/>
          </a:solidFill>
          <a:ln xmlns:a="http://schemas.openxmlformats.org/drawingml/2006/main" w="0">
            <a:solidFill>
              <a:srgbClr val="22E0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22AF62-FF37-4AD3-8DBA-A2F6CF45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95550"/>
            <a:ext cx="2686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系统价值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1EC2FC-68DE-4BD7-BB41-87440D44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26860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完成网页端问答交互，用于原型验证和教学展示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5603BD-CC89-46FD-A75A-1F1F3566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33875"/>
            <a:ext cx="8191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0">
            <a:solidFill>
              <a:srgbClr val="07101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182163-7F12-47D8-9B7F-DA1722BA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38625"/>
            <a:ext cx="8191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2036"/>
          </a:solidFill>
          <a:ln xmlns:a="http://schemas.openxmlformats.org/drawingml/2006/main" w="13335">
            <a:solidFill>
              <a:srgbClr val="264B6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50F00B-D0DE-411F-B08E-2C6417F3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38625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75A69B-EF19-47D8-955F-A95C004A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10075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FA05EE-A99A-491F-97F6-DE307FFF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43425"/>
            <a:ext cx="7734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后续方向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2A0928-7CE2-4DAB-8CCD-4859C7B2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48250"/>
            <a:ext cx="7734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9C9D8"/>
                </a:solidFill>
                <a:latin typeface="Microsoft YaHei"/>
                <a:ea typeface="Microsoft YaHei"/>
                <a:cs typeface="Microsoft YaHei"/>
              </a:rPr>
              <a:t>引入注意力机制、医学视觉语言预训练模型，并开展更严格的专家评测。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325452-6990-4B78-9432-D1E79665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E0D0"/>
                </a:solidFill>
                <a:latin typeface="Microsoft YaHei"/>
                <a:ea typeface="Microsoft YaHei"/>
                <a:cs typeface="Microsoft YaHei"/>
              </a:rPr>
              <a:t>谢谢各位老师，请批评指正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29378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2026-06-07T05:11:41.8650000Z</dcterms:created>
  <dcterms:modified xsi:type="dcterms:W3CDTF">2026-06-07T05:11:41.8650000Z</dcterms:modified>
</coreProperties>
</file>
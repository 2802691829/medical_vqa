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7c6826a35e4e75" /><Relationship Type="http://schemas.openxmlformats.org/officeDocument/2006/relationships/extended-properties" Target="/docProps/app.xml" Id="R48ce980fe0564043" /><Relationship Type="http://schemas.openxmlformats.org/officeDocument/2006/relationships/officeDocument" Target="/ppt/presentation.xml" Id="Rca5d0aff1a2448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cd7be2db274d30"/>
  </p:sldMasterIdLst>
  <p:notesMasterIdLst>
    <p:notesMasterId xmlns:r="http://schemas.openxmlformats.org/officeDocument/2006/relationships" r:id="Ra29c8eb85b4743c7"/>
  </p:notesMasterIdLst>
  <p:sldIdLst>
    <p:sldId xmlns:r="http://schemas.openxmlformats.org/officeDocument/2006/relationships" id="256" r:id="Rb3711ea641584e46"/>
    <p:sldId xmlns:r="http://schemas.openxmlformats.org/officeDocument/2006/relationships" id="257" r:id="R8438d619ab0749bb"/>
    <p:sldId xmlns:r="http://schemas.openxmlformats.org/officeDocument/2006/relationships" id="258" r:id="Ref1518fd99854a2a"/>
    <p:sldId xmlns:r="http://schemas.openxmlformats.org/officeDocument/2006/relationships" id="259" r:id="R9325e8b371444a7f"/>
    <p:sldId xmlns:r="http://schemas.openxmlformats.org/officeDocument/2006/relationships" id="260" r:id="R85e554f7621a45d7"/>
    <p:sldId xmlns:r="http://schemas.openxmlformats.org/officeDocument/2006/relationships" id="261" r:id="R61fecce028214fbb"/>
    <p:sldId xmlns:r="http://schemas.openxmlformats.org/officeDocument/2006/relationships" id="262" r:id="Rf51917fdbede4a75"/>
    <p:sldId xmlns:r="http://schemas.openxmlformats.org/officeDocument/2006/relationships" id="263" r:id="R404324e2cdf24a88"/>
    <p:sldId xmlns:r="http://schemas.openxmlformats.org/officeDocument/2006/relationships" id="264" r:id="R336a8d0c19064675"/>
    <p:sldId xmlns:r="http://schemas.openxmlformats.org/officeDocument/2006/relationships" id="265" r:id="R033b1a88fb9743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28aa1b77d4f96" /><Relationship Type="http://schemas.openxmlformats.org/officeDocument/2006/relationships/slideMaster" Target="/ppt/slideMasters/slideMaster1.xml" Id="R1acd7be2db274d30" /><Relationship Type="http://schemas.openxmlformats.org/officeDocument/2006/relationships/notesMaster" Target="/ppt/notesMasters/notesMaster1.xml" Id="Ra29c8eb85b4743c7" /><Relationship Type="http://schemas.openxmlformats.org/officeDocument/2006/relationships/presProps" Target="/ppt/presProps.xml" Id="R003aacd52a7a45d9" /><Relationship Type="http://schemas.openxmlformats.org/officeDocument/2006/relationships/viewProps" Target="/ppt/viewProps.xml" Id="R1e4082780c104bc4" /><Relationship Type="http://schemas.openxmlformats.org/officeDocument/2006/relationships/tableStyles" Target="/ppt/tableStyles.xml" Id="R38aee7fd7e9b4df9" /><Relationship Type="http://schemas.openxmlformats.org/officeDocument/2006/relationships/slide" Target="/ppt/slides/slide1.xml" Id="Rb3711ea641584e46" /><Relationship Type="http://schemas.openxmlformats.org/officeDocument/2006/relationships/slide" Target="/ppt/slides/slide2.xml" Id="R8438d619ab0749bb" /><Relationship Type="http://schemas.openxmlformats.org/officeDocument/2006/relationships/slide" Target="/ppt/slides/slide3.xml" Id="Ref1518fd99854a2a" /><Relationship Type="http://schemas.openxmlformats.org/officeDocument/2006/relationships/slide" Target="/ppt/slides/slide4.xml" Id="R9325e8b371444a7f" /><Relationship Type="http://schemas.openxmlformats.org/officeDocument/2006/relationships/slide" Target="/ppt/slides/slide5.xml" Id="R85e554f7621a45d7" /><Relationship Type="http://schemas.openxmlformats.org/officeDocument/2006/relationships/slide" Target="/ppt/slides/slide6.xml" Id="R61fecce028214fbb" /><Relationship Type="http://schemas.openxmlformats.org/officeDocument/2006/relationships/slide" Target="/ppt/slides/slide7.xml" Id="Rf51917fdbede4a75" /><Relationship Type="http://schemas.openxmlformats.org/officeDocument/2006/relationships/slide" Target="/ppt/slides/slide8.xml" Id="R404324e2cdf24a88" /><Relationship Type="http://schemas.openxmlformats.org/officeDocument/2006/relationships/slide" Target="/ppt/slides/slide9.xml" Id="R336a8d0c19064675" /><Relationship Type="http://schemas.openxmlformats.org/officeDocument/2006/relationships/slide" Target="/ppt/slides/slide10.xml" Id="R033b1a88fb9743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cc3b9ca684a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c8c40cbbb40bb" /><Relationship Type="http://schemas.openxmlformats.org/officeDocument/2006/relationships/notesMaster" Target="/ppt/notesMasters/notesMaster1.xml" Id="Rda60c2a3a54c43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869e3956b34d6a" /><Relationship Type="http://schemas.openxmlformats.org/officeDocument/2006/relationships/notesMaster" Target="/ppt/notesMasters/notesMaster1.xml" Id="Rc9fb5edf6c4045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60f490cf1741f7" /><Relationship Type="http://schemas.openxmlformats.org/officeDocument/2006/relationships/notesMaster" Target="/ppt/notesMasters/notesMaster1.xml" Id="R4804ba5b9d934e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d755ac825743e5" /><Relationship Type="http://schemas.openxmlformats.org/officeDocument/2006/relationships/notesMaster" Target="/ppt/notesMasters/notesMaster1.xml" Id="R5e6f7f07e5074a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a08265f8964ddf" /><Relationship Type="http://schemas.openxmlformats.org/officeDocument/2006/relationships/notesMaster" Target="/ppt/notesMasters/notesMaster1.xml" Id="R6a3fb649203f41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a62b3c59e34d07" /><Relationship Type="http://schemas.openxmlformats.org/officeDocument/2006/relationships/notesMaster" Target="/ppt/notesMasters/notesMaster1.xml" Id="R98721bf7813345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8f9e89b6c44dde" /><Relationship Type="http://schemas.openxmlformats.org/officeDocument/2006/relationships/notesMaster" Target="/ppt/notesMasters/notesMaster1.xml" Id="Rc4dd8b7aa1454a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2474cd35024711" /><Relationship Type="http://schemas.openxmlformats.org/officeDocument/2006/relationships/notesMaster" Target="/ppt/notesMasters/notesMaster1.xml" Id="R9dd6f6d75aec44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32887903f64287" /><Relationship Type="http://schemas.openxmlformats.org/officeDocument/2006/relationships/notesMaster" Target="/ppt/notesMasters/notesMaster1.xml" Id="R2445d7f7ed1640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30b11acb6b4840" /><Relationship Type="http://schemas.openxmlformats.org/officeDocument/2006/relationships/notesMaster" Target="/ppt/notesMasters/notesMaster1.xml" Id="R4c9d142ea1254b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1cda989af4e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529a855ec14fda" /><Relationship Type="http://schemas.openxmlformats.org/officeDocument/2006/relationships/slideLayout" Target="/ppt/slideLayouts/slideLayout1.xml" Id="R74a27d66add043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a27d66add043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4e55b0dfb4b77" /><Relationship Type="http://schemas.openxmlformats.org/officeDocument/2006/relationships/image" Target="/ppt/media/image.png" Id="R266067242cf14c09" /><Relationship Type="http://schemas.openxmlformats.org/officeDocument/2006/relationships/image" Target="/ppt/media/image2.png" Id="Rcdacdef568e046de" /><Relationship Type="http://schemas.openxmlformats.org/officeDocument/2006/relationships/notesSlide" Target="/ppt/notesSlides/notesSlide1.xml" Id="R680d7f6c973b47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67f4c64a04f87" /><Relationship Type="http://schemas.openxmlformats.org/officeDocument/2006/relationships/notesSlide" Target="/ppt/notesSlides/notesSlide2.xml" Id="R2f5f1880f29340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eb11d62a64416" /><Relationship Type="http://schemas.openxmlformats.org/officeDocument/2006/relationships/notesSlide" Target="/ppt/notesSlides/notesSlide3.xml" Id="R28610ffe5083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c9acbac474089" /><Relationship Type="http://schemas.openxmlformats.org/officeDocument/2006/relationships/notesSlide" Target="/ppt/notesSlides/notesSlide4.xml" Id="R3538ef43cb3449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e2544d01f4288" /><Relationship Type="http://schemas.openxmlformats.org/officeDocument/2006/relationships/notesSlide" Target="/ppt/notesSlides/notesSlide5.xml" Id="Rfdc6bf67ef384c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304cb10f549c7" /><Relationship Type="http://schemas.openxmlformats.org/officeDocument/2006/relationships/notesSlide" Target="/ppt/notesSlides/notesSlide6.xml" Id="Rf96ca54c1bf642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4836be41f45e9" /><Relationship Type="http://schemas.openxmlformats.org/officeDocument/2006/relationships/notesSlide" Target="/ppt/notesSlides/notesSlide7.xml" Id="R6e1cc2a9032e45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bf836438a4530" /><Relationship Type="http://schemas.openxmlformats.org/officeDocument/2006/relationships/notesSlide" Target="/ppt/notesSlides/notesSlide8.xml" Id="R0dc48f5792784d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ed5329cfb477e" /><Relationship Type="http://schemas.openxmlformats.org/officeDocument/2006/relationships/notesSlide" Target="/ppt/notesSlides/notesSlide9.xml" Id="R3c0dccc63b134f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4cc22c111471f" /><Relationship Type="http://schemas.openxmlformats.org/officeDocument/2006/relationships/notesSlide" Target="/ppt/notesSlides/notesSlide10.xml" Id="Ref351a9b23cc49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536F0F-0E3A-4F88-A9CF-00A9BBCD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FE35B-5558-4920-85E4-6BD209A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5E589-970A-4EC5-AA44-AFE7F9EF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A"/>
          </a:solidFill>
          <a:ln xmlns:a="http://schemas.openxmlformats.org/drawingml/2006/main" w="0">
            <a:solidFill>
              <a:srgbClr val="E6F0FA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067242cf14c09"/>
          <a:stretch xmlns:a="http://schemas.openxmlformats.org/drawingml/2006/main"/>
        </p:blipFill>
        <p:spPr>
          <a:xfrm xmlns:a="http://schemas.openxmlformats.org/drawingml/2006/main">
            <a:off x="723900" y="560871"/>
            <a:ext cx="914400" cy="859458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cdef568e046de"/>
          <a:stretch xmlns:a="http://schemas.openxmlformats.org/drawingml/2006/main"/>
        </p:blipFill>
        <p:spPr>
          <a:xfrm xmlns:a="http://schemas.openxmlformats.org/drawingml/2006/main">
            <a:off x="1877311" y="685800"/>
            <a:ext cx="2436628" cy="628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7510D-4D74-4536-8B58-FA4A21D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0">
            <a:solidFill>
              <a:srgbClr val="FBE8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B045F-25E1-4EF7-A80E-E5F5A599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毕业设计答辩 · 超大字版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C4C24-0BC5-4358-898E-F8923694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PathVQA 数据集的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A50EC-6DE8-4976-BA42-5A66E776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轻量级医疗视觉问答模型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67EA0-CC7E-4F55-8932-E018E76A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32EC0-60F8-4504-84DE-F63BB10F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答辩人：周健    学号：208221335    专业：人工智能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A76A8-35A4-4CD9-A92D-965E73B7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指导教师：王青云 / 蔡亮亮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96226-FBC3-4BB7-8435-A7698DA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10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5~8 分钟汇报</a:t>
            </a:r>
          </a:p>
        </p:txBody>
      </p:sp>
    </p:spTree>
    <p:extLst>
      <p:ext uri="{BB962C8B-B14F-4D97-AF65-F5344CB8AC3E}">
        <p14:creationId xmlns:p14="http://schemas.microsoft.com/office/powerpoint/2010/main" val="1260672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B283DA-E0ED-4648-B3C6-21431400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06864-558A-4233-9C6D-4CE169AD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3787E-5EF1-47D3-A20B-2B5CC1F5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8E672-F013-45D6-889F-2F86F17D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01 / 为什么做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559CE-DD61-41B7-9B9D-E6D9A81C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医疗视觉问答：让系统既能看图，也能回答问题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BB942-5B02-40E4-A610-D40D6951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它比单纯图像分类更接近真实交互场景。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A14F8-A292-4A59-BF74-9D889719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DBB8A-F085-4CF0-99D7-760EF3E7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4C183-33A3-4AB0-8213-E29D832D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看图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C0E37-815A-4E18-AD8E-D913D593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400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输入医学图像，提取视觉特征。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530D5-802E-44D4-958D-A0DA67B4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42D98-3E07-414B-9D2F-D3A4E6E2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37597-8C41-4024-B547-EA0F9FFF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985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理解问题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0969E-BCFA-4F1A-8608-D610C25D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62300"/>
            <a:ext cx="2400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输入自然语言问题，理解用户想问什么。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66131-BD6A-4DBF-912F-C97EC449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17051-0CBC-4C83-9FFD-D73763E7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3BA56-DFE8-4F3C-BB28-8D49E6BF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给出答案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46EC9-7327-41C3-920B-7EE53B91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400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Top-1 和 Top-5 候选答案。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F7A32-2B41-4B13-88F4-5E5E8967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本文定位：轻量级原型系统，用于教学、演示和方法验证，不替代临床诊断。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D93A5-C008-4783-BF9E-4BEEE3EE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84741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4BF85B-72CE-4992-A43E-647564D6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85847-ADE1-4526-BD3A-21091B0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5DC3F-BB2E-47E2-9BDF-CB481EF1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891C8-EA5A-4C42-8710-B3A67735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02 / 做了什么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224F7-2CD3-49DF-AFFF-A8B285AD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完成从数据到网页演示的完整闭环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4D779-1307-4C34-B918-5085EE7C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汇报重点放在四件事：数据、模型、训练、系统。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E32B9-E582-4890-ADE1-DF504238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809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683D8-9E1A-4AA4-A36A-F3DEB21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513A6-28F0-4806-9EAC-C3E4C6E2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466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PathVQA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固定划分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6FFC5-9AB4-44E3-9D97-ABF6B267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09925"/>
            <a:ext cx="47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D4DAD-55EC-448A-8E71-5DAC5357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24200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8E313-FD2F-4AE4-9E37-D43A22D4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1809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EC42D-1F33-4DD9-84D6-AFE8681C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模型设计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7A049-29D1-4B0D-A9D2-F4844C90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466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LSTM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特征融合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48D6A-496B-4FCF-890D-EEBFD4D7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09925"/>
            <a:ext cx="47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2DC57-67E2-4C51-9590-BB2DBFCB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24200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0ADC0-72D4-4D60-8C7B-58E57751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1809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9050">
            <a:solidFill>
              <a:srgbClr val="C47A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3E8F1-02FB-4638-8010-B52EAFF9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训练评估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676D3-4B49-4945-9429-D411D5FC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1466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两阶段训练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 / Top-5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2D9D5-B4A3-42A4-96AC-147EEA69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9925"/>
            <a:ext cx="47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CC958-D963-4ACD-9731-A256B8EB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28407-D95B-4A9B-A05E-13B618B0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809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28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A56E9-B021-4F63-A568-EAB9EF7E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网页系统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D55B5E-0498-4A73-961B-47520938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1466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Gradio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C3D50-5932-42ED-A7C9-A026176C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5143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EA71F-146A-4DB9-BF7C-C200BDAC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339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7B3B9-7451-4C7B-9305-30A4E169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81650"/>
            <a:ext cx="480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数据 → 模型 → 结果 → 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A1D28-6236-4B3E-BB00-FF2DC15B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47761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FACC5-ADEA-4382-AF30-4AFEA49E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8BF0C-2229-47F1-8D8C-F33D2019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2767D-6A19-42FF-95D9-BFDCE05A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B6558-198E-4F0D-BE74-4BE2F16A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03 / 数据集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D7EEF-C42B-4A21-8F9E-1F38D20D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PathVQA 数据固定划分，保证实验可复现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B4F0F-D14C-4F38-A31F-AA58FB2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词表和答案类别只从训练集构建。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7D168-4D1A-4FA4-9C66-41E992B6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3B07-B4CB-40BF-96B9-1B3C6A47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12,523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32785-43F9-4D4E-BC02-C519769E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9D69B-B46D-4BD5-96A3-BA11AE28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32266-AC03-4C7C-9F34-400D4C8E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2,438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30B77-C0D9-4172-B0EA-FB5763CE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670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808A9-A223-4323-B153-0B081DC0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4790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E020E-0F7F-4922-8504-2E9B016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2,342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E1E5D-9C14-4331-8E5D-080521B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670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测试样本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54C4C-DB1E-4491-BCCD-94E17ABA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F8F15-7B66-41AB-96E7-B108F73C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48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4,331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71589-486D-4A42-87B1-9302685C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959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问题词表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05427-12A3-46D7-A80E-2178F859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2D9B7-F715-49F9-9DBA-2CABB63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2,079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1C4C8-E3E4-4FD4-9B43-0989A599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959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答案类别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8BC5D-6C45-416B-93FF-C9C1195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34362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898BA5-D349-4740-8EB1-92D7012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CC9E2-6389-463A-B643-4F3F573E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54D17-EE62-474B-8D17-AD49284E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A47E2-284F-4A83-8006-C54B667E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04 / 模型结构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9FC01-7902-492A-9877-7C8417A4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图像特征 + 文本特征 → 融合分类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BDAEB-38B3-4673-A62B-FD748FDE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不用论文小图，下面是可编辑的大字版结构图。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1F42B-040B-4254-9BC9-BB435C7E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B0F5F-CFF0-4879-83FF-870EA2C5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医学图像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E6B17-902D-4343-86CF-A1C8BB72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224×224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955A5-DE1E-4017-87B6-43C29742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381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DDD28-6736-47BD-B1C3-D76CE0F0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76525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986C6-3EC6-489F-BD80-041FD061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764F2-018F-4589-8B14-F9805A2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4E933-8EAA-47B9-BDA9-66A75CDD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512 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A7ACF-EC70-4039-9287-5FFD29D6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FD4C5-FB78-4AE1-B31F-586C4F15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问题文本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9FEC3-6FFC-4019-83C7-3FA18014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371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最长 20 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E6FCD-A8D6-4FCC-93A0-EEEE50B5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72000"/>
            <a:ext cx="381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2C372-3028-45E4-AD14-CC9034B9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86275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E89D2-6C71-4115-A520-6B4BDE64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000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45D43-5AA3-43AB-B96E-34DD27B8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Embedding</a:t>
            </a:r>
          </a:p>
          <a:p xmlns:a="http://schemas.openxmlformats.org/drawingml/2006/main">
            <a:pPr algn="ctr">
              <a:def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+ LSTM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3DE04E-AC16-4E5F-ADF5-701F9807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434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256 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E914E-63BC-48A3-ACA0-3675545F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337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042B3-1476-4922-8016-3B94B77E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48025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8C791-328B-4A00-9044-506520CE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037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9050">
            <a:solidFill>
              <a:srgbClr val="C47A1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C9668C-0AFE-4D21-926A-D3A9BA12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718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特征拼接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E9010-AAC8-4CFA-8C4F-1036F2C7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590925"/>
            <a:ext cx="16573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512 + 256</a:t>
            </a:r>
          </a:p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= 768 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E58658-ED2C-4F9B-81CC-2E3EEEF6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239991-D95A-45FB-968E-7B8F3A09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90925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25EC30-A770-4683-B941-D718E290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284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5281D-4AFF-4975-82D1-5E830089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19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答案分类器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E101F0-B188-4400-B3C9-A2417931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38550"/>
            <a:ext cx="156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2,079 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3A79B4-08A4-4D4C-8174-35626EA4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89292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65AE8-31D4-405F-8032-DC8884D0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D6620-9463-4B25-A3E9-EA1AEA86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D4289-954F-4E3F-87B2-6E518A5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BD40D-8D75-42E9-8FD7-63F7A344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05 / 关键设计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25DCD-D250-4511-8A5E-1260BF5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选择轻量结构，保证能训练、能部署、能演示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3CD3B-0F29-4BA8-97F0-076CEBAC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本科答辩里要讲清楚：为什么这样设计。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09331-3931-40BC-8F18-C1FA1E4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40E94-08A6-4D9C-B34A-596C2EF7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06A1-EFB1-4385-AB49-2C180959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733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图像编码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1BCF5-FE7B-4D86-B3F2-2D5ABB24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733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ResNet18 参数量较小，适合本地训练；保留预训练视觉特征。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1D835-830E-4AC8-9FD5-FA552010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95223-66B9-48C9-A691-0F4B86A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F3161-0F7A-4C16-B902-0E82432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2733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文本编码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462BE-CCD8-4697-8451-5FB1CC84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2733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LSTM 结构简单，能把问题文本编码成语义向量。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E1F50-3763-4BE9-B791-281FD66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177ED-F1FF-423A-A32C-B3130D66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E85C1-8395-4E4B-948E-E5909F8E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2733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融合分类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6C45C-9E51-4134-92AF-C9305316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733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拼接图文特征，再从 2,079 个答案类别中选择候选答案。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64A26-1372-4AA1-9F22-8854D755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优点：结构清晰、训练成本低、适合网页端原型系统。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F251A-A4FE-4A3D-B600-64322B64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53955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C0261-6F76-4B85-AF8C-37758674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118CF-5C62-44CB-B734-6CBF945C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F5E7D-F419-4608-BF6C-33E6D498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FAB32-12F3-4988-8540-FE633F1A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06 / 训练策略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B8988-34CC-4FD9-953C-26D201B4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两阶段训练：先稳定，再微调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8A129-4308-4168-B977-82D6FCDA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先学会图文映射，再让高层视觉特征适应医学图像。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FAE76-B074-44B5-AEF8-D9AD5767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95D40-B102-4511-A9E9-7E27D13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54187-78FD-41E2-B71F-2625E762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第一阶段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C8C8D-9837-486E-9117-451C3B98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382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冻结 ResNet18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训练文本编码器 + 分类器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 5 个 epoch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7666C-F4D2-4D7F-884A-96F8ADCC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80064-250D-4EE0-ADE1-02C964C5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88163-5144-4AC0-B0F7-01413D1C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18485-2A18-4BFB-ADB4-1BA63EE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14675"/>
            <a:ext cx="382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解冻 ResNet18 layer4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小学习率微调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 3 个 epoch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DDF68-EA8E-4B09-B826-A2A718BF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1472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4DD2C-A686-4BFD-9B07-F5D27A72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29000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49981-F97F-40F7-8B54-B4AA248E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solidFill>
              <a:srgbClr val="E6F0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176C3-617B-4F04-9CCD-68CCAA28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149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Stage 1：lr = 1e-3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D8143-19FF-4F11-9D13-A6AEBE14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solidFill>
              <a:srgbClr val="FFF1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AD3E9-8A7F-4F91-849E-AA84BDCC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149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Layer4：lr = 1e-5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E6956-3A72-4CF2-9A71-78347241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2938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712CDF-B864-4565-904B-DEB82E3D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6BC03-FF1B-464E-B5E2-4C7AB1B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97823-65A0-47E2-B3AA-AF2FB7C7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18DD8-3AD0-44EE-A022-BA384AAE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07 / 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B779C-4D3D-4A3E-B20E-A81A4D49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二阶段微调后，Top-1 和 Top-5 都提升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911F5-477B-4E89-A92E-E37FEC93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Top-5 更能体现候选答案推荐能力。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D1FC2-3DA5-4665-9F34-A43F96C3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5FB63-3A75-407D-8603-3FBDCB60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68B43-4B53-423E-BFED-B44C21C2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最终 Top-1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DF8D6-2E62-4984-A751-EEDE91D0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DBAEC-DB37-4F7B-8D48-47CA4E3F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14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36359-EB7A-4A2D-AF02-3F8617E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最终 Top-5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9D6B4-8188-417D-B0B5-5B45C8C5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CFF8F-B436-471E-9B93-AB84ADA5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14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+5.72%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F9AD4-4597-4D3C-B4C2-46D73F23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 提升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3C04E-8217-4E7C-B3C0-83556F5B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6D20B-DCE7-48E7-938C-5BA5B64A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14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+4.27%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DA81D-8EA9-4FDC-AB17-A7284005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Top-5 提升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2BB8A-3E47-404E-BFEC-1E6188B1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100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Top-1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290596-D6D7-420D-8E3E-190F8467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8627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30C79-1963-4002-A62B-630CC54A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86275"/>
            <a:ext cx="2523173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5199F-6AE6-470B-BD39-EB23BE5F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2917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C55E3-0C1D-4361-BEC2-54AE800D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29175"/>
            <a:ext cx="2850071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1B64B-9E95-4FD0-85EF-8B44B7A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44.15%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B9BE3-48D9-47FC-A75F-36811C29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720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B5430-BB38-4051-AC71-F3D7A548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625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Top-5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BE853-559A-4D7E-A193-8FB36148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3A35C-7040-4273-BB3D-EAC20DD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4650867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CBDD5-308D-49CF-B953-A68FB84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8167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34FEAB-DC72-4836-BF60-5006380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81675"/>
            <a:ext cx="4894898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8E53EE-7D84-4BCF-8380-D46FC4F3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816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81.38%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4F1373-CAB2-425C-BC5F-83DCE1E1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245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39ACC-636E-4FAE-AE5E-6BEF5C16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32396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EB6248-3BDB-436E-B4FC-0F12F628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1C85D-A076-479C-889B-0A2E149E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01B21-C76E-4EF8-864F-4D2621C1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B912A-F58C-45EF-A7A9-EC15D5E0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08 / 系统演示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0AC40-2805-415E-9063-B7F82B60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网页端把模型结果变成可交互流程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41957-EF7C-4AC3-BD14-848EA165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现场演示时按这四步走，不临时输入陌生样例。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0B70F-6AE4-40D3-896D-50617A69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DB243-6BF8-4A64-A627-74AD646F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 上传图像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EBF09-BE6C-490F-8D52-C1D375A3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选择医学图像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1C8D0-EAD2-4122-A8AF-D363725D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52800"/>
            <a:ext cx="381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04D8B-F1DB-4B0C-84B4-A7D59177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67075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D25AA-938F-4745-BF84-A8A63F2A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1937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3FEFB-4831-4DD0-B227-A75A72EC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908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2 输入问题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42B14-7009-4D94-A972-8FB0D59B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或选高频问题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5E85F-22F3-4676-AB30-A36BC878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52800"/>
            <a:ext cx="381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20CC3-91F0-4870-9EBF-4035FF58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67075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270E7-62D1-4533-97F5-080104C0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1937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9050">
            <a:solidFill>
              <a:srgbClr val="C47A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C178F-E1D2-4726-9C23-3118777F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908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3 模型推理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E38BA-2AC9-4315-BBC7-CC98245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9925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输出概率排序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0E36D-81F7-4B96-8C52-795F9471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381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1A963-5B9A-4E27-8855-3908A220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7075"/>
            <a:ext cx="2667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B48D4-065C-4E04-934A-8D45764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19375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28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67219-2474-4926-A7BB-985DBB61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908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4 展示答案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05135-82E8-4807-80ED-240C0F97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9925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 + Top-5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E96C1-9480-4D62-86A3-C7202D3D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说明边界：概率用于排序参考，不等同于临床诊断置信度。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10636-FE4B-4233-837A-2CF35109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21667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F1FD2-3F7F-4413-87C4-B1EBE6F4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76620-97F0-4587-8DE1-8F4E18EF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037D4-BE67-4C70-8B1C-E0030CA0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5CB4E-B948-4251-981F-B8CF5D1A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09 / 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23921-DD1E-4844-8C73-DF67F5F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本文完成轻量级医疗视觉问答模型与网页原型系统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CE332-142C-43DE-A3B6-B30BDFFA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最后用三句话收束，不要再展开太多细节。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1C0F0-816D-470F-A3CA-A965CFC8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EDC58-7399-4D41-9CEE-F2E86EA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653E1-5657-4BC6-8BB9-F9753955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66975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完成工作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6F7B8-2656-46ED-A31A-700D01D1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数据处理、模型设计、训练评估、网页演示。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198AF-ECBE-4233-AECD-68FE9B67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C01E8-A371-44CB-A6D8-781E871E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94123-2438-4554-8B40-7B397D13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66975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271EF-1650-45A9-97A2-5451DE49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19425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Top-1：49.87%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Top-5：85.65%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89D89-2F33-41BB-BBBE-C560C26F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26352-CEBE-4007-B926-FF096991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D55AC-9834-44B9-835B-FD1159E9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66975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后续改进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F595E-337E-46ED-9C93-391A3A3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19425"/>
            <a:ext cx="2686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引入注意力机制、医学预训练模型和更严格专家评测。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DDA61-197F-4505-A78E-5D13D231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谢谢各位老师，请批评指正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2DC97-2C3E-4B62-B9FB-91601511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360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2026-06-06T08:25:21.5490000Z</dcterms:created>
  <dcterms:modified xsi:type="dcterms:W3CDTF">2026-06-06T08:25:21.5490000Z</dcterms:modified>
</coreProperties>
</file>
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04e1aff3a4601" /><Relationship Type="http://schemas.openxmlformats.org/officeDocument/2006/relationships/extended-properties" Target="/docProps/app.xml" Id="R470afb5e85944d93" /><Relationship Type="http://schemas.openxmlformats.org/officeDocument/2006/relationships/officeDocument" Target="/ppt/presentation.xml" Id="R4818b31f2b3d40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a5e079f9b4863"/>
  </p:sldMasterIdLst>
  <p:notesMasterIdLst>
    <p:notesMasterId xmlns:r="http://schemas.openxmlformats.org/officeDocument/2006/relationships" r:id="R54d712a2a8bd47ae"/>
  </p:notesMasterIdLst>
  <p:sldIdLst>
    <p:sldId xmlns:r="http://schemas.openxmlformats.org/officeDocument/2006/relationships" id="256" r:id="R50d963d9ef1c4232"/>
    <p:sldId xmlns:r="http://schemas.openxmlformats.org/officeDocument/2006/relationships" id="257" r:id="R50b9cdbd39d246cb"/>
    <p:sldId xmlns:r="http://schemas.openxmlformats.org/officeDocument/2006/relationships" id="258" r:id="R0e30fb81775b4eb0"/>
    <p:sldId xmlns:r="http://schemas.openxmlformats.org/officeDocument/2006/relationships" id="259" r:id="Ra7e04ad9772e4237"/>
    <p:sldId xmlns:r="http://schemas.openxmlformats.org/officeDocument/2006/relationships" id="260" r:id="R41671e5ac20146e3"/>
    <p:sldId xmlns:r="http://schemas.openxmlformats.org/officeDocument/2006/relationships" id="261" r:id="Reff0f5bedb6f4f03"/>
    <p:sldId xmlns:r="http://schemas.openxmlformats.org/officeDocument/2006/relationships" id="262" r:id="R25ab339865064c1e"/>
    <p:sldId xmlns:r="http://schemas.openxmlformats.org/officeDocument/2006/relationships" id="263" r:id="Rae5e587d4b464ccd"/>
    <p:sldId xmlns:r="http://schemas.openxmlformats.org/officeDocument/2006/relationships" id="264" r:id="Rd57d3f03873545c0"/>
    <p:sldId xmlns:r="http://schemas.openxmlformats.org/officeDocument/2006/relationships" id="265" r:id="R9df5cfa23b2e45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93776ec7be4d39" /><Relationship Type="http://schemas.openxmlformats.org/officeDocument/2006/relationships/slideMaster" Target="/ppt/slideMasters/slideMaster1.xml" Id="R0c5a5e079f9b4863" /><Relationship Type="http://schemas.openxmlformats.org/officeDocument/2006/relationships/notesMaster" Target="/ppt/notesMasters/notesMaster1.xml" Id="R54d712a2a8bd47ae" /><Relationship Type="http://schemas.openxmlformats.org/officeDocument/2006/relationships/presProps" Target="/ppt/presProps.xml" Id="Re942e80a6b59430f" /><Relationship Type="http://schemas.openxmlformats.org/officeDocument/2006/relationships/viewProps" Target="/ppt/viewProps.xml" Id="R98c254dbf0624226" /><Relationship Type="http://schemas.openxmlformats.org/officeDocument/2006/relationships/tableStyles" Target="/ppt/tableStyles.xml" Id="R2c19bab370d44144" /><Relationship Type="http://schemas.openxmlformats.org/officeDocument/2006/relationships/slide" Target="/ppt/slides/slide1.xml" Id="R50d963d9ef1c4232" /><Relationship Type="http://schemas.openxmlformats.org/officeDocument/2006/relationships/slide" Target="/ppt/slides/slide2.xml" Id="R50b9cdbd39d246cb" /><Relationship Type="http://schemas.openxmlformats.org/officeDocument/2006/relationships/slide" Target="/ppt/slides/slide3.xml" Id="R0e30fb81775b4eb0" /><Relationship Type="http://schemas.openxmlformats.org/officeDocument/2006/relationships/slide" Target="/ppt/slides/slide4.xml" Id="Ra7e04ad9772e4237" /><Relationship Type="http://schemas.openxmlformats.org/officeDocument/2006/relationships/slide" Target="/ppt/slides/slide5.xml" Id="R41671e5ac20146e3" /><Relationship Type="http://schemas.openxmlformats.org/officeDocument/2006/relationships/slide" Target="/ppt/slides/slide6.xml" Id="Reff0f5bedb6f4f03" /><Relationship Type="http://schemas.openxmlformats.org/officeDocument/2006/relationships/slide" Target="/ppt/slides/slide7.xml" Id="R25ab339865064c1e" /><Relationship Type="http://schemas.openxmlformats.org/officeDocument/2006/relationships/slide" Target="/ppt/slides/slide8.xml" Id="Rae5e587d4b464ccd" /><Relationship Type="http://schemas.openxmlformats.org/officeDocument/2006/relationships/slide" Target="/ppt/slides/slide9.xml" Id="Rd57d3f03873545c0" /><Relationship Type="http://schemas.openxmlformats.org/officeDocument/2006/relationships/slide" Target="/ppt/slides/slide10.xml" Id="R9df5cfa23b2e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e0530799cd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f8826bfc14fa9" /><Relationship Type="http://schemas.openxmlformats.org/officeDocument/2006/relationships/notesMaster" Target="/ppt/notesMasters/notesMaster1.xml" Id="R4aa6989c98f2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5505cfb6c4b23" /><Relationship Type="http://schemas.openxmlformats.org/officeDocument/2006/relationships/notesMaster" Target="/ppt/notesMasters/notesMaster1.xml" Id="R5bd900993b6a40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24445f1a1480e" /><Relationship Type="http://schemas.openxmlformats.org/officeDocument/2006/relationships/notesMaster" Target="/ppt/notesMasters/notesMaster1.xml" Id="R3bef782ab0be47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c478a58f3a4073" /><Relationship Type="http://schemas.openxmlformats.org/officeDocument/2006/relationships/notesMaster" Target="/ppt/notesMasters/notesMaster1.xml" Id="Rd231f3283cbd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f06b5a7fbf4d76" /><Relationship Type="http://schemas.openxmlformats.org/officeDocument/2006/relationships/notesMaster" Target="/ppt/notesMasters/notesMaster1.xml" Id="R3415a1bd3a15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53af5b2ecc48b9" /><Relationship Type="http://schemas.openxmlformats.org/officeDocument/2006/relationships/notesMaster" Target="/ppt/notesMasters/notesMaster1.xml" Id="R1730082f528b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552e4bb5345bd" /><Relationship Type="http://schemas.openxmlformats.org/officeDocument/2006/relationships/notesMaster" Target="/ppt/notesMasters/notesMaster1.xml" Id="R2a8f9537fccb4e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8ee8983b5419a" /><Relationship Type="http://schemas.openxmlformats.org/officeDocument/2006/relationships/notesMaster" Target="/ppt/notesMasters/notesMaster1.xml" Id="R5cbe3d3d737041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188bea0b6748e8" /><Relationship Type="http://schemas.openxmlformats.org/officeDocument/2006/relationships/notesMaster" Target="/ppt/notesMasters/notesMaster1.xml" Id="Rc3568c8e648c42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230f402961442e" /><Relationship Type="http://schemas.openxmlformats.org/officeDocument/2006/relationships/notesMaster" Target="/ppt/notesMasters/notesMaster1.xml" Id="Ra7a5c67e198e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6c44a0b66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8f3fb73d3940d7" /><Relationship Type="http://schemas.openxmlformats.org/officeDocument/2006/relationships/slideLayout" Target="/ppt/slideLayouts/slideLayout1.xml" Id="R109413292938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413292938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78cbc1d584919" /><Relationship Type="http://schemas.openxmlformats.org/officeDocument/2006/relationships/image" Target="/ppt/media/image.png" Id="R273dee4746014f76" /><Relationship Type="http://schemas.openxmlformats.org/officeDocument/2006/relationships/image" Target="/ppt/media/image2.png" Id="Rfc82e4e6e9b447a9" /><Relationship Type="http://schemas.openxmlformats.org/officeDocument/2006/relationships/notesSlide" Target="/ppt/notesSlides/notesSlide1.xml" Id="R1b7143382973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a7bbed2b849b6" /><Relationship Type="http://schemas.openxmlformats.org/officeDocument/2006/relationships/notesSlide" Target="/ppt/notesSlides/notesSlide2.xml" Id="R0eb6f21faa54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74fa48a014086" /><Relationship Type="http://schemas.openxmlformats.org/officeDocument/2006/relationships/notesSlide" Target="/ppt/notesSlides/notesSlide3.xml" Id="R6590a41f44ee45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993abf1549a7" /><Relationship Type="http://schemas.openxmlformats.org/officeDocument/2006/relationships/notesSlide" Target="/ppt/notesSlides/notesSlide4.xml" Id="R0fce44b58f344c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b345531d14f1d" /><Relationship Type="http://schemas.openxmlformats.org/officeDocument/2006/relationships/notesSlide" Target="/ppt/notesSlides/notesSlide5.xml" Id="Rdc5e4361fabf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e3cadd77241ee" /><Relationship Type="http://schemas.openxmlformats.org/officeDocument/2006/relationships/notesSlide" Target="/ppt/notesSlides/notesSlide6.xml" Id="R4332af1f95e94d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305c3acc644c7" /><Relationship Type="http://schemas.openxmlformats.org/officeDocument/2006/relationships/notesSlide" Target="/ppt/notesSlides/notesSlide7.xml" Id="R550ed710cf71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0111183645a6" /><Relationship Type="http://schemas.openxmlformats.org/officeDocument/2006/relationships/notesSlide" Target="/ppt/notesSlides/notesSlide8.xml" Id="R7ad042657ac646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ccffba1040b9" /><Relationship Type="http://schemas.openxmlformats.org/officeDocument/2006/relationships/notesSlide" Target="/ppt/notesSlides/notesSlide9.xml" Id="Rf62fef9e71b24d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a673ee33d44ed" /><Relationship Type="http://schemas.openxmlformats.org/officeDocument/2006/relationships/notesSlide" Target="/ppt/notesSlides/notesSlide10.xml" Id="R5c4c8bb9e7ba49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D925D-2CBD-470B-A8B5-D62B6A3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D2AE2-ACD2-4A0C-9A9B-EB18F15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17CF1-02D4-463D-AF8D-A0A14F8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dee4746014f76"/>
          <a:stretch xmlns:a="http://schemas.openxmlformats.org/drawingml/2006/main"/>
        </p:blipFill>
        <p:spPr>
          <a:xfrm xmlns:a="http://schemas.openxmlformats.org/drawingml/2006/main">
            <a:off x="723900" y="560871"/>
            <a:ext cx="914400" cy="859458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2e4e6e9b447a9"/>
          <a:stretch xmlns:a="http://schemas.openxmlformats.org/drawingml/2006/main"/>
        </p:blipFill>
        <p:spPr>
          <a:xfrm xmlns:a="http://schemas.openxmlformats.org/drawingml/2006/main">
            <a:off x="1877311" y="685800"/>
            <a:ext cx="2436628" cy="628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8E045-E590-4E20-BEA5-B9F1869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0">
            <a:solidFill>
              <a:srgbClr val="FBE8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DC265-BC7E-42DC-AECE-C6645C9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A7F89-299B-4FA8-BA5C-E778922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809D1-B1A9-45DD-A416-9105F2E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轻量级医疗视觉问答模型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36A9D-5384-4216-BA57-B2EE4941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807A2-4D4F-44A4-A436-F7163A67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答辩人：周健    学号：208221335    专业：人工智能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890FB-0CF0-4E15-BE97-903AD040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指导教师：王青云 / 蔡亮亮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7F07A-E58A-4FDB-A030-76B50E05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210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医疗视觉问答系统</a:t>
            </a:r>
          </a:p>
        </p:txBody>
      </p:sp>
    </p:spTree>
    <p:extLst>
      <p:ext uri="{BB962C8B-B14F-4D97-AF65-F5344CB8AC3E}">
        <p14:creationId xmlns:p14="http://schemas.microsoft.com/office/powerpoint/2010/main" val="6234169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FDB63-DCD9-4C9C-844C-EF591E6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030A7-C504-455C-B07A-ED91BBBF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91F50-8A3D-4B52-B71F-23ACE191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14EF7-2476-4B21-83E4-4AA85258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01 / 为什么做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6A482-5D71-4AEA-8560-F36BC30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医疗视觉问答：让系统既能看图，也能回答问题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EEB07-FA88-4F11-B9EF-D7094313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它比单纯图像分类更接近真实交互场景。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2B2DA-D073-421A-8653-28679F6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E570B-3817-403C-B7CB-EA02C050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E2332-BE57-4C11-8459-A6685DDB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看图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98723-2537-4135-8F24-25EC86A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输入医学图像，提取视觉特征。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10C4B-33E6-4BF2-99D0-62878F6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7A6C8-749E-4CF3-B762-50426F7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1AE36-7C04-4609-A011-727A842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D79D5-63F3-4905-BBC8-9518A5EF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输入自然语言问题，理解用户想问什么。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BFB26-ADC2-436C-8170-C0580E2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30F38-A928-4B41-A456-A59CB23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8FA17-0E4D-47F8-B6FE-1DF33D64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给出答案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A4FAE-01AC-4B7D-B07E-8B3A9D7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Top-1 和 Top-5 候选答案。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11F15-0799-4CF8-B97E-6E73D11A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本文定位：轻量级原型系统，用于教学、演示和方法验证，不替代临床诊断。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52E7E-A33F-4D0E-AE88-AE3F360D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74298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ACCD1-00EC-457B-A59A-87B7D93A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1274A-D0A5-46C3-9138-F174FD8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28E2-1605-4F4E-AF62-0F03E82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4E05-A61C-4E64-8102-F38B9DA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02 / 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C410F-6D8F-4032-B95D-D8252DD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完成从数据到网页演示的完整闭环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3870F-B9B3-4229-B73B-BB44E84D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系统围绕数据、模型、训练和应用四个环节展开。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D0E6E-602A-44BC-AF0E-B10181A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42927-4E4A-465D-BA63-53C56368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B3E73-D91E-4600-9158-A253568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PathVQA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固定划分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CD27A-7C0B-4A1A-902A-A7EFE66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45317-2C02-443A-B011-CA27CA9D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B35E7-A924-4B0F-91FF-2D9AD777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0E30F-7FAD-475D-906B-A5B23ED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08774-ED14-4971-87AD-6D50CFF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C65FC-9F6B-4E0F-9217-BD698CCB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2D244-7C89-4540-8958-9BD46B91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训练评估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7DFF9-BC28-4962-A64E-064428D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两阶段训练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/ Top-5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B6CB8-ABAE-466D-B834-2140B95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76575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1D9BC-7D8F-486B-803E-B9036DC5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46149-68EB-42B4-9C49-D44208F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网页系统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9869F-A481-4D69-BC71-AD0F82C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Gradio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B05E4-B072-420D-AFF6-3BBADF6C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67F70-59D2-498B-9C2D-F4198E4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06F3F-DD89-49D4-B710-3791F53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81650"/>
            <a:ext cx="480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数据 → 模型 → 结果 → 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AFA4A-A34D-4607-8D2B-D59BB6A5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69959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72C4D1-4CC9-4450-9480-510B13B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F806E-5494-45A6-9C53-16A8D68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F7210-863C-4670-BB17-9772DB6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755E7-4A72-41BE-92EC-E81F8E8D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03 / 数据集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A8352-A38C-4996-8561-DF7929B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PathVQA 数据固定划分，保证实验可复现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CDAC7-4A45-4A72-A701-AAE2076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词表和答案类别只从训练集构建。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2158F-D943-40F8-BF57-2159775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DC065-65EA-445C-A10B-487E1EF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8338-29CC-4DE9-AC3C-17699FFA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C31FF-1829-415C-8135-FDA7DF7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72B71-F533-4B64-A1FC-FADA1010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BF48C-2E43-4BB3-8443-DE934435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6045F-A17F-426A-A61B-115FA09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052C9-3DA5-4FE3-BE01-1163A91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0FFC8-3D80-4336-8914-FF26A32A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测试样本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F5D56-515E-43C5-B6F0-648F353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CA571-3ED0-4E97-833E-9FCF678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4,331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2A990-7355-484A-833E-7464152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95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问题词表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2267D-C445-407F-B3C4-ABDF266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B3C05-FD90-410C-AA2A-7ADCBC1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07D65-6636-4E73-8681-1021E96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95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答案类别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91472-7311-431C-8D4E-31120C32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94000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DFAB5-B4B4-4B6C-A8D5-0B4BCAB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DB4CE-012E-4DD8-824A-3D863B46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0BB2A-3A4B-4AC8-8B94-713A8E1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FF269-6993-4849-8AF0-C0DFC28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04 / 模型结构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F239-7822-4BD0-890D-CC62503E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图像特征 + 文本特征 → 融合分类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72E28-AFCC-4C56-9B6C-829397B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轻量级多模态模型由图像编码、文本编码、特征融合和答案分类组成。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8ACCE-36A7-4E68-96FA-94778BD2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13BAE-58ED-4A09-9630-5555EB0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医学图像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B292E-B720-47CA-85A0-F83622C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3EF0-8FF0-4EF5-AA7A-C7BD435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24D1E-9CAF-4E8B-BA4C-5619F74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97CFC-6B9E-4D10-B74A-2970B7E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6A511-1BCA-44AE-8D9F-80CD1E6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512 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21758-50E2-469C-BDE6-093A6E4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7F3F6-4E3E-4C7C-8790-10035559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问题文本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80B01-CAA1-44B5-BE66-7A140E1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37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最长 20 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54CB2-9306-4E19-8A0E-4CB4499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87ECC-F3FD-42EF-83B8-BD1C02F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000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6A302-5F0F-4B44-AED3-876613B3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 LSTM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3761F-9F28-43A9-89A2-1557E0D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434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256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2895E-2EAA-43C2-A065-8E28A21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E5273-7919-4D94-BDE9-7787E41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EF9E8-3DE9-4C7C-B334-C2BB4FE0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B3742-C4BC-415F-8C8B-92E575D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718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特征拼接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A7A1B-C8FB-4567-BE61-5AFFD18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90925"/>
            <a:ext cx="16573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512 + 256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= 768 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7A548-074F-4F5C-8046-A99E02D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9ADA1-3953-42F4-987C-B841444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234CB-44EB-4C01-B0A9-E6DA2C3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答案分类器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FBFBA-8F5E-4DD7-9002-270FDA0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2,079 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1B5B0-1DCE-4430-80BA-A8D505A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7762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23C28-9E43-4066-9652-E0EBB429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26585-5F4E-42BA-996F-42624D9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555B9-8048-4D0A-B6C7-EBFB1F7D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2127B-A595-4000-B0EC-96BB0B8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05 / 关键设计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31FCA-FF55-4841-89D5-B657A401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选择轻量结构，保证能训练、能部署、能演示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51263-057F-478E-9A7C-AFC406DA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从模型复杂度、训练成本和系统部署三个方面进行取舍。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F5F5F-8A24-4161-8711-CD1096E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7ECA9-E05D-44D2-81A8-EFEBD6C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19014-2462-4C94-A962-591D50AF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0505F-B890-42B8-A08B-8283A11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ResNet18 参数量较小，适合本地训练；保留预训练视觉特征。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5E787-8DC5-45E7-BD70-94D689DC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AA517-133B-4F20-97FF-22DDC046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F830C-E530-4AEC-A330-B3FF2673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89DE3-BBE5-435F-95E7-57E71DCA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LSTM 结构简单，能把问题文本编码成语义向量。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0A64D-AFEC-49B4-987C-796CC89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5B2FA-ECED-40CD-BA3E-FA12E16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D6D90-299C-4E2B-A3C4-575150A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融合分类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BD16F-8FAA-4D80-93D7-1D55368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拼接图文特征，再从 2,079 个答案类别中选择候选答案。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D7BE2-C9F4-4F4A-89ED-3F178755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优点：结构清晰、训练成本低、适合网页端原型系统。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9D0FB-444B-43D7-B398-8AE183B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73841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299DB-FB0F-4AEB-8FCF-09C5C056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BC473-31A7-4EA0-A12B-25687D2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6A4C3-5935-4162-9BCD-B882F81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DA083-596B-44C7-BAA5-D340810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06 / 训练策略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D6C0-0800-4E28-9AA1-CDD611B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两阶段训练：先稳定，再微调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BEC4-9308-47E0-9205-6BCC003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先学会图文映射，再让高层视觉特征适应医学图像。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2DEC2-1E25-4DC1-AD20-39959EC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42897-415E-4B25-8F32-5E0A31C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DA72A-4867-4306-9F63-DC7F688F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6D13F-CA95-4997-B93E-513F371D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382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冻结 ResNet18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训练文本编码器 + 分类器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5 个 epoch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64DFC-1116-4C6A-AAF6-707F83CC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79D0-A944-4124-876E-09FA5C7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DB680-C20A-4CDC-8F63-35FEC37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272D9-C4E3-4FF1-B987-6C2E063B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14675"/>
            <a:ext cx="382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解冻 ResNet18 layer4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小学习率微调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3 个 epoch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88392-1AB6-40AA-91E7-175B5F2F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52800"/>
            <a:ext cx="952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38A90-53D1-416D-B02B-E50846B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D48CC-8699-4BFA-AF1B-A7121742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Stage 1：lr = 1e-3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BA412-F67E-49BA-9CBE-322D0101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D3B0C-2DBE-4765-98C9-E08254B4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Layer4：lr = 1e-5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74373-5CA4-4DEE-9A8F-36B42DC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09171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9A87B-6FE5-407C-A73C-9EE9889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92F6A-0598-46AF-82D6-6A0893D1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7ED26-69C6-4F36-AB63-0BD46E3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3275E-4D3D-4E08-9FEB-306D01B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07 / 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B62EE-AA30-4A44-8442-8D56D12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二阶段微调后，Top-1 和 Top-5 都提升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A754F-600D-434C-B56E-2371D163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 更能体现候选答案推荐能力。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92E31-CB65-44C6-976D-B741657B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39A67-967E-4728-B3D9-743D69E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62F28-2477-4B61-B160-9A17951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ABA23-A844-4EC4-BE6E-07E53BA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625CF-05DA-4DC6-8C29-D781AF2F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EAEE5-90EE-4BC1-9980-688B5A8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5107E-73C5-4EA1-B619-19F4B0A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A84A9-D841-46C8-BE11-3119794A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6B669-8AE4-4841-BA05-27D51EF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提升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8C8ED-6736-474F-A8D5-34BC855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C1244-BD17-42C2-A2E6-3FD24224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+4.27%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88441-745B-48EA-8FA5-414D7A5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 提升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940D6-017B-4770-910A-6924577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100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92C09-EBA9-4616-ACB0-B42F1894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862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B4CCE-8209-4A1E-954E-5F28812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86275"/>
            <a:ext cx="2523173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7211D-C1ED-496C-9BB6-BC9B0AB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5C41D-DE90-40F6-BA9B-D8B70AB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2850071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8EA31-388F-4AD8-AF3E-2EECF3A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D2BDF-8486-43F5-B5BF-9231B44F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720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5B1DC-2ED3-4DC9-B9C6-0603FC2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625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6DF71-F856-4AFB-880B-EE656171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26B1B-8041-43C2-8BFA-61F3CAD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4650867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2CEDF-2863-4B0C-A59F-58CA6CD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9A188-EE63-4158-92DE-705C371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4894898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73DBD-6402-4C13-9246-ED8878E5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F3B88-CC35-4CFF-97C6-0A08BF3A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245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EA5FA-2539-4F00-ADF0-22CC0D0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41956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80D69-4280-4A9A-8CA6-33C18ACB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5D5CD-4EBB-4E62-A929-BFF7F76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FE36A-E3D8-477F-A710-6D9C7DAA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3E843-F85A-47EC-8D2E-98F39D29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08 / 系统演示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E3A99-C33F-4315-A8C9-814FFCC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网页端把模型结果变成可交互流程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86793-B7F2-4E24-BFA9-6F412F1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系统完成从图像输入、问题输入到答案展示的推理链路。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37F56-8F89-48A9-8B8C-63A51F5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0A412-7A2D-4FA2-AEA6-7388CFB4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 上传图像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071A2-D846-40F7-88AA-8356E43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选择医学图像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0C37E-E217-4D6F-A3D8-2B47459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C4BE1-4A93-4AFE-845A-FBCF847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21210-3430-4A0C-95A5-8126C1C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 输入问题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5CE58-9CBE-4A5B-8D7B-17996D1D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或选高频问题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F69AF-235D-4845-9315-E9617FF5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06C9A-99E6-4922-88A8-1350B7EE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138D-F300-4956-A6F4-28103BC7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3 模型推理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F1220-CE16-4D14-AB2D-FB829F9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输出概率排序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3AD67-EAB8-4298-9A67-98BE267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56EAC-F25C-4256-BD20-209EF7B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7FB76-7D25-4A8B-A5E5-D9A353EF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4 展示答案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32E03-38B5-4E33-BB9C-2EFD400B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+ Top-5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B3C45-0F2C-4868-8866-DD7AFE70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概率用于排序参考，不等同于临床诊断置信度。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35323-E608-485D-A19B-C0BFF2D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54496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9CCF7-FC36-445A-B5FA-4FF94B8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08E4C-A05E-4085-B441-3DEE6FF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9D59-8D17-4961-9415-EADDE00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1C9A2-A080-437C-8566-C9B1305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09 / 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23303-8C1C-447B-8897-C6EE9A4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AE47-1CFA-48C8-8513-8A884A1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总结已完成工作、主要结果与后续改进方向。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A718E-1771-49C2-B43B-8CF8F34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B4468-CDD2-4DCB-9116-C362A3C7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3CEDC-40A8-4E81-BD7F-B0CD1B6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9A6C0-C79C-4D5C-93DA-17098FF6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数据处理、模型设计、训练评估、网页演示。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C48C2-0FFD-4640-A5B0-262899A2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F5748-87EF-4E3B-9E6A-E577350D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BAD3-28AF-4F2C-99D2-54DE21F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A29D1-0EB6-4EE5-8F8C-B29A5A1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Top-1：49.87%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Top-5：85.65%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4128E-0B25-447B-9793-44D3413B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4D812-3B62-44A7-9D67-374FAEC0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99AEF-A074-4D2C-98B3-EF8E93B0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后续改进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AA754-B30A-4A52-8CB6-CDCA589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引入注意力机制、医学预训练模型和更严格专家评测。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E0777-4C8F-49BF-81E5-8CDED658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97ED3-587F-4CC9-B529-D357A59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1004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2026-06-06T09:03:37.9590000Z</dcterms:created>
  <dcterms:modified xsi:type="dcterms:W3CDTF">2026-06-06T09:03:37.9590000Z</dcterms:modified>
</coreProperties>
</file>
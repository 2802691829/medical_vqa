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d5e7b9c5e45e2" /><Relationship Type="http://schemas.openxmlformats.org/officeDocument/2006/relationships/extended-properties" Target="/docProps/app.xml" Id="R7233a5f2eac44575" /><Relationship Type="http://schemas.openxmlformats.org/officeDocument/2006/relationships/officeDocument" Target="/ppt/presentation.xml" Id="R02121d870e15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f2a460e184dfe"/>
  </p:sldMasterIdLst>
  <p:notesMasterIdLst>
    <p:notesMasterId xmlns:r="http://schemas.openxmlformats.org/officeDocument/2006/relationships" r:id="R363a7006b3694daa"/>
  </p:notesMasterIdLst>
  <p:sldIdLst>
    <p:sldId xmlns:r="http://schemas.openxmlformats.org/officeDocument/2006/relationships" id="256" r:id="Rd8c93d29c32e4545"/>
    <p:sldId xmlns:r="http://schemas.openxmlformats.org/officeDocument/2006/relationships" id="257" r:id="R6922b233b8c546d8"/>
    <p:sldId xmlns:r="http://schemas.openxmlformats.org/officeDocument/2006/relationships" id="258" r:id="R4b5da2300e8a4400"/>
    <p:sldId xmlns:r="http://schemas.openxmlformats.org/officeDocument/2006/relationships" id="259" r:id="Re9323071a64a4e02"/>
    <p:sldId xmlns:r="http://schemas.openxmlformats.org/officeDocument/2006/relationships" id="260" r:id="R6b4a6296f56d4dad"/>
    <p:sldId xmlns:r="http://schemas.openxmlformats.org/officeDocument/2006/relationships" id="261" r:id="Rfe487d286563400c"/>
    <p:sldId xmlns:r="http://schemas.openxmlformats.org/officeDocument/2006/relationships" id="262" r:id="R13e4ada6b2d3412b"/>
    <p:sldId xmlns:r="http://schemas.openxmlformats.org/officeDocument/2006/relationships" id="263" r:id="R1320d0c67f264a5d"/>
    <p:sldId xmlns:r="http://schemas.openxmlformats.org/officeDocument/2006/relationships" id="264" r:id="Rf108b8f604c04aae"/>
    <p:sldId xmlns:r="http://schemas.openxmlformats.org/officeDocument/2006/relationships" id="265" r:id="R9374b5e243704448"/>
    <p:sldId xmlns:r="http://schemas.openxmlformats.org/officeDocument/2006/relationships" id="266" r:id="Rba12675e69984396"/>
    <p:sldId xmlns:r="http://schemas.openxmlformats.org/officeDocument/2006/relationships" id="267" r:id="R944e7c74b50941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e6456bf3ad4afd" /><Relationship Type="http://schemas.openxmlformats.org/officeDocument/2006/relationships/slideMaster" Target="/ppt/slideMasters/slideMaster1.xml" Id="R62af2a460e184dfe" /><Relationship Type="http://schemas.openxmlformats.org/officeDocument/2006/relationships/notesMaster" Target="/ppt/notesMasters/notesMaster1.xml" Id="R363a7006b3694daa" /><Relationship Type="http://schemas.openxmlformats.org/officeDocument/2006/relationships/presProps" Target="/ppt/presProps.xml" Id="R281b7a5304284287" /><Relationship Type="http://schemas.openxmlformats.org/officeDocument/2006/relationships/viewProps" Target="/ppt/viewProps.xml" Id="R96fe6a2041734b16" /><Relationship Type="http://schemas.openxmlformats.org/officeDocument/2006/relationships/tableStyles" Target="/ppt/tableStyles.xml" Id="R7bed28aa5a004902" /><Relationship Type="http://schemas.openxmlformats.org/officeDocument/2006/relationships/slide" Target="/ppt/slides/slide1.xml" Id="Rd8c93d29c32e4545" /><Relationship Type="http://schemas.openxmlformats.org/officeDocument/2006/relationships/slide" Target="/ppt/slides/slide2.xml" Id="R6922b233b8c546d8" /><Relationship Type="http://schemas.openxmlformats.org/officeDocument/2006/relationships/slide" Target="/ppt/slides/slide3.xml" Id="R4b5da2300e8a4400" /><Relationship Type="http://schemas.openxmlformats.org/officeDocument/2006/relationships/slide" Target="/ppt/slides/slide4.xml" Id="Re9323071a64a4e02" /><Relationship Type="http://schemas.openxmlformats.org/officeDocument/2006/relationships/slide" Target="/ppt/slides/slide5.xml" Id="R6b4a6296f56d4dad" /><Relationship Type="http://schemas.openxmlformats.org/officeDocument/2006/relationships/slide" Target="/ppt/slides/slide6.xml" Id="Rfe487d286563400c" /><Relationship Type="http://schemas.openxmlformats.org/officeDocument/2006/relationships/slide" Target="/ppt/slides/slide7.xml" Id="R13e4ada6b2d3412b" /><Relationship Type="http://schemas.openxmlformats.org/officeDocument/2006/relationships/slide" Target="/ppt/slides/slide8.xml" Id="R1320d0c67f264a5d" /><Relationship Type="http://schemas.openxmlformats.org/officeDocument/2006/relationships/slide" Target="/ppt/slides/slide9.xml" Id="Rf108b8f604c04aae" /><Relationship Type="http://schemas.openxmlformats.org/officeDocument/2006/relationships/slide" Target="/ppt/slides/slide10.xml" Id="R9374b5e243704448" /><Relationship Type="http://schemas.openxmlformats.org/officeDocument/2006/relationships/slide" Target="/ppt/slides/slide11.xml" Id="Rba12675e69984396" /><Relationship Type="http://schemas.openxmlformats.org/officeDocument/2006/relationships/slide" Target="/ppt/slides/slide12.xml" Id="R944e7c74b509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bc7c7f86da42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914ae2f4440be" /><Relationship Type="http://schemas.openxmlformats.org/officeDocument/2006/relationships/notesMaster" Target="/ppt/notesMasters/notesMaster1.xml" Id="Rc290721a774f42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e9e94505a4605" /><Relationship Type="http://schemas.openxmlformats.org/officeDocument/2006/relationships/notesMaster" Target="/ppt/notesMasters/notesMaster1.xml" Id="R4d58d00f059b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bb4ad1255b4cb6" /><Relationship Type="http://schemas.openxmlformats.org/officeDocument/2006/relationships/notesMaster" Target="/ppt/notesMasters/notesMaster1.xml" Id="R51d7c938f7604b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a7a89c61a147e9" /><Relationship Type="http://schemas.openxmlformats.org/officeDocument/2006/relationships/notesMaster" Target="/ppt/notesMasters/notesMaster1.xml" Id="R7f6cc2fff0cf45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cdf1fd2644b4a" /><Relationship Type="http://schemas.openxmlformats.org/officeDocument/2006/relationships/notesMaster" Target="/ppt/notesMasters/notesMaster1.xml" Id="Rc36762f40021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89f834da84214" /><Relationship Type="http://schemas.openxmlformats.org/officeDocument/2006/relationships/notesMaster" Target="/ppt/notesMasters/notesMaster1.xml" Id="Rc25d4940932a48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11e133ca4f4a48" /><Relationship Type="http://schemas.openxmlformats.org/officeDocument/2006/relationships/notesMaster" Target="/ppt/notesMasters/notesMaster1.xml" Id="Rbf026e04ee47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91e5b87bf74d7f" /><Relationship Type="http://schemas.openxmlformats.org/officeDocument/2006/relationships/notesMaster" Target="/ppt/notesMasters/notesMaster1.xml" Id="R4c6a1dc410654f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be312a94734da7" /><Relationship Type="http://schemas.openxmlformats.org/officeDocument/2006/relationships/notesMaster" Target="/ppt/notesMasters/notesMaster1.xml" Id="R82dcea01c9334e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53c22e53df4530" /><Relationship Type="http://schemas.openxmlformats.org/officeDocument/2006/relationships/notesMaster" Target="/ppt/notesMasters/notesMaster1.xml" Id="Rac567da28c6549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c250d81a854424" /><Relationship Type="http://schemas.openxmlformats.org/officeDocument/2006/relationships/notesMaster" Target="/ppt/notesMasters/notesMaster1.xml" Id="Rc5452201920345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2d6e56bf5448e3" /><Relationship Type="http://schemas.openxmlformats.org/officeDocument/2006/relationships/notesMaster" Target="/ppt/notesMasters/notesMaster1.xml" Id="R7e60d286622b41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bd44a20f347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1d9a407daf4ed3" /><Relationship Type="http://schemas.openxmlformats.org/officeDocument/2006/relationships/slideLayout" Target="/ppt/slideLayouts/slideLayout1.xml" Id="R31ab6f77e3f745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b6f77e3f745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f3c4163e94057" /><Relationship Type="http://schemas.openxmlformats.org/officeDocument/2006/relationships/image" Target="/ppt/media/image.png" Id="R1693be8cc4f64805" /><Relationship Type="http://schemas.openxmlformats.org/officeDocument/2006/relationships/image" Target="/ppt/media/image2.png" Id="R58c9644cc1a541ed" /><Relationship Type="http://schemas.openxmlformats.org/officeDocument/2006/relationships/notesSlide" Target="/ppt/notesSlides/notesSlide1.xml" Id="Re4c778b4cc2c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f118564544f37" /><Relationship Type="http://schemas.openxmlformats.org/officeDocument/2006/relationships/image" Target="/ppt/media/image3.png" Id="Rb4345b39add147ca" /><Relationship Type="http://schemas.openxmlformats.org/officeDocument/2006/relationships/notesSlide" Target="/ppt/notesSlides/notesSlide2.xml" Id="R73c841a2cfde43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c9e76693647a2" /><Relationship Type="http://schemas.openxmlformats.org/officeDocument/2006/relationships/notesSlide" Target="/ppt/notesSlides/notesSlide3.xml" Id="R454412408ad14e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a4ce12eae4b2e" /><Relationship Type="http://schemas.openxmlformats.org/officeDocument/2006/relationships/image" Target="/ppt/media/image4.png" Id="Redc8875351c9473b" /><Relationship Type="http://schemas.openxmlformats.org/officeDocument/2006/relationships/notesSlide" Target="/ppt/notesSlides/notesSlide4.xml" Id="R59068d3ee5de4f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e1503b8de44e7" /><Relationship Type="http://schemas.openxmlformats.org/officeDocument/2006/relationships/image" Target="/ppt/media/image5.png" Id="Rb063092f244a4612" /><Relationship Type="http://schemas.openxmlformats.org/officeDocument/2006/relationships/notesSlide" Target="/ppt/notesSlides/notesSlide5.xml" Id="R3580b573f28f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fc9a960074498" /><Relationship Type="http://schemas.openxmlformats.org/officeDocument/2006/relationships/notesSlide" Target="/ppt/notesSlides/notesSlide6.xml" Id="R24443abe94e8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b6a4b2114678" /><Relationship Type="http://schemas.openxmlformats.org/officeDocument/2006/relationships/image" Target="/ppt/media/image6.png" Id="Red47c25e2b944ce4" /><Relationship Type="http://schemas.openxmlformats.org/officeDocument/2006/relationships/notesSlide" Target="/ppt/notesSlides/notesSlide7.xml" Id="Reff8b56398cd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4a01af3044d7a" /><Relationship Type="http://schemas.openxmlformats.org/officeDocument/2006/relationships/notesSlide" Target="/ppt/notesSlides/notesSlide8.xml" Id="R31e4feb6535c40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dda913a634ffd" /><Relationship Type="http://schemas.openxmlformats.org/officeDocument/2006/relationships/notesSlide" Target="/ppt/notesSlides/notesSlide9.xml" Id="Rbc67e7511f8a45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1e82082f7482c" /><Relationship Type="http://schemas.openxmlformats.org/officeDocument/2006/relationships/image" Target="/ppt/media/image7.png" Id="R36667e0ded79413e" /><Relationship Type="http://schemas.openxmlformats.org/officeDocument/2006/relationships/notesSlide" Target="/ppt/notesSlides/notesSlide10.xml" Id="R30bb4535d77845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2113d8bba4f6a" /><Relationship Type="http://schemas.openxmlformats.org/officeDocument/2006/relationships/image" Target="/ppt/media/image8.png" Id="R07166a12e7154a46" /><Relationship Type="http://schemas.openxmlformats.org/officeDocument/2006/relationships/notesSlide" Target="/ppt/notesSlides/notesSlide11.xml" Id="Rc3bf89fc365349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5e07518254ed5" /><Relationship Type="http://schemas.openxmlformats.org/officeDocument/2006/relationships/notesSlide" Target="/ppt/notesSlides/notesSlide12.xml" Id="Refc9bc02475744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B7F320-F3FD-47FA-B907-C229700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0A355-A6E8-4AE7-9084-FF3F5D4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F2186-2696-4410-B3A7-57BA244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3be8cc4f64805"/>
          <a:stretch xmlns:a="http://schemas.openxmlformats.org/drawingml/2006/main"/>
        </p:blipFill>
        <p:spPr>
          <a:xfrm xmlns:a="http://schemas.openxmlformats.org/drawingml/2006/main">
            <a:off x="723900" y="577632"/>
            <a:ext cx="838200" cy="787836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9644cc1a541ed"/>
          <a:stretch xmlns:a="http://schemas.openxmlformats.org/drawingml/2006/main"/>
        </p:blipFill>
        <p:spPr>
          <a:xfrm xmlns:a="http://schemas.openxmlformats.org/drawingml/2006/main">
            <a:off x="1746361" y="666750"/>
            <a:ext cx="2288953" cy="59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3CC5B-654A-4569-B9A7-9C2D16D1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0">
            <a:solidFill>
              <a:srgbClr val="FBE9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DEA8F-1684-4012-ADED-C0380DF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6D109-B420-4C4E-AC5A-EAAABF70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PathVQA 数据集的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C2016-9D11-4D2D-9C0B-AE91D06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轻量级医疗视觉问答模型设计与实现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67046-BE57-47E0-9658-04A441B2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从数据处理、轻量级多模态模型、两阶段训练到网页端原型系统的完整实现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E57F7-EF2B-4687-8979-C93E875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714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答辩人：周健    学号：208221335    专业：人工智能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DFE65-CC1F-4197-8C38-7399DC11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指导教师：王青云 / 蔡亮亮    通信与人工智能学院、集成电路学院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D12B0-7CEF-4F62-B1B6-8086BAC5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建议汇报时长：约 7 分钟</a:t>
            </a:r>
          </a:p>
        </p:txBody>
      </p:sp>
    </p:spTree>
    <p:extLst>
      <p:ext uri="{BB962C8B-B14F-4D97-AF65-F5344CB8AC3E}">
        <p14:creationId xmlns:p14="http://schemas.microsoft.com/office/powerpoint/2010/main" val="4263804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0A7F0-CFE1-4429-9A69-996446C9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41A8B-8CC9-4A64-9376-A9F99727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340F2-0A37-4252-A224-2346DC9B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D95D0-1967-47C5-A60F-33F52299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01 / 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3CAE8-C448-4501-BE7D-03D38A2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医疗视觉问答把“看图”和“理解问题”放到同一个任务中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BC570-6915-4968-995D-2FD37ED3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目标不是单纯图像分类，而是根据用户问题输出有针对性的候选答案。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7C928-E961-42FB-ABBE-BE0259A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A15D7-C491-4F44-9A5F-4F90E86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715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8C88F-6DC3-4731-8EF5-8B00CFAB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现实意义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2B144-CE94-425D-A43D-B9BD8FA4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病理图像、影像图片等医学视觉数据增长较快，交互式问答可以辅助教学、检索和初步分析。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BA624-6066-49BE-BE1F-57F262E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7CCA1-8F5A-4642-9037-5E51D3C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5715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99BF6-EAF2-4A13-8CE5-FB72B24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145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技术难点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F254F-52F7-4904-939D-9BC6BF0F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57475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医学图像细节复杂，问题文本包含专业术语；模型需要同时处理视觉特征和语言语义。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FF74C-5993-400D-9E8C-186AC94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CDBA5-9DE3-462A-9AF2-6A5BF685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5715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EC23E-A88B-4484-916B-9E8D1B8F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145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本文定位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F9AE9-A842-408F-8235-0D769851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57475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构建轻量级 VQA 原型，不追求临床诊断替代，而是验证小模型完成图文问答闭环的可行性。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5b39add147ca"/>
          <a:stretch xmlns:a="http://schemas.openxmlformats.org/drawingml/2006/main"/>
        </p:blipFill>
        <p:spPr>
          <a:xfrm xmlns:a="http://schemas.openxmlformats.org/drawingml/2006/main">
            <a:off x="4218878" y="4095750"/>
            <a:ext cx="3658994" cy="1666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5B5BF-8610-4E99-99F1-B727646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5AA1C-A48F-45D8-B87D-1AD4D6A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6FDAC-1BED-4D40-BF96-1AE708D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94086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B69C8-A69C-4504-A50A-5B9A5401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A73CC-8463-4C59-9068-9127B7CA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F3D86-04E4-48F0-90F3-113C59F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B8E0A-573F-4801-A018-4F3D7EAC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02 / 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D50E0-AA2E-4FDC-995E-E4E4CF1E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本文完成了从数据到系统演示的完整闭环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C2D2B-DC1F-4595-9A8C-F56A91B6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答辩汇报按“数据、模型、训练、评估、系统”展开。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16898-5A82-4431-84B5-0F07E3F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73842-E295-4887-AA65-4168A6A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309FC-51AF-4621-8AE7-2A350F2B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A5FE1-8712-4F6D-A5C8-F3F0507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68386-A5DD-4744-884F-F14F153F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解析 PathVQA 图像、问题和答案；建立词表、答案映射和固定数据划分。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A5409-2D93-4CD1-9B48-6446EFED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C1F37-4B14-4C9A-AFE3-DA31BA5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68E08-C25C-4BC3-A157-CFE664B2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860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30B70-6DFA-4D45-9FDF-405E258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47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4001B-6E53-4D04-AA34-EACBE7C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ResNet18 提取图像特征，Embedding+LSTM 编码问题，拼接后进行答案分类。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28AD4-C12E-4DC9-9D6D-2835A4A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C4EDF-629F-4DBF-884A-7DEDBF6D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E60D6-B43B-4555-BBA9-5A73138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860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B7030-D172-4C41-8521-6C60333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47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训练优化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A645A-D98F-4704-A7EE-DB02580B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第一阶段冻结图像骨干，第二阶段微调 ResNet18 高层特征。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7D69A-28AB-41F2-880B-F73D01D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B53E4-B0C4-4782-A88A-799D3722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40013-9BFF-4539-941C-5ADDA52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860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C1E6D-69B6-4305-8F93-BF79DBC2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47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实验评估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6A337-BEFB-41B0-BCB4-3C68D146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使用 Loss、Top-1 Accuracy 和 Top-5 Accuracy 评价模型效果。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42257-ED77-499B-9C43-DAE9D9F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619250" cy="1762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AFD9D7-0F78-4748-A8CF-809C3D4D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5121B"/>
          </a:solidFill>
          <a:ln xmlns:a="http://schemas.openxmlformats.org/drawingml/2006/main" w="0">
            <a:solidFill>
              <a:srgbClr val="B5121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0A5D7-7069-4506-A035-4315D32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860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D406E-BDAF-4458-A1AC-C34931F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47925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ADD66-FC20-41D4-8771-12BF4328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238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基于 Gradio 搭建网页端，支持图像上传、问题输入和 Top-5 候选展示。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DB344-05A1-4DD7-9075-9E0AD1E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477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8EA92-7A86-4F4B-96B1-52D8336B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617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闭环实现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DB84CA-E30B-4D19-B201-2B19226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24500"/>
            <a:ext cx="613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数据预处理 → 模型训练 → 测试评估 → Web 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99CBA4-89FA-43BE-90C9-65FE862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600B9-88B9-4DD8-855E-D3E0545D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52169D-91B0-4F16-9547-6EFB474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7474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0F176-6523-47A9-84BD-1670FFD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AA481-D904-454C-86E5-12BB177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22406-9CE0-4C47-A14C-3E075781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AB3A9-E7E3-47F5-9254-54BF4EC4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03 / 数据集与预处理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FCB7E-F1FF-400E-9303-743FF582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固定划分和统一映射保证实验结果可复现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44C67-79E4-4988-89DD-5AE3FD4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词表和答案类别只由训练集构建，验证集和测试集复用同一套映射。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8875351c9473b"/>
          <a:stretch xmlns:a="http://schemas.openxmlformats.org/drawingml/2006/main"/>
        </p:blipFill>
        <p:spPr>
          <a:xfrm xmlns:a="http://schemas.openxmlformats.org/drawingml/2006/main">
            <a:off x="666750" y="2058591"/>
            <a:ext cx="5048250" cy="23979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23AE-FFBE-4634-9C9F-C552A99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C0958-88E6-4CFC-AD51-85C809AC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574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3D2BC-AA11-4273-B4AA-3CC27072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71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80563-2E75-41A0-BD6D-B774D8D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57425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7B789-2260-4F50-B5A7-5133A9B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717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1722A-50A1-439F-BD73-3ADC007C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57425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5D251-EA94-4FD7-BEBD-6EC829B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FC011-4086-418C-9782-1C0B9D8B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908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DA50C-16B8-4ACD-BE12-4EF6760A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2030A-7614-41D9-BDE3-342AF82D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90825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8E6BE-45BD-44EA-A6E1-9EA96884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051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B6679-261C-45C9-96A0-E5036F9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90825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模型参数学习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B4741-21AD-47B8-8466-A75F3C46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93562-4306-46AD-B0F8-29C9256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ED674-68B9-4CC4-BF19-58507CEA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96FBA-BAD2-4522-B366-39B2E00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24225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5B6D2-1A02-48EC-BE49-C21D1807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4A79C-5114-432C-AF89-89E5CD81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24225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训练过程选择最优模型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62209-66DF-4347-834C-B78BF9B7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71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A981E-0478-4D3A-9004-E4BF0B4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69598-7812-4ED0-A446-F6DF99FC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71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3CBCD-1716-4DE1-A6C8-4D6B033D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57625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852C5-AF56-4B8E-B332-44055BE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719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46FA9-F697-431C-A8F6-0C9365B6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57625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最终泛化性能评估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8AF66-2A65-45ED-B7CB-7CFF811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45CF8-97DC-4214-A4BC-59E0A7A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767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最大问题长度 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55D55-4DEB-46C9-A2F1-4925AFB2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291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0">
            <a:solidFill>
              <a:srgbClr val="E6F7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EF49F-060B-4A03-B285-E54C5873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7677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词表 4,331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7A0DCF-4D93-4108-A399-965A4E4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29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8C774D-D453-44F3-96AD-C14DCB07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6767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答案类别 2,079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10EAD7-0648-43D9-BE60-165A7EB4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AD6B1A-33A9-47B8-8896-32357D5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FAB327-009B-4BA4-9109-00D290B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25435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4F412-7DA2-4FE0-B36D-A93C083E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C6B43-D9E2-4BEE-904F-4A2F50B6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A60AA-09C1-453F-9BC4-279563CA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FD2FE-9CB8-4184-B01E-60280586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04 / 模型总体结构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69089-3FB0-43BD-9733-32D29EE6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图像分支和文本分支分别编码，再融合为答案分类特征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682E-69D6-4D9F-8CB1-1984204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本质上把医疗视觉问答建模为 2,079 类候选答案分类任务。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3092f244a4612"/>
          <a:stretch xmlns:a="http://schemas.openxmlformats.org/drawingml/2006/main"/>
        </p:blipFill>
        <p:spPr>
          <a:xfrm xmlns:a="http://schemas.openxmlformats.org/drawingml/2006/main">
            <a:off x="742950" y="2000779"/>
            <a:ext cx="7667625" cy="32374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E4885-93F9-45B6-8550-58CA9BDD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5CD6C-6C6A-40EE-B5C5-2407BFE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557A4-B10F-4A2C-A397-640A68BC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图像编码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EDB09-9B90-4716-8E68-3722E193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ResNet18 去除最终分类层，输出 512 维视觉特征。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7B661-6564-4A9F-A92F-DBF074D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50879-B7A4-447B-BCD8-42D3E16C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F46EB-E1C9-4613-A780-1782420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文本编码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9B07E-A14D-485D-BF51-57CCA63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问题文本经过分词、Embedding 和 LSTM，输出 256 维语义特征。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D1491-4A84-4C6C-94A1-0B2249B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16C24-9DF4-4635-93DD-D8FE004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8A886-C2D3-4D1E-9D7D-C390A09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386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特征融合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475E7-092E-4E22-B4FB-EF0B09D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8155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512 + 256 拼接为 768 维联合特征，输入全连接分类器。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E265F-91A5-422D-AE3B-CA26A031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772C6-E928-41C5-97D4-B8A3B57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125E8-8533-4CBF-8387-1D3DA8D5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52595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FD18C-3816-49F2-B2D7-47EC922F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D38E0-DB11-4DFC-A50D-76A63F5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DBE6-4986-4828-8924-9673DB34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BAE92-A8F6-4E36-98FA-BB33A015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05 / 关键模块设计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9EA20-1E67-4E33-BF56-CC58F5DD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轻量化体现在模型选择、融合方式和分类器设计上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CD119-7614-4875-B8EE-E6EBD10C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结构简单的好处是训练成本低、调试清晰，适合本科设计中的完整工程实现。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000CC-94B7-4DC9-9BC6-117969C2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B1CE7-AD61-47F6-9555-FB48AFA9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A4460-1DB9-4DDB-B5B0-75FAC4B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ResNet18 图像编码器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467CD-3ABE-41CD-BA95-B8D348FB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76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输入图像统一调整为 224×224；使用本地预训练权重；第一阶段冻结卷积层，第二阶段只微调 layer4。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CA3D5-A549-4FBC-8785-4220286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8B140-2A1A-46C3-90D4-A7E6F55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A2F51-5FE5-435B-9D17-27899FC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Embedding + LSTM 文本编码器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CD939-297A-4DCB-B101-175E3BA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词嵌入维度为 128，LSTM 隐藏维度为 256；取最后隐藏状态作为问题语义表示。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F3FAB-619B-496A-85F7-B30D1CE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97796-4CDD-4042-A85F-127A7C35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63407-0671-435D-B724-83DA7662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融合分类器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BC199-FF7B-432B-B19D-5F7BAC23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276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图文特征拼接为 768 维；经过 Linear、ReLU、Dropout 和最终 Linear 输出答案类别。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F43CD-8AFB-46A3-AC4E-CF4CA85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1952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A0028-C2DB-419F-BB5B-5019E2F4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43475"/>
            <a:ext cx="1647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EE683-FCDE-42DA-9502-0598BDB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76875"/>
            <a:ext cx="1609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视觉特征维度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29083-243C-473B-A771-F0D3C19F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10125"/>
            <a:ext cx="1952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79CE4-90C5-4216-B1F9-1FD1D7B2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43475"/>
            <a:ext cx="1647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FA987-85F4-4824-BA5A-C4DEC38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76875"/>
            <a:ext cx="1609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文本特征维度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48BA4-E6AA-4B96-93E4-1A7F8DF2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0125"/>
            <a:ext cx="1952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F67A7-59CE-44AB-A406-EE44497A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43475"/>
            <a:ext cx="1647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2,079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CE7E6-CA9A-4DA6-A800-38222379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76875"/>
            <a:ext cx="1609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答案分类数量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A683F7-A684-4730-9B48-4A37610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12DDA-B5F8-4BF4-B4AA-8F18204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00DBD-D6A2-4BEE-BA09-6549257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50940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BC720-575B-4FD9-BC83-C87FDD3C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572AF-3298-4D7A-A21F-4168CCCF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2D8BD-8C17-4EAF-A10D-898C2F6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64010-873C-4B52-A667-9E980208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06 / 两阶段训练策略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DF995-7A07-4F31-82D8-CE16B9B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先稳定学习图文映射，再小步微调医学图像高层特征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D7C0D-791A-41B5-A599-5EA0262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这样在训练成本和性能提升之间取得折中。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7c25e2b944ce4"/>
          <a:stretch xmlns:a="http://schemas.openxmlformats.org/drawingml/2006/main"/>
        </p:blipFill>
        <p:spPr>
          <a:xfrm xmlns:a="http://schemas.openxmlformats.org/drawingml/2006/main">
            <a:off x="742950" y="2101103"/>
            <a:ext cx="5715000" cy="20842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9A9F1-3566-44EA-A6DC-725BAE0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3524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783E1-21BC-47DB-B5F7-002B6400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AF4FF-D733-4C58-A601-67CDDE1B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95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2F410-9634-450D-8521-003C11A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57425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第一阶段：冻结视觉骨干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501A4-C68F-4A6E-AE96-CBCE5E66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冻结 ResNet18 卷积层，训练文本编码器和分类器；训练 5 个 epoch。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B8F50-61E6-4222-B460-452956BD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524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47D7-E555-4974-B18F-55D9D09A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750AC-46E2-49D9-8160-2AD9520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623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97F83-1022-4F33-8D93-7D0552B3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24275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第二阶段：微调 layer4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680F-60DB-4C71-8DF4-ABC423E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加载第一阶段最优模型，解冻 ResNet18 的 layer4；训练 3 个 epoch。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D149D-BEE4-4C40-B99E-07303B11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10C7D-1F8E-415E-850B-687E36A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910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Stage 1 学习率 1e-3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60505-E59C-434E-AB5E-A78FA7C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43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FFF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D43D-8622-412A-9C1B-2934A691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910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rPr>
              <a:t>Layer4 学习率 1e-5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B4F23-5419-4C6E-9FBD-8BBF57C5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3450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9FB58-3AEF-4A8F-8CF1-0F5B8C1F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91075"/>
            <a:ext cx="1514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其他模块学习率 1e-4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6CD0F-F778-4AED-B4AE-4DDDD316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91357-D033-4847-AB37-AA854CA6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9D078-3961-45A2-87D0-4DE6D8FF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0253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52B05-0957-457D-B298-8569A0F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D387B-3DBB-428F-8E72-E2EEFF0D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2D443-7286-456D-A2AC-2303BCA5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62235-6A38-41D7-BB3A-F39C1DB8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07 / 实验设置与评价指标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A5FCA-DC77-4A66-9412-3A98E84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评价既看首选答案，也看候选答案排序能力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760F0-6FD2-4E39-A6D6-E73571F9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Top-5 对候选推荐型问答系统更有参考价值。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04CEA-4D17-4D8F-85B0-80883A5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E380C-A982-4E3D-996F-D01FB1FE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E24FE-9135-4A5D-B918-BFE68AF4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9E0E9-E114-4436-91A1-F83174C4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8122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 / 取值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0174C-3E44-4BC7-B6EC-3A26E859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99F66-7C89-4BDD-804C-9F1B85D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81225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6FF01-2566-4F57-8B4A-06E3BF8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84620-16D6-4EBC-93C1-FC51E719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367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开发环境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F3C7A-94ED-447D-AE63-3C85F168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EF54A-CFD2-4961-82B5-782A6514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3367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Windows + PyCharm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8F59A-2A48-4C92-B6ED-A4482A5A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9E4FB-11C5-499F-8246-4F3E028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33675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本地训练、调试与演示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0BD14-A15D-4F95-953E-305960C6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308D7-B76B-4BC8-AF93-E18905FE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深度学习框架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4DF48-CA25-4CF2-8BB7-1AEC249E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A3A55-5CEF-4329-A236-B9C3304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8612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E2FE6-C146-4655-B8C8-D9BDBED5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B32EF-D8D5-47E0-9FF1-83580DB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86125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模型训练与推理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8D531-96A5-43F1-9CBF-561DAA71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53A5E-88D4-435F-8E8D-033C935D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硬件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BD285-CF3B-4641-82B0-B9979BE8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05708-BA31-4AEC-8F3B-19D25CF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3857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RTX 3060 + CUDA 11.8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E3058-CE53-4FC6-96B8-5E7E79C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F64FA-A835-4CCD-93B2-30E84080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38575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加速训练与推理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0B9BAF-91D8-49AF-850F-21A95A5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1C2FD-21A9-483C-B809-1125C6C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损失函数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20446-DD0D-4B92-B623-3CEAE31A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AF2F3C-0278-44DF-AE06-173597BC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9102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Cross Entropy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13AF3-64AC-4529-B54B-720E31C5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053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06731-FEC0-4571-817A-ECBDCA0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91025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多类别分类任务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72C4AA-B5ED-4CB1-9749-3A32FFBE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7CD0A-51DA-4A3A-9845-75C9773A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43475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0D0DB3-A190-4CC4-BC1D-505F22A1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9168E7-64C0-45A3-B133-75CA1A35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4347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Loss / Top-1 / Top-5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7820EA-035D-4C39-B44B-AA0E162C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13CCD3-629C-4B98-B979-58DC7525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43475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从误差、首选和候选覆盖三方面评价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6FED7D-53DA-499A-A2C5-E5299127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1CDAA1-C946-4FD9-B61C-D0609126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A9FC37-81A4-4ADE-A1F3-349DBA8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05450"/>
            <a:ext cx="859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指标解释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22FF7B-3353-4F27-B5E1-C29CF12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483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表示首选答案是否正确；Top-5 表示正确答案是否进入前五个候选。网页端展示 Top-5，能更贴合“辅助参考”的系统定位。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831AC0-6062-4499-8BBF-905A5C31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CD504D-529C-4A3B-A26B-405CCA40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568B7C-9FB5-40C3-9D7E-70FE4E7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68837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773E05-76D5-448A-A66E-A2807EF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4B5BA-41BB-469C-ABF2-A5EA02EE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40563-C689-4934-A835-8F6368E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031CA-1BBA-43F7-A05A-3117929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08 / 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C6665-F3DD-4AEB-ACD1-415F3B05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二阶段微调后，Top-1 和 Top-5 均明显提升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54A9A-B448-4704-8F75-5092F377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最终测试集 Top-1 为 49.87%，Top-5 为 85.65%。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96CE3-1F4B-4D1B-AFCF-E75CC840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60BF4-BC0F-43F3-B795-FE630FE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73657-3699-41EE-B79D-BADEFAB1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第二阶段 Top-1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9DE67-6145-4D64-B470-A67982F6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A7E41-20EE-4C30-B210-8AD6120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0787B-92C1-4A20-B1FC-6B5E852D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051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第二阶段 Top-5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41E4F-B3AC-4926-9FD5-9E9A797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BC012-58E0-4396-81F7-FC25A65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rPr>
              <a:t>1.6937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28798-BA32-44FC-B029-CF8210C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第二阶段 Test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955C6-1A9C-4590-9BA7-F1A187C0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CF170-6FF7-403B-AF9C-1F9C9BF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+5.72%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6E448-1884-46D9-8B32-9441CEBB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051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提升幅度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80868-1EFA-4E08-ABA9-BAE3A2E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阶段1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216B7-A1A5-424B-B047-D811BF05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86200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A94AF-2EAE-4AA6-B7AE-92216C1A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86200"/>
            <a:ext cx="180827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4F82D-F411-46F2-AA9E-1BFE8784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385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84674-C0C4-45F6-820F-9A0A5B90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阶段2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F3B87-A79B-42CD-B3F5-8314CF32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E5B99-575A-4924-8894-49C92359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204255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55DBA-17BF-4AC2-996D-756C377F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862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979A9-04A5-405F-B664-A01EA955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Top-5 阶段1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029DD-953B-41C3-A689-A19ABC8F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F1A7E-D622-4F40-8C77-D14E9396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333312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CC11B0-ABE2-4FC5-9FB9-F9295199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53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66EC5E-F4FB-44E4-BF26-5003A84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Top-5 阶段2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06500F-62F0-4E86-AC45-E97F8A66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48300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61499C-636E-4D9A-8085-D84C11E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48300"/>
            <a:ext cx="350801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732A0B-0292-4373-91CE-C9DEA511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006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4EFE2-3569-4446-963A-9987045A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2714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E661D3-350A-40B2-867E-D5EB299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9DF31E-5EC4-43E1-8D6D-CA5B7DC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235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BC4A3C-5D12-4786-BA1C-35F9B42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62475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解冻 ResNet18 高层后，模型对医学图像特征的适配更充分，候选答案排序能力进一步增强。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5FEB54-BF48-49FA-A90C-1040493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563542-7869-40B0-8D6E-6B09F17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2F86D7-0D3C-4C2B-A64F-EE41FD8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1013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C2742-6042-4A87-A4E2-73ED3C8E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3EDCB-320E-47EE-9445-848F2BA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10E1-ACB8-4517-8137-48CB633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0D2D-56DC-4E20-9AD5-12D4ADE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09 / 网页端系统实现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CC3DA-35DE-45D2-95F8-5A9179F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Gradio 将模型能力转换为可现场演示的交互系统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3DB8-4BEE-4736-9C4F-547C2DDF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系统支持图像上传、问题输入、Top-1 输出、Top-5 候选展示和结果解释。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7e0ded79413e"/>
          <a:stretch xmlns:a="http://schemas.openxmlformats.org/drawingml/2006/main"/>
        </p:blipFill>
        <p:spPr>
          <a:xfrm xmlns:a="http://schemas.openxmlformats.org/drawingml/2006/main">
            <a:off x="850106" y="1952625"/>
            <a:ext cx="6919913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C1A9A-F133-4C80-932E-4900BC8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A69A4-5218-43B0-AF38-4AF6207C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57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2213A-61CE-4478-A683-D91EFFE9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93448-B2D6-434F-A6BB-672952EE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上传医学图像；输入英文问题；可加载内置示例。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77F9A-F6FC-41B8-94A6-9955005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F41AB-D056-4210-A40C-5F25748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836BA-298C-4BB6-8606-2C92DBE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90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CE8D8-5F4B-4820-BB72-DFC1357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加载二阶段最优模型；自动选择 GPU/CPU；输出答案概率排序。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9C649-73F1-4308-9799-E2D42A80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289C0-0636-4662-8F7B-630592F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34320-62C8-4E63-8CCC-8D88C15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291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BA7DC-8708-4ECF-A1A5-2621CA91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720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显示 Top-1 推荐答案、Top-5 候选答案和 Top1-Top2 差值解释。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F182F-74E8-42E6-9C6E-3C98EFC3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8CA1F-CAE8-4EAE-A07C-608CC227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311EC-2104-4CE2-931D-AF8FAF0E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44891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98073-8D54-49AF-9199-BB025A0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265E-F8D9-464D-A8B4-A3EA017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8E44B-C3BA-4F04-A02C-8B2B66BF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671FE-3EFB-4CAD-AD60-66C7520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10 / 系统测试与演示流程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D4BF3-170C-4B78-B145-D8938C24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演示重点是稳定展示完整问答闭环，而不是临时输入陌生样例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B7FCA-D413-49F6-AB25-6B910EF5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建议现场使用内置示例和高频问题，保证答辩节奏。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8B3C6-B5DF-4DA7-BCDD-7D1A478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A6AD9-0EFB-4095-B4E3-0B6639C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B99B6-FDB6-4380-B4ED-399DC41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70A49-392F-4F5A-92EF-CBA88FF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加载示例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9C2C2-1F41-4DAB-8623-BBCB6524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点击“加载示例”按钮，自动填入图像和问题。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894A6-850F-4B89-8C86-35C0A1FB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D4870-2D0B-463A-9510-D19C70D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B43C5-6309-4339-95EE-6FA38366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E0D56-22E7-448A-9E51-1D335C6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193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点击问答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EBB19-D046-45A5-98AF-E0B0D89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系统完成预处理、模型推理和结果排序。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BE99B-5339-4CD6-8DC0-76CF69F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B40CB-C1EA-427D-B6D7-A4B00301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71741-49A7-414E-9501-ACB2FEC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8B614-3EAA-4BBC-9E38-623DAC8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7415C-F162-4E30-B81D-79874F8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先说明 Top-1，再说明 Top-5 是候选参考。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E72CF-E74B-414C-B526-6A4453BE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60DE4-69B0-41AF-80BB-DF20417A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DB777-D028-4D3D-B4D4-DBD5AB03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574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E16A7-36B9-49FB-8999-62FD2C05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193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说明边界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64F8D-9315-4D5C-BEC2-784549F5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概率用于排序，不等同于临床置信度。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66a12e7154a46"/>
          <a:stretch xmlns:a="http://schemas.openxmlformats.org/drawingml/2006/main"/>
        </p:blipFill>
        <p:spPr>
          <a:xfrm xmlns:a="http://schemas.openxmlformats.org/drawingml/2006/main">
            <a:off x="4322995" y="4333875"/>
            <a:ext cx="3450760" cy="11906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8EB8C-0544-4B6E-BB05-DF45328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1A00C-E186-432A-A497-3200977C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449E07-0CC3-4FCC-ABDC-9AD3979A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48325"/>
            <a:ext cx="763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已测试功能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35457-CB8C-4F4B-AC1A-44F0F699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91225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图像上传、问题输入、高频问题选择、模型推理、Top-5 展示和清空操作均可正常运行。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3281CC-5859-4658-AA09-3EB05671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2C73F8-EF00-4D42-9C3F-C0F53A6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D5805-A872-48E1-A644-836F0C5C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18784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506E8-92F8-4503-8A99-81B91F1D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90B15-59E0-4A9D-B891-39E92A9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BC0E6-CEB6-4F7C-A2A6-4095BD96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702DC-6147-4243-BC05-3A1CF4F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11 / 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5E27B-3239-4781-9AC9-E2C4CDE1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本文完成了轻量级医疗视觉问答模型与网页原型系统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BA7BF-120B-497E-8A6D-AC626BB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最后主动说明贡献、局限和后续改进方向。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3EB76-78A1-4203-A1B6-4954801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E69A6-057C-4A11-8984-8F35282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91F09-7A39-4753-BF98-A16CDF6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2D52E-B629-4B1C-BB95-321E1F9F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完成 PathVQA 数据预处理、轻量级多模态模型设计、两阶段训练、实验评估和 Gradio 系统实现。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3B8EA-4DF3-4EAF-8741-779367E4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77165-41D4-498F-90DD-579515C7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D8EE0-D705-4018-A07E-479562FF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145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B47A8-7929-4AA2-9BA7-887636E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574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二阶段模型测试集 Top-1 达到 49.87%，Top-5 达到 85.65%，具备较好的候选答案推荐能力。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32413-67C3-4801-B818-247F0DE6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5FC72-6378-4706-A1DD-F21E531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CF112-AAD1-4BB9-B3C9-F31C829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1457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7E98D-E626-409A-8E87-E4E39779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574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系统可以作为医学图像问答的教学与原型验证工具，展示图文联合理解的基本流程。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D22C6-DE53-40F2-B1AA-FB06A048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3905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31456-078D-4DC1-A1C9-D1A89A6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5715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0ACE3-0C74-43F0-B47E-E2544FC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5770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FAEF4-F2B2-4E9B-8B37-878D65AD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3524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融合方式较简单，缺少区域级注意力；答案类别存在长尾分布；模型尚不能用于临床诊断。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51B70-8998-4EEF-90B3-D181A9B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3905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8F1FA-DA1D-4293-908A-82333544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5715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121B"/>
          </a:solidFill>
          <a:ln xmlns:a="http://schemas.openxmlformats.org/drawingml/2006/main" w="0">
            <a:solidFill>
              <a:srgbClr val="B5121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9CCCD-734D-4C90-90EB-52DA859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54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展望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DA421-F719-472B-8AF2-0502ED5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00600"/>
            <a:ext cx="3524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后续可引入注意力机制、医学视觉语言预训练模型、答案归一化和更严格的医学专家评测。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B998A-54B5-4062-BAEF-6C00356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E8FAF-6103-4A6A-A65C-BE74020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BC5A51-757A-49CB-8CF0-397BB5E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7DBF9-D378-4C6F-922A-E6E38CE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3992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2026-06-05T09:09:55.0750000Z</dcterms:created>
  <dcterms:modified xsi:type="dcterms:W3CDTF">2026-06-05T09:09:55.0750000Z</dcterms:modified>
</coreProperties>
</file>
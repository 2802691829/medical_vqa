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17e8d2f73b43fe" /><Relationship Type="http://schemas.openxmlformats.org/officeDocument/2006/relationships/extended-properties" Target="/docProps/app.xml" Id="R61486cd8ccb34d9a" /><Relationship Type="http://schemas.openxmlformats.org/officeDocument/2006/relationships/officeDocument" Target="/ppt/presentation.xml" Id="Rd9fcd91a690249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5d3073eaca4b5f"/>
  </p:sldMasterIdLst>
  <p:notesMasterIdLst>
    <p:notesMasterId xmlns:r="http://schemas.openxmlformats.org/officeDocument/2006/relationships" r:id="Rdd3f177baa464e42"/>
  </p:notesMasterIdLst>
  <p:sldIdLst>
    <p:sldId xmlns:r="http://schemas.openxmlformats.org/officeDocument/2006/relationships" id="256" r:id="R0420e3d8e57c46f7"/>
    <p:sldId xmlns:r="http://schemas.openxmlformats.org/officeDocument/2006/relationships" id="257" r:id="R44d04617fead4093"/>
    <p:sldId xmlns:r="http://schemas.openxmlformats.org/officeDocument/2006/relationships" id="258" r:id="R7c9c698751ea49d6"/>
    <p:sldId xmlns:r="http://schemas.openxmlformats.org/officeDocument/2006/relationships" id="259" r:id="Ra3e203e95f524529"/>
    <p:sldId xmlns:r="http://schemas.openxmlformats.org/officeDocument/2006/relationships" id="260" r:id="Rcadfd676aa2d4c2e"/>
    <p:sldId xmlns:r="http://schemas.openxmlformats.org/officeDocument/2006/relationships" id="261" r:id="R679fe417c77c4553"/>
    <p:sldId xmlns:r="http://schemas.openxmlformats.org/officeDocument/2006/relationships" id="262" r:id="Ra8e2ffdb9f114eae"/>
    <p:sldId xmlns:r="http://schemas.openxmlformats.org/officeDocument/2006/relationships" id="263" r:id="R23037bcc507f4952"/>
    <p:sldId xmlns:r="http://schemas.openxmlformats.org/officeDocument/2006/relationships" id="264" r:id="R8f68bf70c29f4f34"/>
    <p:sldId xmlns:r="http://schemas.openxmlformats.org/officeDocument/2006/relationships" id="265" r:id="R369bd5880f334aea"/>
    <p:sldId xmlns:r="http://schemas.openxmlformats.org/officeDocument/2006/relationships" id="266" r:id="R096740f0ce264939"/>
    <p:sldId xmlns:r="http://schemas.openxmlformats.org/officeDocument/2006/relationships" id="267" r:id="R5a86e133dc574a1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162b608d524360" /><Relationship Type="http://schemas.openxmlformats.org/officeDocument/2006/relationships/slideMaster" Target="/ppt/slideMasters/slideMaster1.xml" Id="Rf55d3073eaca4b5f" /><Relationship Type="http://schemas.openxmlformats.org/officeDocument/2006/relationships/notesMaster" Target="/ppt/notesMasters/notesMaster1.xml" Id="Rdd3f177baa464e42" /><Relationship Type="http://schemas.openxmlformats.org/officeDocument/2006/relationships/presProps" Target="/ppt/presProps.xml" Id="R573ed6e083724b1d" /><Relationship Type="http://schemas.openxmlformats.org/officeDocument/2006/relationships/viewProps" Target="/ppt/viewProps.xml" Id="R1bd475bc37a94032" /><Relationship Type="http://schemas.openxmlformats.org/officeDocument/2006/relationships/tableStyles" Target="/ppt/tableStyles.xml" Id="Rddbc6530d05d486e" /><Relationship Type="http://schemas.openxmlformats.org/officeDocument/2006/relationships/slide" Target="/ppt/slides/slide1.xml" Id="R0420e3d8e57c46f7" /><Relationship Type="http://schemas.openxmlformats.org/officeDocument/2006/relationships/slide" Target="/ppt/slides/slide2.xml" Id="R44d04617fead4093" /><Relationship Type="http://schemas.openxmlformats.org/officeDocument/2006/relationships/slide" Target="/ppt/slides/slide3.xml" Id="R7c9c698751ea49d6" /><Relationship Type="http://schemas.openxmlformats.org/officeDocument/2006/relationships/slide" Target="/ppt/slides/slide4.xml" Id="Ra3e203e95f524529" /><Relationship Type="http://schemas.openxmlformats.org/officeDocument/2006/relationships/slide" Target="/ppt/slides/slide5.xml" Id="Rcadfd676aa2d4c2e" /><Relationship Type="http://schemas.openxmlformats.org/officeDocument/2006/relationships/slide" Target="/ppt/slides/slide6.xml" Id="R679fe417c77c4553" /><Relationship Type="http://schemas.openxmlformats.org/officeDocument/2006/relationships/slide" Target="/ppt/slides/slide7.xml" Id="Ra8e2ffdb9f114eae" /><Relationship Type="http://schemas.openxmlformats.org/officeDocument/2006/relationships/slide" Target="/ppt/slides/slide8.xml" Id="R23037bcc507f4952" /><Relationship Type="http://schemas.openxmlformats.org/officeDocument/2006/relationships/slide" Target="/ppt/slides/slide9.xml" Id="R8f68bf70c29f4f34" /><Relationship Type="http://schemas.openxmlformats.org/officeDocument/2006/relationships/slide" Target="/ppt/slides/slide10.xml" Id="R369bd5880f334aea" /><Relationship Type="http://schemas.openxmlformats.org/officeDocument/2006/relationships/slide" Target="/ppt/slides/slide11.xml" Id="R096740f0ce264939" /><Relationship Type="http://schemas.openxmlformats.org/officeDocument/2006/relationships/slide" Target="/ppt/slides/slide12.xml" Id="R5a86e133dc574a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ebcbd9b4b944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b7fd696c1c4162" /><Relationship Type="http://schemas.openxmlformats.org/officeDocument/2006/relationships/notesMaster" Target="/ppt/notesMasters/notesMaster1.xml" Id="R097d27592cf049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08fd5fbe8d43d0" /><Relationship Type="http://schemas.openxmlformats.org/officeDocument/2006/relationships/notesMaster" Target="/ppt/notesMasters/notesMaster1.xml" Id="Rf8b37386d50b41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96669f3f95141d5" /><Relationship Type="http://schemas.openxmlformats.org/officeDocument/2006/relationships/notesMaster" Target="/ppt/notesMasters/notesMaster1.xml" Id="R369c6e4461ab420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20b0a3aa0a4ce4" /><Relationship Type="http://schemas.openxmlformats.org/officeDocument/2006/relationships/notesMaster" Target="/ppt/notesMasters/notesMaster1.xml" Id="R9e8493b9ae8440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29aba0b6f454b79" /><Relationship Type="http://schemas.openxmlformats.org/officeDocument/2006/relationships/notesMaster" Target="/ppt/notesMasters/notesMaster1.xml" Id="Raf5a36004c1842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5642d016d97457d" /><Relationship Type="http://schemas.openxmlformats.org/officeDocument/2006/relationships/notesMaster" Target="/ppt/notesMasters/notesMaster1.xml" Id="Re9a1d67b0d8742c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0ce3c20e80c4ab5" /><Relationship Type="http://schemas.openxmlformats.org/officeDocument/2006/relationships/notesMaster" Target="/ppt/notesMasters/notesMaster1.xml" Id="R0c4bc339292e436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d02d91f37804e35" /><Relationship Type="http://schemas.openxmlformats.org/officeDocument/2006/relationships/notesMaster" Target="/ppt/notesMasters/notesMaster1.xml" Id="R226b38c119d8440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2e96d95f96448d1" /><Relationship Type="http://schemas.openxmlformats.org/officeDocument/2006/relationships/notesMaster" Target="/ppt/notesMasters/notesMaster1.xml" Id="R98017f31ef42424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a5a03825b4647c7" /><Relationship Type="http://schemas.openxmlformats.org/officeDocument/2006/relationships/notesMaster" Target="/ppt/notesMasters/notesMaster1.xml" Id="Re2069af5dc734ad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d91165fa3304311" /><Relationship Type="http://schemas.openxmlformats.org/officeDocument/2006/relationships/notesMaster" Target="/ppt/notesMasters/notesMaster1.xml" Id="Rd18d1e2186f540f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557e06586b34c83" /><Relationship Type="http://schemas.openxmlformats.org/officeDocument/2006/relationships/notesMaster" Target="/ppt/notesMasters/notesMaster1.xml" Id="R0d52817c4b4147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aec5e8a1b249a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2f33ab9fe246fe" /><Relationship Type="http://schemas.openxmlformats.org/officeDocument/2006/relationships/slideLayout" Target="/ppt/slideLayouts/slideLayout1.xml" Id="R0369b5e1f5a14e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69b5e1f5a14e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dc278fecb1407b" /><Relationship Type="http://schemas.openxmlformats.org/officeDocument/2006/relationships/image" Target="/ppt/media/image.png" Id="R0729e7401b624caf" /><Relationship Type="http://schemas.openxmlformats.org/officeDocument/2006/relationships/image" Target="/ppt/media/image2.png" Id="Ra46bbc805a834df1" /><Relationship Type="http://schemas.openxmlformats.org/officeDocument/2006/relationships/notesSlide" Target="/ppt/notesSlides/notesSlide1.xml" Id="R0f223e9833d84d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f895b7f10941bd" /><Relationship Type="http://schemas.openxmlformats.org/officeDocument/2006/relationships/image" Target="/ppt/media/image3.png" Id="Rd2d5c2a5a7f04706" /><Relationship Type="http://schemas.openxmlformats.org/officeDocument/2006/relationships/notesSlide" Target="/ppt/notesSlides/notesSlide2.xml" Id="R0e8a00f880ba44e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7e6fa176ee40cd" /><Relationship Type="http://schemas.openxmlformats.org/officeDocument/2006/relationships/notesSlide" Target="/ppt/notesSlides/notesSlide3.xml" Id="Rd6dbf132f0684b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3d78ce713343bc" /><Relationship Type="http://schemas.openxmlformats.org/officeDocument/2006/relationships/image" Target="/ppt/media/image4.png" Id="Rf082ad06830646f8" /><Relationship Type="http://schemas.openxmlformats.org/officeDocument/2006/relationships/notesSlide" Target="/ppt/notesSlides/notesSlide4.xml" Id="R35b9f8b3bb454e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7f95d7e4a249c1" /><Relationship Type="http://schemas.openxmlformats.org/officeDocument/2006/relationships/image" Target="/ppt/media/image5.png" Id="R17f780c689a84e7d" /><Relationship Type="http://schemas.openxmlformats.org/officeDocument/2006/relationships/notesSlide" Target="/ppt/notesSlides/notesSlide5.xml" Id="R4fd01e1ce6054a5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efd49b48ce4d3e" /><Relationship Type="http://schemas.openxmlformats.org/officeDocument/2006/relationships/notesSlide" Target="/ppt/notesSlides/notesSlide6.xml" Id="R34c9a7b9a11f4d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4f4a8522094b93" /><Relationship Type="http://schemas.openxmlformats.org/officeDocument/2006/relationships/image" Target="/ppt/media/image6.png" Id="R6429f466824c4996" /><Relationship Type="http://schemas.openxmlformats.org/officeDocument/2006/relationships/notesSlide" Target="/ppt/notesSlides/notesSlide7.xml" Id="Ra11b8bf93b1c4a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b07c0f38fb4ef9" /><Relationship Type="http://schemas.openxmlformats.org/officeDocument/2006/relationships/notesSlide" Target="/ppt/notesSlides/notesSlide8.xml" Id="R75f92f1df2624b5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58c226b6054d15" /><Relationship Type="http://schemas.openxmlformats.org/officeDocument/2006/relationships/notesSlide" Target="/ppt/notesSlides/notesSlide9.xml" Id="R1bc23e68f8aa4ba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fbfe0698ec42a3" /><Relationship Type="http://schemas.openxmlformats.org/officeDocument/2006/relationships/image" Target="/ppt/media/image7.png" Id="Recc267822ec149e4" /><Relationship Type="http://schemas.openxmlformats.org/officeDocument/2006/relationships/notesSlide" Target="/ppt/notesSlides/notesSlide10.xml" Id="R6b9e19c4b1d3498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1e311ca48f4979" /><Relationship Type="http://schemas.openxmlformats.org/officeDocument/2006/relationships/image" Target="/ppt/media/image8.png" Id="R7fc581b29de245fb" /><Relationship Type="http://schemas.openxmlformats.org/officeDocument/2006/relationships/notesSlide" Target="/ppt/notesSlides/notesSlide11.xml" Id="R5f3416cf0ff947a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352db814f2447d" /><Relationship Type="http://schemas.openxmlformats.org/officeDocument/2006/relationships/notesSlide" Target="/ppt/notesSlides/notesSlide12.xml" Id="Rca591323518a47c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74DBAE-AD11-4502-B5C0-3E6888DA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7B274C-6E44-4225-9627-4617D14A5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55C85C-B92A-4C22-A6E2-92B04A5D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10250"/>
            <a:ext cx="12192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B"/>
          </a:solidFill>
          <a:ln xmlns:a="http://schemas.openxmlformats.org/drawingml/2006/main" w="0">
            <a:solidFill>
              <a:srgbClr val="E8F1FB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29e7401b624caf"/>
          <a:stretch xmlns:a="http://schemas.openxmlformats.org/drawingml/2006/main"/>
        </p:blipFill>
        <p:spPr>
          <a:xfrm xmlns:a="http://schemas.openxmlformats.org/drawingml/2006/main">
            <a:off x="723900" y="577632"/>
            <a:ext cx="838200" cy="787836"/>
          </a:xfrm>
          <a:prstGeom xmlns:a="http://schemas.openxmlformats.org/drawingml/2006/main" prst="rect">
            <a:avLst/>
          </a:prstGeom>
        </p:spPr>
      </p:pic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6bbc805a834df1"/>
          <a:stretch xmlns:a="http://schemas.openxmlformats.org/drawingml/2006/main"/>
        </p:blipFill>
        <p:spPr>
          <a:xfrm xmlns:a="http://schemas.openxmlformats.org/drawingml/2006/main">
            <a:off x="1746361" y="666750"/>
            <a:ext cx="2288953" cy="5905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EED49F-FB80-4066-8FC3-47C10F9C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238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BE9EB"/>
          </a:solidFill>
          <a:ln xmlns:a="http://schemas.openxmlformats.org/drawingml/2006/main" w="0">
            <a:solidFill>
              <a:srgbClr val="FBE9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E8B15A-FF43-49AE-940C-F53A0039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1085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512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5121B"/>
                </a:solidFill>
                <a:latin typeface="Microsoft YaHei"/>
                <a:ea typeface="Microsoft YaHei"/>
                <a:cs typeface="Microsoft YaHei"/>
              </a:rPr>
              <a:t>毕业设计答辩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28027C-CCF4-464E-A486-6B42D2FC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923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基于 PathVQA 数据集的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679A00-FB84-499B-8D75-532A4E04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1028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轻量级医疗视觉问答模型设计与实现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E9E38E-922F-4442-9FD0-8B7F063C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62375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从数据处理、轻量级多模态模型、两阶段训练到网页端原型系统的完整实现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549C42-DD2A-4D4E-BFF3-3F884E38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15050"/>
            <a:ext cx="714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答辩人：周健    学号：208221335    专业：人工智能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EDE57A-7DB0-4920-AA39-49A63F38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00800"/>
            <a:ext cx="781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指导教师：王青云 / 蔡亮亮    通信与人工智能学院、集成电路学院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89991C-E664-4E5C-97AA-FFD82659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2865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建议汇报时长：约 7 分钟</a:t>
            </a:r>
          </a:p>
        </p:txBody>
      </p:sp>
    </p:spTree>
    <p:extLst>
      <p:ext uri="{BB962C8B-B14F-4D97-AF65-F5344CB8AC3E}">
        <p14:creationId xmlns:p14="http://schemas.microsoft.com/office/powerpoint/2010/main" val="19908865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C70FE1-72AC-4680-BD18-49789BAF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2C0691-644C-45FA-A233-5E089AAF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CB2DBE-F444-4EE8-80F1-6AB49C9B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666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A5A8"/>
          </a:solidFill>
          <a:ln xmlns:a="http://schemas.openxmlformats.org/drawingml/2006/main" w="0">
            <a:solidFill>
              <a:srgbClr val="0EA5A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ACBE41-3D44-46F0-ABB7-FCD7B52D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A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EA5A8"/>
                </a:solidFill>
                <a:latin typeface="Microsoft YaHei"/>
                <a:ea typeface="Microsoft YaHei"/>
                <a:cs typeface="Microsoft YaHei"/>
              </a:rPr>
              <a:t>01 / 研究背景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A12DC9-9538-4DAE-BEA2-DD6893A6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1057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医疗视觉问答把“看图”和“理解问题”放到同一个任务中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14C03F-2803-476A-AF02-00850521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28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目标不是单纯图像分类，而是根据用户问题输出有针对性的候选答案。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AA034D-69D6-42B3-B6A8-B676848C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31432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6EE534-EA14-4D92-8139-DD03098C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57150" cy="1600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62A25A-5AC3-4BBE-AA15-CD66F935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14575"/>
            <a:ext cx="278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现实意义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FAB3FB-1251-4886-92B3-6C78D53F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95575"/>
            <a:ext cx="2762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病理图像、影像图片等医学视觉数据增长较快，交互式问答可以辅助教学、检索和初步分析。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1D6676-3686-4B77-B3AF-CCCBE4D1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43125"/>
            <a:ext cx="31432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162893-B712-4342-B50C-7E89039C8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43125"/>
            <a:ext cx="57150" cy="1600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8017"/>
          </a:solidFill>
          <a:ln xmlns:a="http://schemas.openxmlformats.org/drawingml/2006/main" w="0">
            <a:solidFill>
              <a:srgbClr val="C9801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1BC070-F4E3-4E88-9501-FB47C650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314575"/>
            <a:ext cx="278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技术难点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528106-D0BF-4E9D-B39A-1D7B2140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695575"/>
            <a:ext cx="2762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医学图像细节复杂，问题文本包含专业术语；模型需要同时处理视觉特征和语言语义。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58E5AC-6DA8-421A-98E6-61477CFC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43125"/>
            <a:ext cx="31432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9A0CDD-7D68-4309-BEAD-F7F48CC2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43125"/>
            <a:ext cx="57150" cy="1600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845C"/>
          </a:solidFill>
          <a:ln xmlns:a="http://schemas.openxmlformats.org/drawingml/2006/main" w="0">
            <a:solidFill>
              <a:srgbClr val="27845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67A1A8-6DCB-4094-B83A-4A77F15B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14575"/>
            <a:ext cx="278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本文定位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F71A14-85A9-4200-BAA4-ADEDCB94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95575"/>
            <a:ext cx="2762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构建轻量级 VQA 原型，不追求临床诊断替代，而是验证小模型完成图文问答闭环的可行性。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d5c2a5a7f04706"/>
          <a:stretch xmlns:a="http://schemas.openxmlformats.org/drawingml/2006/main"/>
        </p:blipFill>
        <p:spPr>
          <a:xfrm xmlns:a="http://schemas.openxmlformats.org/drawingml/2006/main">
            <a:off x="4218878" y="4095750"/>
            <a:ext cx="3658994" cy="1666875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3859AF-3FC9-4EB5-BD9D-484B51CE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C"/>
          </a:solidFill>
          <a:ln xmlns:a="http://schemas.openxmlformats.org/drawingml/2006/main" w="0">
            <a:solidFill>
              <a:srgbClr val="D8E3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771EC4-0D4C-4546-B32C-DB370409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A8B9A"/>
                </a:solidFill>
                <a:latin typeface="Microsoft YaHei"/>
                <a:ea typeface="Microsoft YaHei"/>
                <a:cs typeface="Microsoft YaHei"/>
              </a:rPr>
              <a:t>基于 PathVQA 数据集的轻量级医疗视觉问答模型设计与实现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4F4FEF-2FA6-435F-9608-81F91DF5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341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9317693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E6266F-5344-4288-B302-867E6884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E7EA40-C961-484B-8D19-83953C9F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659F3D-AB78-40C5-A133-EB4C21D6A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666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A5A8"/>
          </a:solidFill>
          <a:ln xmlns:a="http://schemas.openxmlformats.org/drawingml/2006/main" w="0">
            <a:solidFill>
              <a:srgbClr val="0EA5A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9E2EF6-3DB8-44BE-B320-3DAC842E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A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EA5A8"/>
                </a:solidFill>
                <a:latin typeface="Microsoft YaHei"/>
                <a:ea typeface="Microsoft YaHei"/>
                <a:cs typeface="Microsoft YaHei"/>
              </a:rPr>
              <a:t>02 / 研究内容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189EF5-A2DE-4280-B327-5D2E1984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1057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本文完成了从数据到系统演示的完整闭环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373E79-610C-438E-BA7A-C66ECAAD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28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答辩汇报按“数据、模型、训练、评估、系统”展开。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8CF91B-029E-4AE7-B5D9-E55BBE423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200025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348519-D0B2-4AB3-8578-575BD55C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384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52AD3D-FB97-40F8-981A-2DA3E77E9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D4E89F-708C-4C00-AE25-8C1C9CAA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38400"/>
            <a:ext cx="1181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数据处理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A3DE79-E9AB-458B-947B-7B62C5FD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76550"/>
            <a:ext cx="161925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解析 PathVQA 图像、问题和答案；建立词表、答案映射和固定数据划分。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DD8760-299E-47B6-AA80-DB32E78F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266950"/>
            <a:ext cx="200025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FEEEC1-CABD-411F-BED0-B54B22C4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4384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EA5A8"/>
          </a:solidFill>
          <a:ln xmlns:a="http://schemas.openxmlformats.org/drawingml/2006/main" w="0">
            <a:solidFill>
              <a:srgbClr val="0EA5A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6B71CB-791D-469D-8F0A-73202B7F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47650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8CC40E-8E40-468F-9FC1-91C7A0BE5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438400"/>
            <a:ext cx="1181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模型设计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F671E1-FF32-4678-9858-29B45DAE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876550"/>
            <a:ext cx="161925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ResNet18 提取图像特征，Embedding+LSTM 编码问题，拼接后进行答案分类。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5E4AFA-26EF-4B74-B5E4-167BF71A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66950"/>
            <a:ext cx="200025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3DFDCD-C1FD-402F-AF07-3E02D84C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384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98017"/>
          </a:solidFill>
          <a:ln xmlns:a="http://schemas.openxmlformats.org/drawingml/2006/main" w="0">
            <a:solidFill>
              <a:srgbClr val="C9801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6C3F14-F8FC-4E38-918E-9D235AE1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7650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CE56C8-B37D-43AE-99E5-BEDC97F9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38400"/>
            <a:ext cx="1181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训练优化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33C37E-9293-4287-AC20-619967439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76550"/>
            <a:ext cx="161925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第一阶段冻结图像骨干，第二阶段微调 ResNet18 高层特征。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0AF8E4-D5B2-43AB-968D-DD77BDBFD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266950"/>
            <a:ext cx="200025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289C52-45FF-4C04-893C-88192709A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4384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7845C"/>
          </a:solidFill>
          <a:ln xmlns:a="http://schemas.openxmlformats.org/drawingml/2006/main" w="0">
            <a:solidFill>
              <a:srgbClr val="27845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158E76-E14D-4CC9-88C0-DC17EADD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47650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6A3DC4-0CEC-4173-9B3F-39584986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38400"/>
            <a:ext cx="1181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实验评估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B193F6-9720-4C7D-99B3-4AAE6EC21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876550"/>
            <a:ext cx="161925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使用 Loss、Top-1 Accuracy 和 Top-5 Accuracy 评价模型效果。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4523CB-6B70-43AE-BD3C-E9995978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66950"/>
            <a:ext cx="1619250" cy="1762125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1875EF-7D3B-40F8-963C-FFEED67B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384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B5121B"/>
          </a:solidFill>
          <a:ln xmlns:a="http://schemas.openxmlformats.org/drawingml/2006/main" w="0">
            <a:solidFill>
              <a:srgbClr val="B5121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25F648-E4E1-4AC9-A58D-6C29E3B7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47650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FC2CBE-C729-4EDF-B929-4A9A6A90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438400"/>
            <a:ext cx="800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系统实现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C94F2E-3A2B-4421-9F52-981BC7C8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76550"/>
            <a:ext cx="123825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基于 Gradio 搭建网页端，支持图像上传、问题输入和 Top-5 候选展示。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417E6A-E1ED-4B97-A18A-55E164FE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57750"/>
            <a:ext cx="6477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8F1FB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47ACCF-0B77-47A5-A616-D441D06B5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972050"/>
            <a:ext cx="6172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闭环实现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0DBD7F-BD4D-41D6-9DF5-220B328B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524500"/>
            <a:ext cx="613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数据预处理 → 模型训练 → 测试评估 → Web 展示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2C64C4-BF8C-49E6-8251-79A1348A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C"/>
          </a:solidFill>
          <a:ln xmlns:a="http://schemas.openxmlformats.org/drawingml/2006/main" w="0">
            <a:solidFill>
              <a:srgbClr val="D8E3E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4AB2A6-5EC1-4C49-BEB2-635D5898F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A8B9A"/>
                </a:solidFill>
                <a:latin typeface="Microsoft YaHei"/>
                <a:ea typeface="Microsoft YaHei"/>
                <a:cs typeface="Microsoft YaHei"/>
              </a:rPr>
              <a:t>基于 PathVQA 数据集的轻量级医疗视觉问答模型设计与实现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8B59B2B-15E3-4C44-8E5C-47FD96BA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341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8080545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AD84F4-9EFD-40C0-979C-D242261A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46B1C5-6C91-462A-ACD9-12984C3E0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D3E70F-81DD-4A2C-9422-0CAB6F62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666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A5A8"/>
          </a:solidFill>
          <a:ln xmlns:a="http://schemas.openxmlformats.org/drawingml/2006/main" w="0">
            <a:solidFill>
              <a:srgbClr val="0EA5A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E44371-55A4-49EF-BBBA-61D70B0C2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A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EA5A8"/>
                </a:solidFill>
                <a:latin typeface="Microsoft YaHei"/>
                <a:ea typeface="Microsoft YaHei"/>
                <a:cs typeface="Microsoft YaHei"/>
              </a:rPr>
              <a:t>03 / 数据集与预处理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81BB4B-9E17-43D7-9BE3-F2590D93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1057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固定划分和统一映射保证实验结果可复现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D6366C-2A22-4492-B449-AF80CB90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28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词表和答案类别只由训练集构建，验证集和测试集复用同一套映射。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82ad06830646f8"/>
          <a:stretch xmlns:a="http://schemas.openxmlformats.org/drawingml/2006/main"/>
        </p:blipFill>
        <p:spPr>
          <a:xfrm xmlns:a="http://schemas.openxmlformats.org/drawingml/2006/main">
            <a:off x="666750" y="2058591"/>
            <a:ext cx="5048250" cy="2397919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863AA7-F7EB-4A63-8A5E-3B5B8313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71700"/>
            <a:ext cx="171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07285B-E614-4373-8EC0-7C1CF74F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247900"/>
            <a:ext cx="1485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数据划分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43EA2D-3AC6-4412-B01F-CCDDD7A6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171700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EC957D-3545-4A64-B526-D759AF5D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247900"/>
            <a:ext cx="1200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样本数量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B3048B-B9C0-47A8-A219-600759D6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171700"/>
            <a:ext cx="257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5EA329-4C5B-4845-A3CA-2272D3C6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247900"/>
            <a:ext cx="2343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62D886-0794-4BC7-8E18-FF21DEAC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05100"/>
            <a:ext cx="171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6CB75D-06E7-4F72-B8EF-17B7EC91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781300"/>
            <a:ext cx="1485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训练集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6181F2-B83F-4BD1-8DC6-7648B2C6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705100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FE0994-D443-4E7E-8BAF-5BAEA651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781300"/>
            <a:ext cx="1200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12,523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76F68B-6536-4424-8B44-BA048E7D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705100"/>
            <a:ext cx="257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16B56C-2FD3-4B67-8B80-2C1EE8FF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781300"/>
            <a:ext cx="2343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模型参数学习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8406B1-35C0-4577-B2BA-3A847C91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38500"/>
            <a:ext cx="171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43CF22-CE91-472E-9BE6-922A0158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314700"/>
            <a:ext cx="1485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验证集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8C974A-6A2A-45AC-B2CE-718AE2BE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238500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586C97-E204-4D73-8FCB-697A2DD4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314700"/>
            <a:ext cx="1200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2,438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F2F7B1-552D-458D-8F0C-625E69A4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238500"/>
            <a:ext cx="257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58B3AE-4D4C-4E53-956C-3FA7911C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314700"/>
            <a:ext cx="2343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训练过程选择最优模型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232F1D-3910-41EF-A4F3-6F66F3DF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71900"/>
            <a:ext cx="171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08028D-7EC4-4EFB-8685-941CDE09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848100"/>
            <a:ext cx="1485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测试集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D17351-4A8D-4BB2-B393-D13974AB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771900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F49A1E-7F56-4D02-8BCE-0099876D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848100"/>
            <a:ext cx="1200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2,342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4582B9-E863-4C98-95EB-0B7FEC5D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771900"/>
            <a:ext cx="2571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14DCF3-7D1D-45B2-B972-A9D5F100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848100"/>
            <a:ext cx="2343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最终泛化性能评估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BC9986-5201-4BC6-9AA4-3A231090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2915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F1FB"/>
          </a:solidFill>
          <a:ln xmlns:a="http://schemas.openxmlformats.org/drawingml/2006/main" w="0">
            <a:solidFill>
              <a:srgbClr val="E8F1F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8C31F3-8395-4314-B5ED-35D70A0FD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66725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最大问题长度 20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920FF56-E3C7-44B3-9ADA-1DB50F66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29150"/>
            <a:ext cx="1143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6F7F7"/>
          </a:solidFill>
          <a:ln xmlns:a="http://schemas.openxmlformats.org/drawingml/2006/main" w="0">
            <a:solidFill>
              <a:srgbClr val="E6F7F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623D70-F78C-403C-8770-87FDDFCF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667250"/>
            <a:ext cx="990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EA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EA5A8"/>
                </a:solidFill>
                <a:latin typeface="Microsoft YaHei"/>
                <a:ea typeface="Microsoft YaHei"/>
                <a:cs typeface="Microsoft YaHei"/>
              </a:rPr>
              <a:t>词表 4,331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5D26404-EBB3-48F3-8287-0070AA16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62915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0">
            <a:solidFill>
              <a:srgbClr val="E7F5E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278D81-170C-406A-9FA9-4A1B6584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4667250"/>
            <a:ext cx="1276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784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845C"/>
                </a:solidFill>
                <a:latin typeface="Microsoft YaHei"/>
                <a:ea typeface="Microsoft YaHei"/>
                <a:cs typeface="Microsoft YaHei"/>
              </a:rPr>
              <a:t>答案类别 2,079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1C64234-2963-4E20-BA42-2D037FE7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C"/>
          </a:solidFill>
          <a:ln xmlns:a="http://schemas.openxmlformats.org/drawingml/2006/main" w="0">
            <a:solidFill>
              <a:srgbClr val="D8E3E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8149D15-2F65-4487-AFBD-ED5DBD52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A8B9A"/>
                </a:solidFill>
                <a:latin typeface="Microsoft YaHei"/>
                <a:ea typeface="Microsoft YaHei"/>
                <a:cs typeface="Microsoft YaHei"/>
              </a:rPr>
              <a:t>基于 PathVQA 数据集的轻量级医疗视觉问答模型设计与实现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8B543D2-6C76-483F-9971-A297A3D8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341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8082248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782817-06BB-40EA-83BD-DB3ADBAC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732A21-4308-4466-9212-DF19AA457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E0CC90-1854-4806-92DD-61747434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666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A5A8"/>
          </a:solidFill>
          <a:ln xmlns:a="http://schemas.openxmlformats.org/drawingml/2006/main" w="0">
            <a:solidFill>
              <a:srgbClr val="0EA5A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1136C7-7A67-4511-9228-815C56A4D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A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EA5A8"/>
                </a:solidFill>
                <a:latin typeface="Microsoft YaHei"/>
                <a:ea typeface="Microsoft YaHei"/>
                <a:cs typeface="Microsoft YaHei"/>
              </a:rPr>
              <a:t>04 / 模型总体结构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1CB98A-8261-4720-8DC7-D3702B5BA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1057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图像分支和文本分支分别编码，再融合为答案分类特征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F7B4CB-5892-421C-8AFE-687EC8BF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28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本质上把医疗视觉问答建模为 2,079 类候选答案分类任务。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f780c689a84e7d"/>
          <a:stretch xmlns:a="http://schemas.openxmlformats.org/drawingml/2006/main"/>
        </p:blipFill>
        <p:spPr>
          <a:xfrm xmlns:a="http://schemas.openxmlformats.org/drawingml/2006/main">
            <a:off x="685800" y="2071158"/>
            <a:ext cx="7334250" cy="3096683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DC8C49-913B-42F2-B8BE-43E2B367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19300"/>
            <a:ext cx="2714625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8F1FB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938E7D-EAE8-4D2B-913D-5FD88F9D5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19300"/>
            <a:ext cx="57150" cy="933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C5A0BB-AC62-4034-8D9D-54D2001E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90750"/>
            <a:ext cx="23526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图像编码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E563B6-965C-4CF9-99D0-B5D6DE46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71750"/>
            <a:ext cx="2333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ResNet18 输出 512 维视觉特征。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047ED3-B655-476D-9DAA-C2A85D21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81350"/>
            <a:ext cx="2714625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6F7F7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47C882-8C5B-4D18-A159-6E6CBF54F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81350"/>
            <a:ext cx="57150" cy="1028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A5A8"/>
          </a:solidFill>
          <a:ln xmlns:a="http://schemas.openxmlformats.org/drawingml/2006/main" w="0">
            <a:solidFill>
              <a:srgbClr val="0EA5A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C6B506-44BD-4841-94EF-335C1B9C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52800"/>
            <a:ext cx="23526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文本编码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A78FB9-2CF5-4728-8AE9-A01D92B3A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33800"/>
            <a:ext cx="2333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Embedding + LSTM 输出 256 维问题语义特征。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CD033E-F84C-4DFC-ABC2-06B3907F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38650"/>
            <a:ext cx="2714625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76E53E-03C0-410A-8C5A-CCB5F1AE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38650"/>
            <a:ext cx="57150" cy="1028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845C"/>
          </a:solidFill>
          <a:ln xmlns:a="http://schemas.openxmlformats.org/drawingml/2006/main" w="0">
            <a:solidFill>
              <a:srgbClr val="27845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9FDEBF-4058-4133-AC26-635DB3B1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10100"/>
            <a:ext cx="23526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特征融合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A49441-ABC3-423C-A7AD-0DCE04AF8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91100"/>
            <a:ext cx="2333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拼接为 768 维联合特征，再输入全连接分类器。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AC7863-0CCE-4491-AB5F-33E61525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C"/>
          </a:solidFill>
          <a:ln xmlns:a="http://schemas.openxmlformats.org/drawingml/2006/main" w="0">
            <a:solidFill>
              <a:srgbClr val="D8E3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2A3114-F62C-4A1E-B21F-793A0CA7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A8B9A"/>
                </a:solidFill>
                <a:latin typeface="Microsoft YaHei"/>
                <a:ea typeface="Microsoft YaHei"/>
                <a:cs typeface="Microsoft YaHei"/>
              </a:rPr>
              <a:t>基于 PathVQA 数据集的轻量级医疗视觉问答模型设计与实现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95716E-A0BB-48FF-90C6-748F6982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341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4152042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0C6B99-F47F-41FB-A050-CC23B1A7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96D6DC-3C26-4639-A998-94FBB1EDD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A61EB0-FDB0-496E-881A-23A31B61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666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A5A8"/>
          </a:solidFill>
          <a:ln xmlns:a="http://schemas.openxmlformats.org/drawingml/2006/main" w="0">
            <a:solidFill>
              <a:srgbClr val="0EA5A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456E7A-007E-4109-A35E-7956D931E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A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EA5A8"/>
                </a:solidFill>
                <a:latin typeface="Microsoft YaHei"/>
                <a:ea typeface="Microsoft YaHei"/>
                <a:cs typeface="Microsoft YaHei"/>
              </a:rPr>
              <a:t>05 / 关键模块设计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9500AA-FFB6-472A-9BF8-F8C8D880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1057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轻量化体现在模型选择、融合方式和分类器设计上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4CF34C-D9DF-4DDF-AE14-3BDA32A13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28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结构简单的好处是训练成本低、调试清晰，适合本科设计中的完整工程实现。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04BF26-F9EF-457C-8310-7CD1270A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52650"/>
            <a:ext cx="3143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E4E09F-4E11-49E3-AE3F-BE0715BA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52650"/>
            <a:ext cx="5715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A8894D-5557-40DF-9CD1-AD9067C4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24100"/>
            <a:ext cx="278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ResNet18 图像编码器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067A2F-876F-4E7C-9813-3F9E9095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05100"/>
            <a:ext cx="27622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输入图像统一调整为 224×224；使用本地预训练权重；第一阶段冻结卷积层，第二阶段只微调 layer4。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D1F292-D8E7-42A0-A429-B307388E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52650"/>
            <a:ext cx="3143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6E5780-E771-4DB2-838E-36E995FF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52650"/>
            <a:ext cx="5715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A5A8"/>
          </a:solidFill>
          <a:ln xmlns:a="http://schemas.openxmlformats.org/drawingml/2006/main" w="0">
            <a:solidFill>
              <a:srgbClr val="0EA5A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3FF1BE-9E70-42D6-B335-28CA66DE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324100"/>
            <a:ext cx="278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Embedding + LSTM 文本编码器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2A4F85-97CF-429C-AB7C-0EB7565E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705100"/>
            <a:ext cx="27622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词嵌入维度为 128，LSTM 隐藏维度为 256；取最后隐藏状态作为问题语义表示。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DC5CEC-87B3-4E4C-B3B8-97F42749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52650"/>
            <a:ext cx="3143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D4B6DC-A741-4A3F-8184-5259D772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52650"/>
            <a:ext cx="5715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845C"/>
          </a:solidFill>
          <a:ln xmlns:a="http://schemas.openxmlformats.org/drawingml/2006/main" w="0">
            <a:solidFill>
              <a:srgbClr val="27845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3F0149-80E6-4153-B23C-69BFAB09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24100"/>
            <a:ext cx="278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融合分类器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404441-37D9-49E3-AC80-68ECA1ED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05100"/>
            <a:ext cx="27622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图文特征拼接为 768 维；经过 Linear、ReLU、Dropout 和最终 Linear 输出答案类别。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08CAB5-FB53-4540-BD13-67525F95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10125"/>
            <a:ext cx="1952625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1F7F78-03F1-4735-9AAC-9EE492F3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924425"/>
            <a:ext cx="16478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512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757355-8E02-4C01-A55F-A7C7F2D7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476875"/>
            <a:ext cx="16097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视觉特征维度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F5F658-3224-45C3-A838-612C3788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810125"/>
            <a:ext cx="1952625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7BF325-FF23-4557-96DE-499D6B32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924425"/>
            <a:ext cx="16478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A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EA5A8"/>
                </a:solidFill>
                <a:latin typeface="Microsoft YaHei"/>
                <a:ea typeface="Microsoft YaHei"/>
                <a:cs typeface="Microsoft YaHei"/>
              </a:rPr>
              <a:t>256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862EBE-7EB7-4229-8E3D-121DDF12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476875"/>
            <a:ext cx="16097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文本特征维度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A6D102-CC28-410A-AC62-2D8E448F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810125"/>
            <a:ext cx="1952625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21B3B8-07DB-40D4-9485-9D5B1C91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924425"/>
            <a:ext cx="16478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784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7845C"/>
                </a:solidFill>
                <a:latin typeface="Microsoft YaHei"/>
                <a:ea typeface="Microsoft YaHei"/>
                <a:cs typeface="Microsoft YaHei"/>
              </a:rPr>
              <a:t>2,079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FDC3CE-BA51-4D19-B647-A215F172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476875"/>
            <a:ext cx="16097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答案分类数量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37020E-2997-4EEA-968D-9673FFD79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C"/>
          </a:solidFill>
          <a:ln xmlns:a="http://schemas.openxmlformats.org/drawingml/2006/main" w="0">
            <a:solidFill>
              <a:srgbClr val="D8E3E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4C0B72-EE74-47B8-BDC3-36319DFC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A8B9A"/>
                </a:solidFill>
                <a:latin typeface="Microsoft YaHei"/>
                <a:ea typeface="Microsoft YaHei"/>
                <a:cs typeface="Microsoft YaHei"/>
              </a:rPr>
              <a:t>基于 PathVQA 数据集的轻量级医疗视觉问答模型设计与实现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757FE5-068D-4868-A224-9723FF58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341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2281408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307A73-C3FD-4E83-9C0D-2E10BB44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76459F-E1CE-4694-9B39-63E00AF6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3B6FF0-05C2-45DF-8F69-DCE45971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666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A5A8"/>
          </a:solidFill>
          <a:ln xmlns:a="http://schemas.openxmlformats.org/drawingml/2006/main" w="0">
            <a:solidFill>
              <a:srgbClr val="0EA5A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4DBEE4-2505-42EB-AABA-45A08BCC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A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EA5A8"/>
                </a:solidFill>
                <a:latin typeface="Microsoft YaHei"/>
                <a:ea typeface="Microsoft YaHei"/>
                <a:cs typeface="Microsoft YaHei"/>
              </a:rPr>
              <a:t>06 / 两阶段训练策略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CF2448-ED22-4C36-BE91-08B8B7C4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1057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先稳定学习图文映射，再小步微调医学图像高层特征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F1DE4E-739A-44D6-B70C-B36C94DF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28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这样在训练成本和性能提升之间取得折中。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29f466824c4996"/>
          <a:stretch xmlns:a="http://schemas.openxmlformats.org/drawingml/2006/main"/>
        </p:blipFill>
        <p:spPr>
          <a:xfrm xmlns:a="http://schemas.openxmlformats.org/drawingml/2006/main">
            <a:off x="742950" y="2101103"/>
            <a:ext cx="5715000" cy="208429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0D2760-6F67-420E-BB42-1C7E647B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76450"/>
            <a:ext cx="3524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EA7CFC-3319-4836-B19A-6438388E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479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7A67AC-FC5A-4E72-8367-F1E494CD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8600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994DF2-BA87-4F82-AA4D-EFA4440D1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47900"/>
            <a:ext cx="2705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第一阶段：冻结视觉骨干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AE7FEB-82AA-4CE3-831F-06002287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8605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冻结 ResNet18 卷积层，训练文本编码器和分类器；训练 5 个 epoch。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CCB68C-3826-4E23-8785-843C233F4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43300"/>
            <a:ext cx="3524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27B12F-B862-4119-874C-D021E9CE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147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98017"/>
          </a:solidFill>
          <a:ln xmlns:a="http://schemas.openxmlformats.org/drawingml/2006/main" w="0">
            <a:solidFill>
              <a:srgbClr val="C9801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A1A643-E04D-438F-B2D1-F1FB0BBB7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5285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E4314E-B52F-4756-A6CB-3D7E054A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14750"/>
            <a:ext cx="2705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第二阶段：微调 layer4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03CABD-B013-48E3-B25B-AC9DCCBA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5290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加载第一阶段最优模型，解冻 ResNet18 的 layer4；训练 3 个 epoch。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354443-1ECE-4CF8-AAF4-5AAD1DA0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1619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8F1FB"/>
          </a:solidFill>
          <a:ln xmlns:a="http://schemas.openxmlformats.org/drawingml/2006/main" w="0">
            <a:solidFill>
              <a:srgbClr val="E8F1F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F54BCF-C808-4798-A82F-258A4ED8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78155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Stage 1 学习率 1e-3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92A2FF-3112-4519-80EF-4DB4DBA1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743450"/>
            <a:ext cx="1619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0">
            <a:solidFill>
              <a:srgbClr val="FFF4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A9B534-F7BC-4C2E-8286-387AB1D9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78155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980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98017"/>
                </a:solidFill>
                <a:latin typeface="Microsoft YaHei"/>
                <a:ea typeface="Microsoft YaHei"/>
                <a:cs typeface="Microsoft YaHei"/>
              </a:rPr>
              <a:t>Layer4 学习率 1e-5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ECC883-A426-4E7A-914D-9D518FAE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743450"/>
            <a:ext cx="16668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0">
            <a:solidFill>
              <a:srgbClr val="E7F5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A41B17-37C0-424E-8737-03ED67656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781550"/>
            <a:ext cx="15144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784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7845C"/>
                </a:solidFill>
                <a:latin typeface="Microsoft YaHei"/>
                <a:ea typeface="Microsoft YaHei"/>
                <a:cs typeface="Microsoft YaHei"/>
              </a:rPr>
              <a:t>其他模块学习率 1e-4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83990A-5A8D-4853-8A5A-73AE4A59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C"/>
          </a:solidFill>
          <a:ln xmlns:a="http://schemas.openxmlformats.org/drawingml/2006/main" w="0">
            <a:solidFill>
              <a:srgbClr val="D8E3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95FE1C-D758-4325-B855-23D56EB75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A8B9A"/>
                </a:solidFill>
                <a:latin typeface="Microsoft YaHei"/>
                <a:ea typeface="Microsoft YaHei"/>
                <a:cs typeface="Microsoft YaHei"/>
              </a:rPr>
              <a:t>基于 PathVQA 数据集的轻量级医疗视觉问答模型设计与实现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23EE31-179F-4800-95B1-4B2AB566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341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7876110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720959-8B9F-4CDC-AD73-AB24F982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92F4E1-744A-40C0-856B-26C3A8A2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0B5821-EC8C-4C56-8A1C-FC1848B3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666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A5A8"/>
          </a:solidFill>
          <a:ln xmlns:a="http://schemas.openxmlformats.org/drawingml/2006/main" w="0">
            <a:solidFill>
              <a:srgbClr val="0EA5A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430AC4-8786-4F50-ABC4-75E57FB1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A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EA5A8"/>
                </a:solidFill>
                <a:latin typeface="Microsoft YaHei"/>
                <a:ea typeface="Microsoft YaHei"/>
                <a:cs typeface="Microsoft YaHei"/>
              </a:rPr>
              <a:t>07 / 实验设置与评价指标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D19D4C-0106-45AB-94A9-BD5E2204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1057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评价既看首选答案，也看候选答案排序能力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E22A01-1C5C-4704-9C69-FAF39B58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28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Top-5 对候选推荐型问答系统更有参考价值。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0B35C7-5F2C-4FD3-BBFF-48763E6D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60B2E3-97D3-402C-93F3-B3FE9CD3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71700"/>
            <a:ext cx="1390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31BA19-53BC-4018-B6CD-FD2274C5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9550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7E3D77-B9BE-499B-B93A-8C6E159A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171700"/>
            <a:ext cx="2343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配置 / 取值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885823-7312-4D32-920D-7F82B5A84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95500"/>
            <a:ext cx="571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483F4B-5BCD-47A1-BE5E-FB012452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171700"/>
            <a:ext cx="548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81C90B-FEA9-4DFB-A8CF-53252678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F85264-DA55-4053-A0EB-75917B89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24150"/>
            <a:ext cx="1390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开发环境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6F55B2-B4E3-411B-9CBF-79AAFE6C5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4795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226530-C08E-4E88-AF95-14FE9B7F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24150"/>
            <a:ext cx="2343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Windows + PyCharm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1BA0A7-C163-4941-B600-6001067A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47950"/>
            <a:ext cx="571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7FE3DE-BF67-4476-8106-950E69A1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724150"/>
            <a:ext cx="548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本地训练、调试与演示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213224-536A-45BA-A87C-83EA0FDA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15825F-A072-420B-8610-8048E6F0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76600"/>
            <a:ext cx="1390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深度学习框架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0649B8-503E-4931-AA90-A9527001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0040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4DAFB5-0AC1-493A-ABB4-0DF06C83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276600"/>
            <a:ext cx="2343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PyTorch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5987F8-A9A8-428F-9141-707A0B21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00400"/>
            <a:ext cx="571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2DA630-B385-42CE-838C-74EDE4A7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276600"/>
            <a:ext cx="548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模型训练与推理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3EEDEA-3C50-478A-847D-E5DBFF907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528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870182-736F-4636-B3A3-822C21FB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29050"/>
            <a:ext cx="1390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硬件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E417C9-8DFB-4708-A1A8-269C5EEF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5285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D19507-2A6D-434F-A3CF-08D534F5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29050"/>
            <a:ext cx="2343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RTX 3060 + CUDA 11.8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7E0C54-7F6D-4469-B4EE-7B69761C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752850"/>
            <a:ext cx="571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3FBE01-E764-4E10-ACC3-699D1C6E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829050"/>
            <a:ext cx="548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加速训练与推理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719079-3061-4F8F-9951-416049C2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053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C4DDD8-EA1A-4B45-AE72-165D9604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81500"/>
            <a:ext cx="1390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损失函数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F5BBB8-1A0B-4848-A509-E2E7B7C2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30530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9CC9CE-3E91-49A6-8D47-D881A3B3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381500"/>
            <a:ext cx="2343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Cross Entropy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91A3F0-4596-43F0-984A-A6AE6C80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305300"/>
            <a:ext cx="571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A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FDE2BF-C91D-49F6-8550-0D963161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381500"/>
            <a:ext cx="548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多类别分类任务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9D5AD1A-BCFD-4514-B656-418DD915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98F6B93-0ABC-4289-BD2C-4227EE42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33950"/>
            <a:ext cx="13906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核心指标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9118F2A-8353-4810-847C-C0737E0F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5775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C9E7B7C-9952-4367-8099-4E97B8F9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933950"/>
            <a:ext cx="2343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Loss / Top-1 / Top-5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587EC8B-3CB5-47E9-B217-1F68C106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857750"/>
            <a:ext cx="571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3B38E84-3C70-4F3C-ABC8-631D4212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933950"/>
            <a:ext cx="5486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从误差、首选和候选覆盖三方面评价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33AC65C-0ABB-4EB8-B765-6BF134E7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34000"/>
            <a:ext cx="8953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6F7F7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CDD01BA-DDF8-43FD-9DAD-B8532DBB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34000"/>
            <a:ext cx="5715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A5A8"/>
          </a:solidFill>
          <a:ln xmlns:a="http://schemas.openxmlformats.org/drawingml/2006/main" w="0">
            <a:solidFill>
              <a:srgbClr val="0EA5A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34C479D-6F8F-472D-9233-32B8B685D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505450"/>
            <a:ext cx="8591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指标解释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163A939-E392-4D98-9FF1-87298A54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886450"/>
            <a:ext cx="857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Top-1 表示首选答案是否正确；Top-5 表示正确答案是否进入前五个候选。网页端展示 Top-5，能更贴合“辅助参考”的系统定位。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7347DEB-A509-4A58-A23C-0B62D91C3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C"/>
          </a:solidFill>
          <a:ln xmlns:a="http://schemas.openxmlformats.org/drawingml/2006/main" w="0">
            <a:solidFill>
              <a:srgbClr val="D8E3EC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D882DFB-9E01-43E9-88C6-86A0BAD6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A8B9A"/>
                </a:solidFill>
                <a:latin typeface="Microsoft YaHei"/>
                <a:ea typeface="Microsoft YaHei"/>
                <a:cs typeface="Microsoft YaHei"/>
              </a:rPr>
              <a:t>基于 PathVQA 数据集的轻量级医疗视觉问答模型设计与实现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968DD34-0F30-4BA3-BC1D-435C4988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341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1860915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EF9597-83C6-4313-8B9E-0BDE50DD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F9A904-1D46-46B4-9FF5-8970AA14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A36F26-DE2E-4078-A482-3B601A77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666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A5A8"/>
          </a:solidFill>
          <a:ln xmlns:a="http://schemas.openxmlformats.org/drawingml/2006/main" w="0">
            <a:solidFill>
              <a:srgbClr val="0EA5A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4ADFF8-C6F4-4308-B2EC-C4E76586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A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EA5A8"/>
                </a:solidFill>
                <a:latin typeface="Microsoft YaHei"/>
                <a:ea typeface="Microsoft YaHei"/>
                <a:cs typeface="Microsoft YaHei"/>
              </a:rPr>
              <a:t>08 / 实验结果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A1730E-C493-4597-930A-81F04195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1057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二阶段微调后，Top-1 和 Top-5 均明显提升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ADC3F3-5CC3-440C-A350-C82C0319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28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最终测试集 Top-1 为 49.87%，Top-5 为 85.65%。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E7768D-417D-4F05-9EB1-5A7976DA4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2333625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8F1FB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9621E2-B0CA-4F4E-826E-6D360637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52650"/>
            <a:ext cx="20288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49.87%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E91ACB-1A2C-414B-91A6-282B8D713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19907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第二阶段 Top-1 Accuracy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97F0E1-9BE8-4BFF-969C-3A1145A3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38350"/>
            <a:ext cx="2333625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245775-21D5-44F4-BDA6-640E376F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52650"/>
            <a:ext cx="20288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784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7845C"/>
                </a:solidFill>
                <a:latin typeface="Microsoft YaHei"/>
                <a:ea typeface="Microsoft YaHei"/>
                <a:cs typeface="Microsoft YaHei"/>
              </a:rPr>
              <a:t>85.65%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F93F84-2289-4ED1-9703-120B2BE4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05100"/>
            <a:ext cx="19907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第二阶段 Top-5 Accuracy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1A6258-39A5-43FB-8C20-06A9BF32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38350"/>
            <a:ext cx="2333625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D61097-484F-4502-B81C-06B8BBDB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52650"/>
            <a:ext cx="20288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C980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C98017"/>
                </a:solidFill>
                <a:latin typeface="Microsoft YaHei"/>
                <a:ea typeface="Microsoft YaHei"/>
                <a:cs typeface="Microsoft YaHei"/>
              </a:rPr>
              <a:t>1.6937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7FFF37-F93D-4D13-9679-67F8F494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05100"/>
            <a:ext cx="19907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第二阶段 Test Loss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CC3984-EB2F-48DE-B596-641BE5FE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38350"/>
            <a:ext cx="2333625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6F7F7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1C5658-C664-4CE5-8B65-396DD515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152650"/>
            <a:ext cx="20288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A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EA5A8"/>
                </a:solidFill>
                <a:latin typeface="Microsoft YaHei"/>
                <a:ea typeface="Microsoft YaHei"/>
                <a:cs typeface="Microsoft YaHei"/>
              </a:rPr>
              <a:t>+5.72%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B33F61-1943-4701-93CD-D1ED4263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05100"/>
            <a:ext cx="19907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Top-1 提升幅度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FB8012-BE6E-458C-AB0D-3E11DB26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290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Top-1 阶段1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098E53-92B6-4911-A6C6-F98D97BC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886200"/>
            <a:ext cx="40957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AF2"/>
          </a:solidFill>
          <a:ln xmlns:a="http://schemas.openxmlformats.org/drawingml/2006/main" w="0">
            <a:solidFill>
              <a:srgbClr val="E2EAF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5FA538-C77D-4FF4-AA1D-7825AB0E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886200"/>
            <a:ext cx="1808274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D1ACB8-5351-4C61-8278-AD6DBADB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829050"/>
            <a:ext cx="809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44.15%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0E48AA-0A99-4B6A-BE39-415CB8933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76725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Top-1 阶段2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943A1B-7231-4D74-9E73-7942A499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333875"/>
            <a:ext cx="40957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AF2"/>
          </a:solidFill>
          <a:ln xmlns:a="http://schemas.openxmlformats.org/drawingml/2006/main" w="0">
            <a:solidFill>
              <a:srgbClr val="E2EAF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3E0C9A-12FA-49A1-8730-7D3A6B2E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333875"/>
            <a:ext cx="2042551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A5A8"/>
          </a:solidFill>
          <a:ln xmlns:a="http://schemas.openxmlformats.org/drawingml/2006/main" w="0">
            <a:solidFill>
              <a:srgbClr val="0EA5A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98917D-CC60-470B-B0CE-FE284A2E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276725"/>
            <a:ext cx="809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49.87%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934BA9-2ACB-469D-A683-D411587C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43475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Top-5 阶段1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250DB5-9463-4E0F-B4F7-33308E14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000625"/>
            <a:ext cx="40957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AF2"/>
          </a:solidFill>
          <a:ln xmlns:a="http://schemas.openxmlformats.org/drawingml/2006/main" w="0">
            <a:solidFill>
              <a:srgbClr val="E2EAF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17945C-40F7-4423-AE48-E2F4242D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000625"/>
            <a:ext cx="3333121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37DA96-5C92-4457-8EC1-8A8130F8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943475"/>
            <a:ext cx="809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81.38%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2293CF-F779-447D-870C-FFC467FF7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Top-5 阶段2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06A08E-D37D-4316-8371-72339D23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448300"/>
            <a:ext cx="40957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EAF2"/>
          </a:solidFill>
          <a:ln xmlns:a="http://schemas.openxmlformats.org/drawingml/2006/main" w="0">
            <a:solidFill>
              <a:srgbClr val="E2EAF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2926A7-6776-449B-8C64-7BBDB831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448300"/>
            <a:ext cx="350801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845C"/>
          </a:solidFill>
          <a:ln xmlns:a="http://schemas.openxmlformats.org/drawingml/2006/main" w="0">
            <a:solidFill>
              <a:srgbClr val="27845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DE356C-4535-4830-8552-1DC319BE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391150"/>
            <a:ext cx="809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85.65%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68CC07-5C08-4902-893E-2A4E5B94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48125"/>
            <a:ext cx="2714625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E9F57EB-99B0-43F4-8015-023EAC66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48125"/>
            <a:ext cx="57150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845C"/>
          </a:solidFill>
          <a:ln xmlns:a="http://schemas.openxmlformats.org/drawingml/2006/main" w="0">
            <a:solidFill>
              <a:srgbClr val="27845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66152EB-74C9-45F1-93F2-1A0EE9E6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19575"/>
            <a:ext cx="23526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D71FD96-F817-40CB-BA22-A4AF3817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00575"/>
            <a:ext cx="233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解冻 ResNet18 高层后，模型对医学图像特征的适配更充分，候选答案排序能力进一步增强。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A735B7E-FE0F-46C5-8ADF-5799F9A4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C"/>
          </a:solidFill>
          <a:ln xmlns:a="http://schemas.openxmlformats.org/drawingml/2006/main" w="0">
            <a:solidFill>
              <a:srgbClr val="D8E3E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3E07D67-240D-4FAF-8979-2BD43163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A8B9A"/>
                </a:solidFill>
                <a:latin typeface="Microsoft YaHei"/>
                <a:ea typeface="Microsoft YaHei"/>
                <a:cs typeface="Microsoft YaHei"/>
              </a:rPr>
              <a:t>基于 PathVQA 数据集的轻量级医疗视觉问答模型设计与实现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0D51894-676D-44E1-9BC2-CDC0EE1C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341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1071496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13EFFB-9E97-4397-B890-81DF83A26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D9AECC-53BC-46FA-96BA-7BBC63A9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C6BC9C-CECF-444E-8165-27BC944E9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666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A5A8"/>
          </a:solidFill>
          <a:ln xmlns:a="http://schemas.openxmlformats.org/drawingml/2006/main" w="0">
            <a:solidFill>
              <a:srgbClr val="0EA5A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AACFA7-8FFE-4D63-9B27-FDDEA811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A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EA5A8"/>
                </a:solidFill>
                <a:latin typeface="Microsoft YaHei"/>
                <a:ea typeface="Microsoft YaHei"/>
                <a:cs typeface="Microsoft YaHei"/>
              </a:rPr>
              <a:t>09 / 网页端系统实现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F2703A-165F-4A11-AD79-9C56A4AE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1057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Gradio 将模型能力转换为可现场演示的交互系统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91B813-A956-4401-84E7-8CD8982A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28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系统支持图像上传、问题输入、Top-1 输出、Top-5 候选展示和结果解释。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c267822ec149e4"/>
          <a:stretch xmlns:a="http://schemas.openxmlformats.org/drawingml/2006/main"/>
        </p:blipFill>
        <p:spPr>
          <a:xfrm xmlns:a="http://schemas.openxmlformats.org/drawingml/2006/main">
            <a:off x="850106" y="1952625"/>
            <a:ext cx="6919913" cy="40481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CA37EE-C1A2-465F-A792-E2ED848E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95500"/>
            <a:ext cx="2667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8F1FB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7EBD3F-5726-4C18-855D-A5ECFD48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95500"/>
            <a:ext cx="57150" cy="838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8FD6A1-315A-490D-83E4-DE5B1C04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66950"/>
            <a:ext cx="2305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F66455-7B05-42DA-AA54-0DB377A5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64795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上传医学图像；输入英文问题；可加载内置示例。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056FC8-5A14-4407-88FD-DFA0AB4C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19450"/>
            <a:ext cx="2667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6F7F7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AB14E1-3811-4A57-B1E4-080E3792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19450"/>
            <a:ext cx="57150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A5A8"/>
          </a:solidFill>
          <a:ln xmlns:a="http://schemas.openxmlformats.org/drawingml/2006/main" w="0">
            <a:solidFill>
              <a:srgbClr val="0EA5A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0F1CF2-2908-4AC7-AAAE-D5A3BD9A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390900"/>
            <a:ext cx="2305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推理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616330-E2D6-4FA2-A821-D649028E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771900"/>
            <a:ext cx="2286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加载二阶段最优模型；自动选择 GPU/CPU；输出答案概率排序。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8F60EF-9177-4F26-BFC1-A70AA98F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457700"/>
            <a:ext cx="2667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15AFA9-D7DB-4A3F-B6B8-3C53CB5F9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457700"/>
            <a:ext cx="5715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845C"/>
          </a:solidFill>
          <a:ln xmlns:a="http://schemas.openxmlformats.org/drawingml/2006/main" w="0">
            <a:solidFill>
              <a:srgbClr val="27845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300F05-C037-4084-B998-06091A3C8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629150"/>
            <a:ext cx="2305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展示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DFC57C-83BA-4163-B4AE-BCE5AE56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010150"/>
            <a:ext cx="228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显示 Top-1 推荐答案、Top-5 候选答案和 Top1-Top2 差值解释。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4D4853-5CED-4618-B788-C42D5116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C"/>
          </a:solidFill>
          <a:ln xmlns:a="http://schemas.openxmlformats.org/drawingml/2006/main" w="0">
            <a:solidFill>
              <a:srgbClr val="D8E3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CCBA45-2837-43C7-85EE-7FFE6488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A8B9A"/>
                </a:solidFill>
                <a:latin typeface="Microsoft YaHei"/>
                <a:ea typeface="Microsoft YaHei"/>
                <a:cs typeface="Microsoft YaHei"/>
              </a:rPr>
              <a:t>基于 PathVQA 数据集的轻量级医疗视觉问答模型设计与实现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3DC87A-CB6A-4FFC-A211-478BEE22A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341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0136889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D9E504-F87E-4B2C-9B41-52926050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E63007-4272-4BFB-AE40-26CF35E90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A34810-B67D-4B6D-BDB5-E2C91CC1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666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A5A8"/>
          </a:solidFill>
          <a:ln xmlns:a="http://schemas.openxmlformats.org/drawingml/2006/main" w="0">
            <a:solidFill>
              <a:srgbClr val="0EA5A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D8E398-6AA2-470B-B77D-3BE731F0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A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EA5A8"/>
                </a:solidFill>
                <a:latin typeface="Microsoft YaHei"/>
                <a:ea typeface="Microsoft YaHei"/>
                <a:cs typeface="Microsoft YaHei"/>
              </a:rPr>
              <a:t>10 / 系统测试与演示流程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1B141B-D115-4086-8396-976B74A9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1057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演示重点是稳定展示完整问答闭环，而不是临时输入陌生样例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E5E670-5DC0-43D1-A707-668059EA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28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建议现场使用内置示例和高频问题，保证答辩节奏。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16D2EF-4202-418D-A58B-191A4CA2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38375"/>
            <a:ext cx="2190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044B18-C46B-4C4F-BF3A-B3AB6DFB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0982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EA9A26-B455-43D7-B82F-D265FB03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47925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A7AA17-0F73-4AAC-ADF7-F335A1A9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09825"/>
            <a:ext cx="1371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加载示例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DE29F6-C318-4987-A0E5-F9C33DF4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47975"/>
            <a:ext cx="1809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点击“加载示例”按钮，自动填入图像和问题。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2871C9-139D-4F8B-B9FB-A15D0F3F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238375"/>
            <a:ext cx="2190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BEBCC6-4833-42A4-B90A-7C83CCAE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40982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EA5A8"/>
          </a:solidFill>
          <a:ln xmlns:a="http://schemas.openxmlformats.org/drawingml/2006/main" w="0">
            <a:solidFill>
              <a:srgbClr val="0EA5A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A86730-F5E5-4186-90D4-E009DA03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447925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84E28F-B584-42F8-A1B1-B3B6F06F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409825"/>
            <a:ext cx="1371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点击问答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CC8030-21F8-42D9-A771-4DE4F430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47975"/>
            <a:ext cx="1809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系统完成预处理、模型推理和结果排序。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C7193D-1B05-4523-B84B-17BAE8A6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238375"/>
            <a:ext cx="2190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E02BFA-EE5C-4DA9-9434-288B69592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982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27845C"/>
          </a:solidFill>
          <a:ln xmlns:a="http://schemas.openxmlformats.org/drawingml/2006/main" w="0">
            <a:solidFill>
              <a:srgbClr val="27845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F1D8A4-D014-464A-A3D0-90582574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47925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D6E85B-A082-46FA-9FF7-D8ACE690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09825"/>
            <a:ext cx="1371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解释结果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328EF6-808E-4414-AD98-931DA5D4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47975"/>
            <a:ext cx="1809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先说明 Top-1，再说明 Top-5 是候选参考。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8A3D1A-869E-4537-8B9B-5E15CF2B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238375"/>
            <a:ext cx="2190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D1E103-6AE6-4EB0-9027-7B87F583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40982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98017"/>
          </a:solidFill>
          <a:ln xmlns:a="http://schemas.openxmlformats.org/drawingml/2006/main" w="0">
            <a:solidFill>
              <a:srgbClr val="C9801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93AD76-BBF7-466D-A4B8-1F36C740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447925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4C805C-0E5A-4CBE-88A3-C861DD8D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409825"/>
            <a:ext cx="1371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说明边界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4BE8F6-47F8-4CD2-BBF9-9B31DDCE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847975"/>
            <a:ext cx="1809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概率用于排序，不等同于临床置信度。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c581b29de245fb"/>
          <a:stretch xmlns:a="http://schemas.openxmlformats.org/drawingml/2006/main"/>
        </p:blipFill>
        <p:spPr>
          <a:xfrm xmlns:a="http://schemas.openxmlformats.org/drawingml/2006/main">
            <a:off x="4322995" y="4333875"/>
            <a:ext cx="3450760" cy="1190625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B46EAC-DF81-420D-BEED-644B0E1D0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476875"/>
            <a:ext cx="8001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5DA258-B318-47EE-97C5-5330272C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476875"/>
            <a:ext cx="5715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845C"/>
          </a:solidFill>
          <a:ln xmlns:a="http://schemas.openxmlformats.org/drawingml/2006/main" w="0">
            <a:solidFill>
              <a:srgbClr val="27845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CBEAD3-6A69-43E6-BE8A-17ECE5D0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648325"/>
            <a:ext cx="763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已测试功能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1642F7-E7DE-4D74-B4BF-4F8C01C5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6029325"/>
            <a:ext cx="762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图像上传、问题输入、高频问题选择、模型推理、Top-5 展示和清空操作均可正常运行。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C76F08-6282-426D-9DC2-DE603662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C"/>
          </a:solidFill>
          <a:ln xmlns:a="http://schemas.openxmlformats.org/drawingml/2006/main" w="0">
            <a:solidFill>
              <a:srgbClr val="D8E3E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97B351-09BB-4500-8C1A-2B37917B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A8B9A"/>
                </a:solidFill>
                <a:latin typeface="Microsoft YaHei"/>
                <a:ea typeface="Microsoft YaHei"/>
                <a:cs typeface="Microsoft YaHei"/>
              </a:rPr>
              <a:t>基于 PathVQA 数据集的轻量级医疗视觉问答模型设计与实现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1837F1-BDD8-4A12-B8F1-F4F736A0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341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4673500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576CDF-4E28-456F-8829-5760C8CB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F7FA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12A67B-D396-45AE-80C4-A2DEB9FA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466DBC-73A1-4F64-A384-93AA7EC4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"/>
            <a:ext cx="666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A5A8"/>
          </a:solidFill>
          <a:ln xmlns:a="http://schemas.openxmlformats.org/drawingml/2006/main" w="0">
            <a:solidFill>
              <a:srgbClr val="0EA5A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2B89FD-30D6-499F-88DE-D1DA0850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400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A5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EA5A8"/>
                </a:solidFill>
                <a:latin typeface="Microsoft YaHei"/>
                <a:ea typeface="Microsoft YaHei"/>
                <a:cs typeface="Microsoft YaHei"/>
              </a:rPr>
              <a:t>11 / 总结与展望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7F85F3-6202-4A3F-86E2-BEB8E51A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38200"/>
            <a:ext cx="1057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本文完成了轻量级医疗视觉问答模型与网页原型系统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CEB5E9-986A-4FA3-86FE-01F56F5E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28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最后主动说明贡献、局限和后续改进方向。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6ABA45-81AF-4253-B744-F43FF6C3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43125"/>
            <a:ext cx="3143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1FB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D85B5B-C078-4249-9E1A-F447E196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43125"/>
            <a:ext cx="5715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5AA8"/>
          </a:solidFill>
          <a:ln xmlns:a="http://schemas.openxmlformats.org/drawingml/2006/main" w="0">
            <a:solidFill>
              <a:srgbClr val="1E5AA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FEC35C-180D-4D2B-867F-EDD69248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14575"/>
            <a:ext cx="278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完成工作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3A3064-194E-4914-9935-37BF5B80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95575"/>
            <a:ext cx="2762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完成 PathVQA 数据预处理、轻量级多模态模型设计、两阶段训练、实验评估和 Gradio 系统实现。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765570-86E6-4E2A-BD32-C13A904A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43125"/>
            <a:ext cx="3143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9BF785-FEC5-494D-B911-4134F2FB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43125"/>
            <a:ext cx="5715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845C"/>
          </a:solidFill>
          <a:ln xmlns:a="http://schemas.openxmlformats.org/drawingml/2006/main" w="0">
            <a:solidFill>
              <a:srgbClr val="27845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AC418C-37A4-4AD4-BFA7-BD48C14A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314575"/>
            <a:ext cx="278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主要结果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324A1C-9DAF-4BEF-9EE5-F40EB157B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695575"/>
            <a:ext cx="2762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二阶段模型测试集 Top-1 达到 49.87%，Top-5 达到 85.65%，具备较好的候选答案推荐能力。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0397DA-AB4F-478E-9F22-E100CACE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43125"/>
            <a:ext cx="3143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6F7F7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CCCA16-F3E6-4221-9509-81B3F903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43125"/>
            <a:ext cx="5715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A5A8"/>
          </a:solidFill>
          <a:ln xmlns:a="http://schemas.openxmlformats.org/drawingml/2006/main" w="0">
            <a:solidFill>
              <a:srgbClr val="0EA5A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B558F4-34BF-4D34-A57E-F5572A4DB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14575"/>
            <a:ext cx="278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系统价值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6E2D09-FF77-4D9E-9FBE-E60DAB59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95575"/>
            <a:ext cx="2762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系统可以作为医学图像问答的教学与原型验证工具，展示图文联合理解的基本流程。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F45FB5-EEF4-4818-96D6-35F88C47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286250"/>
            <a:ext cx="39052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4DF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AFDA19-5DFD-4964-89BB-B16A7696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286250"/>
            <a:ext cx="57150" cy="1285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8017"/>
          </a:solidFill>
          <a:ln xmlns:a="http://schemas.openxmlformats.org/drawingml/2006/main" w="0">
            <a:solidFill>
              <a:srgbClr val="C9801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12002C-BE1A-4291-AEA3-3072BC89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457700"/>
            <a:ext cx="3543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不足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08F150-CA12-4118-AC1D-F4DC67AA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838700"/>
            <a:ext cx="3524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融合方式较简单，缺少区域级注意力；答案类别存在长尾分布；模型尚不能用于临床诊断。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E94E41-ED53-4E6D-A3E6-2B07C234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86250"/>
            <a:ext cx="39052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BE9EB"/>
          </a:solidFill>
          <a:ln xmlns:a="http://schemas.openxmlformats.org/drawingml/2006/main" w="9525">
            <a:solidFill>
              <a:srgbClr val="D8E3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2687BE-3CC2-4978-A94A-AE086953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86250"/>
            <a:ext cx="57150" cy="1285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5121B"/>
          </a:solidFill>
          <a:ln xmlns:a="http://schemas.openxmlformats.org/drawingml/2006/main" w="0">
            <a:solidFill>
              <a:srgbClr val="B5121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E5E912-7553-44CE-8DF0-E1013096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457700"/>
            <a:ext cx="3543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033"/>
                </a:solidFill>
                <a:latin typeface="Microsoft YaHei"/>
                <a:ea typeface="Microsoft YaHei"/>
                <a:cs typeface="Microsoft YaHei"/>
              </a:rPr>
              <a:t>展望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A6E4E1-BED7-44C0-ABC2-DC04DFF2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838700"/>
            <a:ext cx="352425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16579"/>
                </a:solidFill>
                <a:latin typeface="Microsoft YaHei"/>
                <a:ea typeface="Microsoft YaHei"/>
                <a:cs typeface="Microsoft YaHei"/>
              </a:rPr>
              <a:t>后续可引入注意力机制、医学视觉语言预训练模型、答案归一化和更严格的医学专家评测。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E3B28A-BE8F-49F1-84E0-8D1FBD3E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谢谢各位老师，请批评指正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BB085A-1238-4C6C-B982-6C1E979F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3EC"/>
          </a:solidFill>
          <a:ln xmlns:a="http://schemas.openxmlformats.org/drawingml/2006/main" w="0">
            <a:solidFill>
              <a:srgbClr val="D8E3E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5DDCD5-B01E-4FBA-A856-D7D39F98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8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A8B9A"/>
                </a:solidFill>
                <a:latin typeface="Microsoft YaHei"/>
                <a:ea typeface="Microsoft YaHei"/>
                <a:cs typeface="Microsoft YaHei"/>
              </a:rPr>
              <a:t>基于 PathVQA 数据集的轻量级医疗视觉问答模型设计与实现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5F4874-A560-4280-9D7F-3405BF5B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341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E5AA8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568538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2026-06-06T08:15:30.5940000Z</dcterms:created>
  <dcterms:modified xsi:type="dcterms:W3CDTF">2026-06-06T08:15:30.5940000Z</dcterms:modified>
</coreProperties>
</file>
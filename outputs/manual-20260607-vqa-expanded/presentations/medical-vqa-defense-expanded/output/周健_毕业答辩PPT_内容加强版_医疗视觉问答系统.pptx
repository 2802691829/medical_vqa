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4e4961d3d483c" /><Relationship Type="http://schemas.openxmlformats.org/officeDocument/2006/relationships/extended-properties" Target="/docProps/app.xml" Id="Raf2c4e894d914a4e" /><Relationship Type="http://schemas.openxmlformats.org/officeDocument/2006/relationships/officeDocument" Target="/ppt/presentation.xml" Id="Rc5268dc1e8dc48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beae1939804f0a"/>
  </p:sldMasterIdLst>
  <p:notesMasterIdLst>
    <p:notesMasterId xmlns:r="http://schemas.openxmlformats.org/officeDocument/2006/relationships" r:id="R71de9967175341f9"/>
  </p:notesMasterIdLst>
  <p:sldIdLst>
    <p:sldId xmlns:r="http://schemas.openxmlformats.org/officeDocument/2006/relationships" id="256" r:id="R9dc33839dd6d4941"/>
    <p:sldId xmlns:r="http://schemas.openxmlformats.org/officeDocument/2006/relationships" id="257" r:id="Rc0816d483e784a25"/>
    <p:sldId xmlns:r="http://schemas.openxmlformats.org/officeDocument/2006/relationships" id="258" r:id="R74e2baa4a1d84035"/>
    <p:sldId xmlns:r="http://schemas.openxmlformats.org/officeDocument/2006/relationships" id="259" r:id="R8cb0e35e454a4710"/>
    <p:sldId xmlns:r="http://schemas.openxmlformats.org/officeDocument/2006/relationships" id="260" r:id="Rbfeb300bd78b4dbc"/>
    <p:sldId xmlns:r="http://schemas.openxmlformats.org/officeDocument/2006/relationships" id="261" r:id="R2fb449fedd2b4cd7"/>
    <p:sldId xmlns:r="http://schemas.openxmlformats.org/officeDocument/2006/relationships" id="262" r:id="R348adf8c3b974ae5"/>
    <p:sldId xmlns:r="http://schemas.openxmlformats.org/officeDocument/2006/relationships" id="263" r:id="R2fbc4e6fc6794e25"/>
    <p:sldId xmlns:r="http://schemas.openxmlformats.org/officeDocument/2006/relationships" id="264" r:id="Rf951d3e0ffe34e37"/>
    <p:sldId xmlns:r="http://schemas.openxmlformats.org/officeDocument/2006/relationships" id="265" r:id="Rf4ded066102f473c"/>
    <p:sldId xmlns:r="http://schemas.openxmlformats.org/officeDocument/2006/relationships" id="266" r:id="R3957b06f71704919"/>
    <p:sldId xmlns:r="http://schemas.openxmlformats.org/officeDocument/2006/relationships" id="267" r:id="Ra65538a928ee4ff0"/>
    <p:sldId xmlns:r="http://schemas.openxmlformats.org/officeDocument/2006/relationships" id="268" r:id="Rab391e7118bf43b1"/>
    <p:sldId xmlns:r="http://schemas.openxmlformats.org/officeDocument/2006/relationships" id="269" r:id="R4e08b9ea37b045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6560e6f64439c" /><Relationship Type="http://schemas.openxmlformats.org/officeDocument/2006/relationships/slideMaster" Target="/ppt/slideMasters/slideMaster1.xml" Id="R34beae1939804f0a" /><Relationship Type="http://schemas.openxmlformats.org/officeDocument/2006/relationships/notesMaster" Target="/ppt/notesMasters/notesMaster1.xml" Id="R71de9967175341f9" /><Relationship Type="http://schemas.openxmlformats.org/officeDocument/2006/relationships/presProps" Target="/ppt/presProps.xml" Id="R88ff6c9fd8754a1c" /><Relationship Type="http://schemas.openxmlformats.org/officeDocument/2006/relationships/viewProps" Target="/ppt/viewProps.xml" Id="R6fe23d1b3d58488b" /><Relationship Type="http://schemas.openxmlformats.org/officeDocument/2006/relationships/tableStyles" Target="/ppt/tableStyles.xml" Id="R11a47c25fad248d1" /><Relationship Type="http://schemas.openxmlformats.org/officeDocument/2006/relationships/slide" Target="/ppt/slides/slide1.xml" Id="R9dc33839dd6d4941" /><Relationship Type="http://schemas.openxmlformats.org/officeDocument/2006/relationships/slide" Target="/ppt/slides/slide2.xml" Id="Rc0816d483e784a25" /><Relationship Type="http://schemas.openxmlformats.org/officeDocument/2006/relationships/slide" Target="/ppt/slides/slide3.xml" Id="R74e2baa4a1d84035" /><Relationship Type="http://schemas.openxmlformats.org/officeDocument/2006/relationships/slide" Target="/ppt/slides/slide4.xml" Id="R8cb0e35e454a4710" /><Relationship Type="http://schemas.openxmlformats.org/officeDocument/2006/relationships/slide" Target="/ppt/slides/slide5.xml" Id="Rbfeb300bd78b4dbc" /><Relationship Type="http://schemas.openxmlformats.org/officeDocument/2006/relationships/slide" Target="/ppt/slides/slide6.xml" Id="R2fb449fedd2b4cd7" /><Relationship Type="http://schemas.openxmlformats.org/officeDocument/2006/relationships/slide" Target="/ppt/slides/slide7.xml" Id="R348adf8c3b974ae5" /><Relationship Type="http://schemas.openxmlformats.org/officeDocument/2006/relationships/slide" Target="/ppt/slides/slide8.xml" Id="R2fbc4e6fc6794e25" /><Relationship Type="http://schemas.openxmlformats.org/officeDocument/2006/relationships/slide" Target="/ppt/slides/slide9.xml" Id="Rf951d3e0ffe34e37" /><Relationship Type="http://schemas.openxmlformats.org/officeDocument/2006/relationships/slide" Target="/ppt/slides/slide10.xml" Id="Rf4ded066102f473c" /><Relationship Type="http://schemas.openxmlformats.org/officeDocument/2006/relationships/slide" Target="/ppt/slides/slide11.xml" Id="R3957b06f71704919" /><Relationship Type="http://schemas.openxmlformats.org/officeDocument/2006/relationships/slide" Target="/ppt/slides/slide12.xml" Id="Ra65538a928ee4ff0" /><Relationship Type="http://schemas.openxmlformats.org/officeDocument/2006/relationships/slide" Target="/ppt/slides/slide13.xml" Id="Rab391e7118bf43b1" /><Relationship Type="http://schemas.openxmlformats.org/officeDocument/2006/relationships/slide" Target="/ppt/slides/slide14.xml" Id="R4e08b9ea37b0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1984ef5df41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041e64ee2c4aef" /><Relationship Type="http://schemas.openxmlformats.org/officeDocument/2006/relationships/notesMaster" Target="/ppt/notesMasters/notesMaster1.xml" Id="R8b517ac0678b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a6720e24f4a68" /><Relationship Type="http://schemas.openxmlformats.org/officeDocument/2006/relationships/notesMaster" Target="/ppt/notesMasters/notesMaster1.xml" Id="Rd0110e4270a941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4331763d0f4a7b" /><Relationship Type="http://schemas.openxmlformats.org/officeDocument/2006/relationships/notesMaster" Target="/ppt/notesMasters/notesMaster1.xml" Id="R56b5bef56296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f2cef2ab9458a" /><Relationship Type="http://schemas.openxmlformats.org/officeDocument/2006/relationships/notesMaster" Target="/ppt/notesMasters/notesMaster1.xml" Id="R8c30e508e07e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fad122dbb46b9" /><Relationship Type="http://schemas.openxmlformats.org/officeDocument/2006/relationships/notesMaster" Target="/ppt/notesMasters/notesMaster1.xml" Id="Rbec9c54c95704d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112f2a76da4301" /><Relationship Type="http://schemas.openxmlformats.org/officeDocument/2006/relationships/notesMaster" Target="/ppt/notesMasters/notesMaster1.xml" Id="R82755492bf874d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5673a2a08f4be4" /><Relationship Type="http://schemas.openxmlformats.org/officeDocument/2006/relationships/notesMaster" Target="/ppt/notesMasters/notesMaster1.xml" Id="Rce77f06fe1c74e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c1f43e7ea474c" /><Relationship Type="http://schemas.openxmlformats.org/officeDocument/2006/relationships/notesMaster" Target="/ppt/notesMasters/notesMaster1.xml" Id="R237c2bccf4114a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7bdd630bc24913" /><Relationship Type="http://schemas.openxmlformats.org/officeDocument/2006/relationships/notesMaster" Target="/ppt/notesMasters/notesMaster1.xml" Id="R98b3a24eff06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661b36db994874" /><Relationship Type="http://schemas.openxmlformats.org/officeDocument/2006/relationships/notesMaster" Target="/ppt/notesMasters/notesMaster1.xml" Id="Rdaa70ec3345f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5a93b3795d41cd" /><Relationship Type="http://schemas.openxmlformats.org/officeDocument/2006/relationships/notesMaster" Target="/ppt/notesMasters/notesMaster1.xml" Id="Ra8702481f5db4a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ed253a0b15490f" /><Relationship Type="http://schemas.openxmlformats.org/officeDocument/2006/relationships/notesMaster" Target="/ppt/notesMasters/notesMaster1.xml" Id="R8a916e4d844f41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5ad020fd94b22" /><Relationship Type="http://schemas.openxmlformats.org/officeDocument/2006/relationships/notesMaster" Target="/ppt/notesMasters/notesMaster1.xml" Id="R9cddff7761f44c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8e894c05104783" /><Relationship Type="http://schemas.openxmlformats.org/officeDocument/2006/relationships/notesMaster" Target="/ppt/notesMasters/notesMaster1.xml" Id="Rdccc87f89c22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7ad81eef544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3e9eb50be4ad2" /><Relationship Type="http://schemas.openxmlformats.org/officeDocument/2006/relationships/slideLayout" Target="/ppt/slideLayouts/slideLayout1.xml" Id="Rd0d04b1426cb40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d04b1426cb40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093ce7d194c00" /><Relationship Type="http://schemas.openxmlformats.org/officeDocument/2006/relationships/image" Target="/ppt/media/image.png" Id="R9833f670d6134293" /><Relationship Type="http://schemas.openxmlformats.org/officeDocument/2006/relationships/image" Target="/ppt/media/image2.png" Id="Rf8c4455bbbc14547" /><Relationship Type="http://schemas.openxmlformats.org/officeDocument/2006/relationships/notesSlide" Target="/ppt/notesSlides/notesSlide1.xml" Id="R78f6ea15e83b40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e9dfcabf6406b" /><Relationship Type="http://schemas.openxmlformats.org/officeDocument/2006/relationships/notesSlide" Target="/ppt/notesSlides/notesSlide2.xml" Id="R767b5cacbb8443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c13ed8850485d" /><Relationship Type="http://schemas.openxmlformats.org/officeDocument/2006/relationships/notesSlide" Target="/ppt/notesSlides/notesSlide3.xml" Id="Rb40d1f18e5b7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631fc8a364b5c" /><Relationship Type="http://schemas.openxmlformats.org/officeDocument/2006/relationships/notesSlide" Target="/ppt/notesSlides/notesSlide4.xml" Id="R37d25662942443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dcac26c814972" /><Relationship Type="http://schemas.openxmlformats.org/officeDocument/2006/relationships/notesSlide" Target="/ppt/notesSlides/notesSlide5.xml" Id="R8887db0f6a8e47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81f83b3434ba6" /><Relationship Type="http://schemas.openxmlformats.org/officeDocument/2006/relationships/notesSlide" Target="/ppt/notesSlides/notesSlide6.xml" Id="R93091fdbc5184d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f4e6a5a9444ab" /><Relationship Type="http://schemas.openxmlformats.org/officeDocument/2006/relationships/notesSlide" Target="/ppt/notesSlides/notesSlide7.xml" Id="R5675918f1f62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4a568d2514496" /><Relationship Type="http://schemas.openxmlformats.org/officeDocument/2006/relationships/notesSlide" Target="/ppt/notesSlides/notesSlide8.xml" Id="Re83cfda2f5c241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f2092ad964b4c" /><Relationship Type="http://schemas.openxmlformats.org/officeDocument/2006/relationships/notesSlide" Target="/ppt/notesSlides/notesSlide9.xml" Id="Rd33da5be83df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ccfdcefac4ecf" /><Relationship Type="http://schemas.openxmlformats.org/officeDocument/2006/relationships/notesSlide" Target="/ppt/notesSlides/notesSlide10.xml" Id="Rb127778ba9ec44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8533967d74822" /><Relationship Type="http://schemas.openxmlformats.org/officeDocument/2006/relationships/notesSlide" Target="/ppt/notesSlides/notesSlide11.xml" Id="Rd37e7798d6ef49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12a13316748ee" /><Relationship Type="http://schemas.openxmlformats.org/officeDocument/2006/relationships/notesSlide" Target="/ppt/notesSlides/notesSlide12.xml" Id="Rfb8e4e89e5494d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a79c984ee43a2" /><Relationship Type="http://schemas.openxmlformats.org/officeDocument/2006/relationships/notesSlide" Target="/ppt/notesSlides/notesSlide13.xml" Id="R8eca80902a794f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cee817b44173" /><Relationship Type="http://schemas.openxmlformats.org/officeDocument/2006/relationships/notesSlide" Target="/ppt/notesSlides/notesSlide14.xml" Id="R2cef0404df794b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4F9C44-BAC8-456A-9CF6-77E86E5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B2135-F7CE-47B8-AF8D-55D36C3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A41DD-6CB2-4F7B-B352-CE75B9A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3f670d6134293"/>
          <a:stretch xmlns:a="http://schemas.openxmlformats.org/drawingml/2006/main"/>
        </p:blipFill>
        <p:spPr>
          <a:xfrm xmlns:a="http://schemas.openxmlformats.org/drawingml/2006/main">
            <a:off x="723900" y="560871"/>
            <a:ext cx="914400" cy="859458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4455bbbc14547"/>
          <a:stretch xmlns:a="http://schemas.openxmlformats.org/drawingml/2006/main"/>
        </p:blipFill>
        <p:spPr>
          <a:xfrm xmlns:a="http://schemas.openxmlformats.org/drawingml/2006/main">
            <a:off x="1877311" y="685800"/>
            <a:ext cx="2436628" cy="628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9B955-5342-4987-B43F-3E0C46B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0">
            <a:solidFill>
              <a:srgbClr val="FBE8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C5D57-AACC-411B-824E-24759C5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C3E66-87A6-49CB-8332-AE1A37D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14DFB-59D3-45CD-A531-220D553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轻量级医疗视觉问答模型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15F9C-ACAA-451D-A546-D9029B8F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89579-C012-4EFA-B490-21D1056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答辩人：周健    学号：208221335    专业：人工智能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9B10F-DC22-44DA-AD17-6E76E6C7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指导教师：王青云 / 蔡亮亮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4D113-10B9-43B2-8CDB-33121519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210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医疗视觉问答系统</a:t>
            </a:r>
          </a:p>
        </p:txBody>
      </p:sp>
    </p:spTree>
    <p:extLst>
      <p:ext uri="{BB962C8B-B14F-4D97-AF65-F5344CB8AC3E}">
        <p14:creationId xmlns:p14="http://schemas.microsoft.com/office/powerpoint/2010/main" val="1042842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0BDE7-FFB3-4CC8-A2D1-A2250B5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26D02-20DD-41DC-A18C-F37F9E48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4CBD6-D933-4CB2-8718-A84FB71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8683F-158C-4FE5-958C-6537964A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01 / 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D3EE4-BE8B-4AD2-BADA-7BF9B16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医疗视觉问答让系统同时理解图像和问题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9C7F5-933C-4F0A-87A5-56E91CD3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任务目标是根据医学图像与自然语言问题，输出有针对性的候选答案。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F932F-B96E-40E8-818A-C321C9B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B7B7E-B659-4B59-B098-11BED50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23FE-DBC0-4595-9DAD-F0A62C52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医学图像数量增长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7F556-9888-4033-A06F-66927DC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病理、影像等医学视觉数据不断积累，人工逐一分析成本较高。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5A58C-F0C8-446D-B4D1-2F0F9D3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205C4-6628-456D-B6CB-1CF955F5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F5E83-0187-42FE-A02C-D8FDFC1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问答交互更直观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EFC00-186F-4D18-BCFF-5A606BC2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24200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用户可以围绕图像提出具体问题，系统返回与问题相关的答案。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26748-8E10-4090-A943-F8D27752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A72AF-E776-497A-BEC4-F5EC0844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10B0C-B411-4EFF-A158-41D8C7B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轻量模型更易落地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B6078-C255-4870-81C3-62E19C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在普通本地环境中完成训练、评估和网页端演示，具有工程可行性。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5E3AB-5622-478E-A529-83A609E1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系统定位：教学辅助、原型验证和候选答案推荐。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5B275-D898-47A0-BC95-9F4FBFD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12472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B1343-7416-4651-890B-D0A82AF7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C54C-B56B-4758-B609-2076D0A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81200-0C27-4C1D-A49D-A2BBE721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735C4-51A3-4491-AA56-ACE19FB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02 / 研究目标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C79AF-4DFA-403A-BC69-312AFE1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构建轻量级医疗视觉问答模型与网页原型系统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053F6-B2DD-4535-8EB1-140DE80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本文关注模型可训练、结果可评估、系统可演示。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ADA57-BB4D-4EDE-81EB-E3746B4D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297BA-69E5-4ECC-9CE4-FB1CF02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C8AD3-1BE8-4E13-A217-4FDB92D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85A09-EEBD-429D-82B4-416C8D4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完成 PathVQA 数据解析、清洗、词表构建和答案类别映射。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C9D80-659C-4545-99D0-0A64D16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362C7-6401-4BFE-B0D3-A5FE0304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8E449-FCA6-4EF0-9D13-D048D3F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3574D-1D77-44F3-857F-1419B04C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76575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设计图像分支、文本分支和融合分类器，完成多模态建模。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D052B-0286-48DF-9111-0E97FEE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64743-CDAA-4B9E-8473-2794A8B8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38E94-B74F-47F9-B7EF-36A2CE5F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55EE1-007C-4E54-B839-9D4D52F5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76575"/>
            <a:ext cx="2686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通过两阶段训练提升效果，并用 Top-1、Top-5 等指标进行评估。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3C8D0-289E-4E1B-A29C-25F4854F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723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FDCD5-FEFD-4023-AAD8-F50E725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CDA84-0B78-4145-8757-6B82E99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678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55C50-FC3D-44C3-B9EE-90F599F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29250"/>
            <a:ext cx="678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搭建网页端问答系统，实现图像上传、问题输入和候选答案展示。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FE6D4-1EAF-4F0F-AB99-A433815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89826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EBBED-941E-49D0-9C3A-A9F7069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9D4D7-3898-4D98-8294-2D7ADB66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AB17D-8E02-4E92-A82F-28F200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B92D-6D52-4FCF-8068-9C364FE1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03 / 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C4BC4-2E4D-4D4D-B902-20AE9595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形成从数据到网页演示的完整闭环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74961-AE6C-4B6E-AB5A-78167777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系统围绕数据、模型、训练、评估和应用五个环节展开。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5B27F-033E-4E84-9DA0-C320584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714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A3DAC-1188-4A2C-8B54-24235C9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08B11-48CE-4ACC-A1A8-4ED420C0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PathVQA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固定划分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F73C3-CB29-483D-95C3-45F394F0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11CAB-8DF4-42CD-A264-E5F86E1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714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82B4A-B851-450E-9B76-4825936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479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B8040-7C4C-4878-89C3-CCBB0C04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LSTM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C552E-4A68-489C-AB98-4E88085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D0FDD-A82E-4FD3-A876-52A2A2E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1714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218E9-1C97-40FC-B2AB-BA05C97A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训练优化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7BD5F-05D9-407D-8762-6837EC5B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670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两阶段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微调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B35DA-C55C-4B1D-82A1-3E56DC3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0CA46-1AFE-4177-906F-08F0DF18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1714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30F36-D4E9-4699-8842-94A5C397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479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结果评估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B2136-9869-45A9-9D2F-117EF97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67050"/>
            <a:ext cx="140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准确率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候选命中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A27F2-D52E-4FCB-B165-1C1F8C5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66E5E-57D2-4DC8-873A-47DABF13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1333500" cy="1676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19050">
            <a:solidFill>
              <a:srgbClr val="B512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F9CF8-519F-43EC-BF9A-8335FC5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479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网页系统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A9F12-F1FE-4AB2-B720-59FD565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67050"/>
            <a:ext cx="1028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交互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3FDB3-1E5C-4805-AA77-211BAB9C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EAB18-DEF5-4070-8ABF-C89AC36A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闭环实现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C7BDE-9C88-4F5B-865B-4683B8BE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29275"/>
            <a:ext cx="480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数据 → 模型 → 结果 → 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48C47-C927-42FB-A8F8-83C64A3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53242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A91E31-7D6C-4D28-8AC6-5599D9C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9A73B-1DE9-40B0-B343-4A94C5F2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AF565-43AC-4C15-B565-3EDEEBE4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50F27-0566-4424-B82F-4D352D4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04 / 数据集与预处理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99EDA-9D70-48BB-B45B-A6CF0EF1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PathVQA 数据固定划分，保证实验可复现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AFEA-B4B6-470B-A526-920D770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训练集构建词表与答案类别，验证集和测试集复用同一映射。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1C1A0-FB02-4E46-8A29-C248D9B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93DD9-929B-4460-909D-E08A2D20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A98BE-2C4E-4792-A246-0ED8B18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AABCC-0FD9-4E3B-AF65-C15DF8F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9E0C6-015A-4A5F-B35B-1A5F836E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616E7-5241-47B1-AC73-9FE4D33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4B32C-8F26-4FC7-917B-88AF23CF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6702F-241A-48FE-B338-B4DE7D6C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526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70447-E6A3-409C-AEB8-DFD9EA22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测试样本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C00FC-BB44-4811-B828-6B0E8F14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9810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F4E5F-B136-4E18-8658-2100BAF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9A829-A7A9-458B-B855-40AFD933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48175"/>
            <a:ext cx="935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预处理流程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173C4-8F84-46A3-A229-7D14563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81575"/>
            <a:ext cx="9353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读取问答数据 → 文本分词 → 建立词表 → 答案映射 → 张量输入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B1336-0E41-4B52-85AC-0E4D07B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35140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58D604-4638-4DAC-95A4-F20D208D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197E4-5803-4ED0-9F4D-7FB65119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79F82-B7F4-47D9-891E-1B19E2C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031CB-E92C-4A28-8EC2-4FAC9ECC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05 / 数据表示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E1EC5-47DB-430F-816E-B06CC4C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问题文本和答案空间被转换为模型可学习的形式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63D34-3C50-4510-BC8C-F7FE0CC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模型输入不仅包括图像，还包括经过编码的问题序列。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A9EC9-5B99-49C9-A082-38FB9BA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DDD35-9E09-4F80-BEAC-7EEBEC0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74B0-355C-44EB-BD33-B9CF739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52775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图像输入尺寸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33E62-9C16-480E-8DC5-A890D58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33625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D76CF-10E7-4B19-87C1-9100AF9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95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3DB8B-D903-4D93-A2D0-24875C3B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52775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最大问题长度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D7429-0DC0-45F7-953B-58F184E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23FDD-6CD4-49B2-9AA3-FDC6802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95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4,331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800D4-42B2-47D3-9289-5AD0DF00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52775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问题词表规模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F90A6-6519-4B01-B878-0174D2C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0B50E-D496-45FB-A8E4-BD0F58E4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95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BF4F8-2BCF-40BF-8D3A-AB468A1F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5277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答案类别数量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4F1E1-72B9-44C7-8168-4EDAB6D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94A79-23A7-4AE8-949A-BB411796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DE570-6C54-41B8-BCEA-1ADAFF7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29175"/>
            <a:ext cx="887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建模方式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6A857-7DE5-4ABF-BAC1-27D8A8E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62575"/>
            <a:ext cx="8877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医疗视觉问答被建模为多类别分类任务，模型从 2,079 个候选答案中选择最可能答案。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A48C2-A76B-4C21-87FB-8DF6B2B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66137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84A424-1185-40F7-8172-641F946A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71AF8-5BDB-4812-988E-CCE7CF4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FE40-7278-44BF-8D8D-2B05E68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F3911-BF04-463B-A6BC-7B804D3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06 / 模型总体结构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8FA5C-720B-4CE1-A2F4-AFA61382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图像特征 + 文本特征 → 融合分类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A9363-B900-4348-B9C0-1A1523FE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轻量级多模态模型由图像编码、文本编码、特征融合和答案分类组成。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A8996-5915-46D0-A4EC-0A5F6FEE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DE5E3-D530-443D-A890-D5ED06AB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医学图像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44C38-F932-4318-9980-2C51EE7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3396D-D8E0-4EBC-88B2-D1A7033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0325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68CD-4DE6-42D1-8325-99C180D0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45856-88DA-4FFF-8433-30A157E6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5C6A7-F51B-4386-81F1-BFB32B3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512 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49C69-3792-4F46-8369-9E4B55A3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5F1EE-2583-4042-B890-D97133F8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1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816C2-E964-4C95-A1D1-134BECF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问题文本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C7C09-41C3-4251-A793-E91D947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最长 20 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3FDAF-CB7C-412A-844C-B841BA2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0A373-6AF3-4A25-B8AD-D285B59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000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14F30-0412-4B23-B674-712980B2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  <a:p xmlns:a="http://schemas.openxmlformats.org/drawingml/2006/main">
            <a:pPr algn="ctr">
              <a:def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 LSTM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3C563-4810-4BB5-AB17-BD70046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958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256 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1879B-4C5C-4BB1-BD6B-AD98BDE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D385D-22E8-443A-8617-D368134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31FAF-6222-4C58-B313-A21E1904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7182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特征拼接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0E5CE-40A3-4E24-A225-4B837B3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90925"/>
            <a:ext cx="16954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512 + 256</a:t>
            </a:r>
          </a:p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= 768 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568C1-F568-4B21-94C3-F6DFDBD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8DEB5-F9DC-499C-9472-0778C92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CD236-9BD7-410A-B067-5E41FD8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194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答案分类器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786C5-45D4-4E47-859E-7340D197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 2,079 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A18DC-909E-427D-BDEB-FFDE2C1C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4494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9EB16-062B-44F2-A3BF-7274D02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8DD61-94EC-4919-9C50-CD5BC241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6BA4D-22EE-4E60-A7D4-D7EF051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34E4A-77E6-4755-BEA1-AF9A7C4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07 / 图像编码模块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8BF87-20AC-4193-AE34-1DD852B0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ResNet18 提取医学图像的高层视觉特征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BFD5-1518-4261-B99F-1FBBB11F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图像分支负责把医学图像压缩成固定维度的视觉表示。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B7CCE-6E94-4E17-9BBC-371E6744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F9490-7A12-4E46-9A8C-B74E679B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76200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36794-CFB6-4932-927C-02AF2C0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输入处理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F88E6-0FA0-4590-8041-5F506FB8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76575"/>
            <a:ext cx="26860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图像统一调整为 224×224，并转换为模型可接收的张量。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8142C-2E40-4F68-9DC3-615C15E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D732B-41BE-46F3-99B9-128FB8C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76200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C1CCA-12AB-4BAE-8879-70A92771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骨干网络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8EF9C-4927-45B2-94D7-C98D1D60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76575"/>
            <a:ext cx="26860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采用 ResNet18 作为视觉编码器，兼顾表达能力与训练成本。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9D5AB-2A4A-41E4-B903-3A3D3AD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92FBD-A279-4B8D-97DE-95E85649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76200" cy="2143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F923E-B3B9-4F55-B870-B13EA18E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43175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特征输出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6815C-931D-4BB1-9AFA-27A226CF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76575"/>
            <a:ext cx="26860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去除原分类层后，输出 512 维图像特征，用于后续图文融合。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2B898-4702-4933-9D57-41C19AF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7B395-5880-4EAE-897F-F93D9F2E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72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第一阶段冻结骨干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209F4-7609-4824-B24F-C4DD22B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9CE3A-1238-46CB-9098-E30E1A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720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第二阶段微调高层特征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C36E3-0AFC-4960-B5E7-F591543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95875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solidFill>
              <a:srgbClr val="E6F5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176CB-56AE-4C76-A02F-0D275544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720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减少过拟合风险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BF4E3-E513-425B-B113-43D1844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14108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A2165-A44D-49FA-A524-C7E0AAF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2D9D3-F675-499A-A215-F71ED13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5CD04-8286-4373-8104-5F7A13E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AC88-9BF5-4E16-B9D7-361887E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08 / 文本编码与融合分类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D1C09-71AA-4E7E-BA43-466E5A4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LSTM 编码问题语义，拼接后完成答案预测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5FE9E-D323-4F3A-9297-F9B82DC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文本分支和图像分支共同决定最终候选答案。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DC4D5-6D16-4276-A9BD-3B9B59F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71CBD-35BA-46AE-9239-4D792C4E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82ADC-B88A-4C88-8F40-E019482E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E50BB-F360-41AC-B5FE-EB6E445C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733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问题先映射为词索引，再经过 Embedding 与 LSTM，得到 256 维语义特征。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BAE99-6B55-41B8-B3C2-5959AB53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8FBB5-610D-4CCB-9486-305C8141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9674A-CEA0-4AD3-BE82-A6A6404A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9C288-501F-45F0-8121-A47CEDDA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2733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将 512 维图像特征与 256 维文本特征拼接，形成 768 维联合特征。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7F1DF-8FAF-4D17-80EF-D4E728E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4D61-ACDE-4261-964B-39C5C72F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30FF1-A34F-451A-B468-D6C930A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答案分类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988B7-4322-4D4F-81C0-A44112A5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733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联合特征进入全连接分类器，输出 2,079 个答案类别的预测得分。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2D92D-F058-4497-B805-A4B8EA8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模型输出 Top-1 首选答案，同时保留 Top-5 候选答案用于系统展示。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CE443-C287-4166-84AD-93846B9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84147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D9BF9-4374-42C2-9338-15D6BB9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847D8-7368-42EA-8778-87D7FFF0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88C8F-6CAC-4CF2-A33C-27D6A0D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5CB24-84F3-44ED-9978-72855970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09 / 训练策略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38C6E-9F1A-4EC0-98CB-6F91C44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两阶段训练兼顾稳定性与特征适配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295DD-20A7-4569-A353-07C18C1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先学习图文到答案的基础映射，再微调高层视觉特征。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853DE-3EFF-4179-AEA7-90A6593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7C51B-5F69-491D-B128-0C526E98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8C688-B706-433B-8D23-F4F397E6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43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2F730-EB09-4FE3-AF56-C8FBF47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76575"/>
            <a:ext cx="382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冻结图像骨干网络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训练文本编码器 + 分类器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5 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0E1A8-0166-4C35-A96E-3E18A81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52800"/>
            <a:ext cx="952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DACEF-0686-47DA-A1EF-6BC8CE3A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1156A-9A0B-4DA0-806F-6DE26E0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3D509-DCE8-4F66-AB73-40F8838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43175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65D9B-4F51-4659-B91B-A43F7713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76575"/>
            <a:ext cx="382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解冻高层视觉特征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使用小学习率微调</a:t>
            </a:r>
          </a:p>
          <a:p xmlns:a="http://schemas.openxmlformats.org/drawingml/2006/main">
            <a:pPr algn="l">
              <a:def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训练 3 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5673A-823E-4D3E-9B39-5A193F57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solidFill>
              <a:srgbClr val="E6F0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F2CF8-C337-4210-8AD5-820B1D03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149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基础训练：学习率 0.001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50155-1CF5-40E0-A75F-9CC3E43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387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028A1-D6D3-46EB-9E5D-2DD3FE7B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31495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高层微调：学习率 0.00001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31368-FE7C-421B-81BA-E0FD74C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33322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1FDCA-B491-40CE-BA79-1DAACB7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55351-3EEF-44FF-84BD-9A24A5E6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F21B-0802-4329-9752-5232D69E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10E7-976F-44A1-BC25-D185AC10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10 / 评价指标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B0DD-1F27-438D-8E74-B188B249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从首选答案和候选答案两个角度评价模型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FDB89-022E-4C51-8D38-55661675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既评价模型第一答案是否正确，也评价正确答案是否进入候选列表。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7D688-1C5C-4541-8E9A-4F725BF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0E47-D598-4AF3-AAC1-9841FA52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0BC3A-6941-4B47-814B-B590D32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损失值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D877A-F266-44B7-9DDF-0D6173B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衡量预测结果与真实答案之间的差距，数值越低说明分类误差越小。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A1EE4-7DFA-44EA-8913-49C58DFC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3EAEA-D2A1-4213-9AFA-4571A2B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70AA3-5663-4D99-927C-E4C365DC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首选答案准确率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16B7D-CF68-4BF3-B612-4BAA121B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2420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模型排名第一的答案与标准答案一致时，记为预测正确。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CC47A-C0A4-4C8A-B3E8-FA90F468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13383-26CD-464F-92F6-875A24E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6415-E8DF-417D-BDFC-AD80EBE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前五候选命中率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B483E-340A-44C1-9939-464D6C8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标准答案出现在前五个候选答案中时，记为候选命中。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8EA23-8A93-4166-894D-70DD030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1125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网页端展示前五个候选答案，更符合辅助参考场景。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75A9D-2BE2-4EAB-8F8E-537CE5A1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55690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CC882-E878-46C9-93A9-E8C20B0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CB884-74EC-4015-B614-1CD4FD4F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0B13-41E1-420A-9A9A-80B770A1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AD46-5233-4963-ABFB-BBBD4802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11 / 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76253-B8FB-4381-9F74-B392538C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二阶段微调后，Top-1 和 Top-5 均有提升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B9419-0C5A-43F5-B2A8-21A5BE9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最终测试集 Top-1 为 49.87%，Top-5 为 85.65%。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551A3-D183-43F0-8AD0-80EBBEB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46F37-C2A8-4A5D-A52F-6BCFACA9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3BA36-8B18-4A10-B039-14838821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4E240-73E4-4105-9F9C-99DDA4D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F6691-04D8-4A82-AA3A-890A760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050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EDBFB-ED65-4C4F-AB81-619A8F4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最终 Top-5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D524C-F3B2-4F46-91FD-DD1FCA7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7F61C-B3AC-45EC-8460-E7F1E6D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3EE87-B961-4B57-95FA-25ED4FA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 提升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4FAF2-BA69-4303-BFA8-BF6154FF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333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41936-29B2-4F21-A720-BB22E961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+4.27%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024C9-B3C5-43B6-BB2B-79962F5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 提升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1775E-3B36-4316-9612-641952E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672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5AA88-302A-4988-A642-C14E2F7B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9102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60A3C-FBE0-4AB2-A9BD-84E2DE5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91025"/>
            <a:ext cx="2523173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ED947-F904-4928-AD18-B1DA3D3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91075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A1F40-D413-42E3-BBB5-C54E425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91075"/>
            <a:ext cx="2850071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FDABB-C82F-4444-8046-08E7F3E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2A6EB-C90C-480C-B704-23E3925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339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0E29B-C613-4BB4-A20C-0F04AC6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67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3D2285-7B3C-4032-A7CF-6F26311F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91150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9249B4-473D-459D-9E4E-399FC039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91150"/>
            <a:ext cx="4650867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13F16-B761-4F6B-866C-2979446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91200"/>
            <a:ext cx="5715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FE9F2"/>
          </a:solidFill>
          <a:ln xmlns:a="http://schemas.openxmlformats.org/drawingml/2006/main" w="0">
            <a:solidFill>
              <a:srgbClr val="DFE9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11E3B-EE6D-4AF0-9A68-355EC1A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91200"/>
            <a:ext cx="4894898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0CACD3-C3B6-42B0-8246-7B52C5C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340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B22BD-834D-4CFD-B4D8-73710F65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34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34F6F-BF80-4964-9581-E36CB8C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29945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88DE1-0140-481F-B373-766BB45D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D5DF-3F7F-4AE7-B9D5-F194E44E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F3027-2560-4AA7-BC63-908084C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F045-BC39-4A4C-B6B6-884BF37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12 / 系统实现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9E998-4C89-4CD7-90D9-3983B31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网页端将模型预测结果转化为可交互问答流程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386F-0ED5-49E7-91DF-C397A470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系统围绕图像输入、问题输入、模型推理和结果展示进行设计。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4605F-7EDA-4B64-9CCA-6960A4B6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19050">
            <a:solidFill>
              <a:srgbClr val="1E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E6D91-39BD-4449-816A-DA57B72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908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图像上传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25A80-F913-4149-B9D6-FA57A98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99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输入医学图像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FE684-2AA0-4F31-BA4B-8D895C18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904B9-0741-4DE0-8BEA-70D52202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19375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19050">
            <a:solidFill>
              <a:srgbClr val="0B9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E0895-CD6E-415C-932E-F7CEAC2B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908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问题输入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9462A-3076-47C5-9804-E6D7CB4B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099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文本问题</a:t>
            </a:r>
          </a:p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高频问题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97A7B-C96F-4FB0-8BFE-0FAF31C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98BD0-42D0-414D-8D1B-7E411B54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19375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9050">
            <a:solidFill>
              <a:srgbClr val="C4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29ECD-A504-4CA0-8B8F-F93D1C2A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908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47A12"/>
                </a:solidFill>
                <a:latin typeface="Microsoft YaHei"/>
                <a:ea typeface="Microsoft YaHei"/>
                <a:cs typeface="Microsoft YaHei"/>
              </a:rPr>
              <a:t>模型推理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CAACB-05CE-4B12-8247-E4239128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9925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加载最优模型</a:t>
            </a:r>
          </a:p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输出排序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52EEA-5669-49F2-8C7C-5F37A041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194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B7B14-E951-458C-9AB6-9399F04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619375"/>
            <a:ext cx="152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9050">
            <a:solidFill>
              <a:srgbClr val="2284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EEAEB-6322-4FDB-8B1F-64C63432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7908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845A"/>
                </a:solidFill>
                <a:latin typeface="Microsoft YaHei"/>
                <a:ea typeface="Microsoft YaHei"/>
                <a:cs typeface="Microsoft YaHei"/>
              </a:rPr>
              <a:t>答案展示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5ED4E-3B9F-4708-B040-66DB87F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209925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  <a:p xmlns:a="http://schemas.openxmlformats.org/drawingml/2006/main">
            <a:pPr algn="ctr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9606C-4857-4D27-94E1-B3A5B6F0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概率用于排序参考，不等同于临床诊断置信度。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1154A-1B0E-4FBA-A5C8-2CF8DD5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29801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54BC6-402E-4F0C-B98D-D1457385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5655C-A0CC-434D-AD5F-4E338C5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1C3B0-0EDA-4638-A878-CCF53DC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AC500-67D0-4719-BA0B-178F8A3D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9EA4"/>
                </a:solidFill>
                <a:latin typeface="Microsoft YaHei"/>
                <a:ea typeface="Microsoft YaHei"/>
                <a:cs typeface="Microsoft YaHei"/>
              </a:rPr>
              <a:t>13 / 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A7A93-D500-431C-B78F-41FCC96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858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B3ED2-215F-4F33-A1F2-41B05A0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工作覆盖数据处理、模型训练、实验评估与系统实现。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9CA7B-9D3C-402B-8048-C5A686D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D688A-B459-43EE-BF9A-21B9CCC2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A8A4F-5D9B-47F1-AF9F-50E60889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D348-85D5-438A-801B-54ECC520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构建 PathVQA 数据处理流程，完成轻量级多模态模型训练与评估。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CC12B-D339-490A-85A7-234CA9D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5DB4A-F3E2-4A1D-928A-E8CA4362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845A"/>
          </a:solidFill>
          <a:ln xmlns:a="http://schemas.openxmlformats.org/drawingml/2006/main" w="0">
            <a:solidFill>
              <a:srgbClr val="228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EF39B-E00D-47A1-86D6-ABDD34A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49CEF-E516-4F40-8CF4-77AB9377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3370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测试集 Top-1 为 49.87%，Top-5 为 85.65%，候选排序能力较好。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76100-1F64-4182-B0EB-C0E3858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7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32BB6-AE79-420F-BE5B-D875044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EA4"/>
          </a:solidFill>
          <a:ln xmlns:a="http://schemas.openxmlformats.org/drawingml/2006/main" w="0">
            <a:solidFill>
              <a:srgbClr val="0B9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FA689-AD02-4E63-BCE3-A76B8D75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E4A49-DDFF-47F6-ADCA-2BCC07B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网页端实现完整问答交互，可用于原型验证和教学展示。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3EDC6-A710-4BF2-BD3E-F4A64A1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8191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FA438-78C7-4FD3-9139-D304880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12"/>
          </a:solidFill>
          <a:ln xmlns:a="http://schemas.openxmlformats.org/drawingml/2006/main" w="0">
            <a:solidFill>
              <a:srgbClr val="C47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C0281-8112-4491-88CA-27CD085E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43425"/>
            <a:ext cx="773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51726-C65C-4BA1-8D82-1BB6E186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76825"/>
            <a:ext cx="7734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55A70"/>
                </a:solidFill>
                <a:latin typeface="Microsoft YaHei"/>
                <a:ea typeface="Microsoft YaHei"/>
                <a:cs typeface="Microsoft YaHei"/>
              </a:rPr>
              <a:t>引入注意力机制、医学视觉语言预训练模型，并开展更严格的专家评测。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1613E-C2EA-4655-8B61-FAE3329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3405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E7905-71C4-4E6F-B63D-39FCB89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14805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2026-06-07T04:36:39.1610000Z</dcterms:created>
  <dcterms:modified xsi:type="dcterms:W3CDTF">2026-06-07T04:36:39.1610000Z</dcterms:modified>
</coreProperties>
</file>
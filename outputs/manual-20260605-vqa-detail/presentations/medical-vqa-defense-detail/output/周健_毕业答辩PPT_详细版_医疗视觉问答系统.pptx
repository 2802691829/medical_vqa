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37cf737f7d49b7" /><Relationship Type="http://schemas.openxmlformats.org/officeDocument/2006/relationships/extended-properties" Target="/docProps/app.xml" Id="Re7b2e072eff344e8" /><Relationship Type="http://schemas.openxmlformats.org/officeDocument/2006/relationships/officeDocument" Target="/ppt/presentation.xml" Id="R3eac3956c0e045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5861df9fae436a"/>
  </p:sldMasterIdLst>
  <p:notesMasterIdLst>
    <p:notesMasterId xmlns:r="http://schemas.openxmlformats.org/officeDocument/2006/relationships" r:id="R50e8780797814649"/>
  </p:notesMasterIdLst>
  <p:sldIdLst>
    <p:sldId xmlns:r="http://schemas.openxmlformats.org/officeDocument/2006/relationships" id="256" r:id="R014ec9be29214043"/>
    <p:sldId xmlns:r="http://schemas.openxmlformats.org/officeDocument/2006/relationships" id="257" r:id="R8721cd4c8cd1402b"/>
    <p:sldId xmlns:r="http://schemas.openxmlformats.org/officeDocument/2006/relationships" id="258" r:id="Rbd10011dbd2d43a0"/>
    <p:sldId xmlns:r="http://schemas.openxmlformats.org/officeDocument/2006/relationships" id="259" r:id="Rdc8c40179c53420f"/>
    <p:sldId xmlns:r="http://schemas.openxmlformats.org/officeDocument/2006/relationships" id="260" r:id="Ra014a21874ac414f"/>
    <p:sldId xmlns:r="http://schemas.openxmlformats.org/officeDocument/2006/relationships" id="261" r:id="Rf181c124e8984059"/>
    <p:sldId xmlns:r="http://schemas.openxmlformats.org/officeDocument/2006/relationships" id="262" r:id="R7718e97d7efa42c3"/>
    <p:sldId xmlns:r="http://schemas.openxmlformats.org/officeDocument/2006/relationships" id="263" r:id="R5b3bee3e1f5a4f4e"/>
    <p:sldId xmlns:r="http://schemas.openxmlformats.org/officeDocument/2006/relationships" id="264" r:id="R6e13e37d316845d7"/>
    <p:sldId xmlns:r="http://schemas.openxmlformats.org/officeDocument/2006/relationships" id="265" r:id="R927787bb38dc43b5"/>
    <p:sldId xmlns:r="http://schemas.openxmlformats.org/officeDocument/2006/relationships" id="266" r:id="Rf8d665246f404572"/>
    <p:sldId xmlns:r="http://schemas.openxmlformats.org/officeDocument/2006/relationships" id="267" r:id="R978db718951643a1"/>
    <p:sldId xmlns:r="http://schemas.openxmlformats.org/officeDocument/2006/relationships" id="268" r:id="R315eb5a51bd7402d"/>
    <p:sldId xmlns:r="http://schemas.openxmlformats.org/officeDocument/2006/relationships" id="269" r:id="Ra12d5996b2e04bdf"/>
    <p:sldId xmlns:r="http://schemas.openxmlformats.org/officeDocument/2006/relationships" id="270" r:id="Rb1ca08bcd61144b3"/>
    <p:sldId xmlns:r="http://schemas.openxmlformats.org/officeDocument/2006/relationships" id="271" r:id="Rdb2e2ab0aed8491c"/>
    <p:sldId xmlns:r="http://schemas.openxmlformats.org/officeDocument/2006/relationships" id="272" r:id="R9ab30023ff704372"/>
    <p:sldId xmlns:r="http://schemas.openxmlformats.org/officeDocument/2006/relationships" id="273" r:id="R432a261451a240d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7c089b50e245f4" /><Relationship Type="http://schemas.openxmlformats.org/officeDocument/2006/relationships/slideMaster" Target="/ppt/slideMasters/slideMaster1.xml" Id="R245861df9fae436a" /><Relationship Type="http://schemas.openxmlformats.org/officeDocument/2006/relationships/notesMaster" Target="/ppt/notesMasters/notesMaster1.xml" Id="R50e8780797814649" /><Relationship Type="http://schemas.openxmlformats.org/officeDocument/2006/relationships/presProps" Target="/ppt/presProps.xml" Id="Re8dbdfa943564367" /><Relationship Type="http://schemas.openxmlformats.org/officeDocument/2006/relationships/viewProps" Target="/ppt/viewProps.xml" Id="R2c99b33a04644044" /><Relationship Type="http://schemas.openxmlformats.org/officeDocument/2006/relationships/tableStyles" Target="/ppt/tableStyles.xml" Id="R7462414276304ba9" /><Relationship Type="http://schemas.openxmlformats.org/officeDocument/2006/relationships/slide" Target="/ppt/slides/slide1.xml" Id="R014ec9be29214043" /><Relationship Type="http://schemas.openxmlformats.org/officeDocument/2006/relationships/slide" Target="/ppt/slides/slide2.xml" Id="R8721cd4c8cd1402b" /><Relationship Type="http://schemas.openxmlformats.org/officeDocument/2006/relationships/slide" Target="/ppt/slides/slide3.xml" Id="Rbd10011dbd2d43a0" /><Relationship Type="http://schemas.openxmlformats.org/officeDocument/2006/relationships/slide" Target="/ppt/slides/slide4.xml" Id="Rdc8c40179c53420f" /><Relationship Type="http://schemas.openxmlformats.org/officeDocument/2006/relationships/slide" Target="/ppt/slides/slide5.xml" Id="Ra014a21874ac414f" /><Relationship Type="http://schemas.openxmlformats.org/officeDocument/2006/relationships/slide" Target="/ppt/slides/slide6.xml" Id="Rf181c124e8984059" /><Relationship Type="http://schemas.openxmlformats.org/officeDocument/2006/relationships/slide" Target="/ppt/slides/slide7.xml" Id="R7718e97d7efa42c3" /><Relationship Type="http://schemas.openxmlformats.org/officeDocument/2006/relationships/slide" Target="/ppt/slides/slide8.xml" Id="R5b3bee3e1f5a4f4e" /><Relationship Type="http://schemas.openxmlformats.org/officeDocument/2006/relationships/slide" Target="/ppt/slides/slide9.xml" Id="R6e13e37d316845d7" /><Relationship Type="http://schemas.openxmlformats.org/officeDocument/2006/relationships/slide" Target="/ppt/slides/slide10.xml" Id="R927787bb38dc43b5" /><Relationship Type="http://schemas.openxmlformats.org/officeDocument/2006/relationships/slide" Target="/ppt/slides/slide11.xml" Id="Rf8d665246f404572" /><Relationship Type="http://schemas.openxmlformats.org/officeDocument/2006/relationships/slide" Target="/ppt/slides/slide12.xml" Id="R978db718951643a1" /><Relationship Type="http://schemas.openxmlformats.org/officeDocument/2006/relationships/slide" Target="/ppt/slides/slide13.xml" Id="R315eb5a51bd7402d" /><Relationship Type="http://schemas.openxmlformats.org/officeDocument/2006/relationships/slide" Target="/ppt/slides/slide14.xml" Id="Ra12d5996b2e04bdf" /><Relationship Type="http://schemas.openxmlformats.org/officeDocument/2006/relationships/slide" Target="/ppt/slides/slide15.xml" Id="Rb1ca08bcd61144b3" /><Relationship Type="http://schemas.openxmlformats.org/officeDocument/2006/relationships/slide" Target="/ppt/slides/slide16.xml" Id="Rdb2e2ab0aed8491c" /><Relationship Type="http://schemas.openxmlformats.org/officeDocument/2006/relationships/slide" Target="/ppt/slides/slide17.xml" Id="R9ab30023ff704372" /><Relationship Type="http://schemas.openxmlformats.org/officeDocument/2006/relationships/slide" Target="/ppt/slides/slide18.xml" Id="R432a261451a240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47d5ed7d7844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901234e8494652" /><Relationship Type="http://schemas.openxmlformats.org/officeDocument/2006/relationships/notesMaster" Target="/ppt/notesMasters/notesMaster1.xml" Id="R01b08604de6343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a56b7777ce43e5" /><Relationship Type="http://schemas.openxmlformats.org/officeDocument/2006/relationships/notesMaster" Target="/ppt/notesMasters/notesMaster1.xml" Id="R20507819efe34c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dcfbdc2120497f" /><Relationship Type="http://schemas.openxmlformats.org/officeDocument/2006/relationships/notesMaster" Target="/ppt/notesMasters/notesMaster1.xml" Id="Rd169268df1e448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8273ea818341fe" /><Relationship Type="http://schemas.openxmlformats.org/officeDocument/2006/relationships/notesMaster" Target="/ppt/notesMasters/notesMaster1.xml" Id="R844cb10298a24b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1220b9fe184fb3" /><Relationship Type="http://schemas.openxmlformats.org/officeDocument/2006/relationships/notesMaster" Target="/ppt/notesMasters/notesMaster1.xml" Id="Rc4ed108eafd541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578907b5de4175" /><Relationship Type="http://schemas.openxmlformats.org/officeDocument/2006/relationships/notesMaster" Target="/ppt/notesMasters/notesMaster1.xml" Id="R0730d5f0efdd43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42f5e394664a5b" /><Relationship Type="http://schemas.openxmlformats.org/officeDocument/2006/relationships/notesMaster" Target="/ppt/notesMasters/notesMaster1.xml" Id="R3781f5adabb642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de4147a4224aad" /><Relationship Type="http://schemas.openxmlformats.org/officeDocument/2006/relationships/notesMaster" Target="/ppt/notesMasters/notesMaster1.xml" Id="Rd021d61f705243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fabe1dc249408b" /><Relationship Type="http://schemas.openxmlformats.org/officeDocument/2006/relationships/notesMaster" Target="/ppt/notesMasters/notesMaster1.xml" Id="R2c3f813edcb645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e9ff0f22204475" /><Relationship Type="http://schemas.openxmlformats.org/officeDocument/2006/relationships/notesMaster" Target="/ppt/notesMasters/notesMaster1.xml" Id="Rb56cf97ca2ed45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8d1f13cb2b4cc6" /><Relationship Type="http://schemas.openxmlformats.org/officeDocument/2006/relationships/notesMaster" Target="/ppt/notesMasters/notesMaster1.xml" Id="R43cb86fb591a4e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92d2a425f245ba" /><Relationship Type="http://schemas.openxmlformats.org/officeDocument/2006/relationships/notesMaster" Target="/ppt/notesMasters/notesMaster1.xml" Id="Ra761011165d244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dcac35892e464a" /><Relationship Type="http://schemas.openxmlformats.org/officeDocument/2006/relationships/notesMaster" Target="/ppt/notesMasters/notesMaster1.xml" Id="R67b9ab034c3144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2ee2186dfa409e" /><Relationship Type="http://schemas.openxmlformats.org/officeDocument/2006/relationships/notesMaster" Target="/ppt/notesMasters/notesMaster1.xml" Id="R39629de4f03a48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99f0e464b44235" /><Relationship Type="http://schemas.openxmlformats.org/officeDocument/2006/relationships/notesMaster" Target="/ppt/notesMasters/notesMaster1.xml" Id="R8b1b4fe8da9d4a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af14aa16b54865" /><Relationship Type="http://schemas.openxmlformats.org/officeDocument/2006/relationships/notesMaster" Target="/ppt/notesMasters/notesMaster1.xml" Id="Rb6769d1ff3e6411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f3a54ff867944cc" /><Relationship Type="http://schemas.openxmlformats.org/officeDocument/2006/relationships/notesMaster" Target="/ppt/notesMasters/notesMaster1.xml" Id="R874980ca0ab54cf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6f3d3ad50e41bd" /><Relationship Type="http://schemas.openxmlformats.org/officeDocument/2006/relationships/notesMaster" Target="/ppt/notesMasters/notesMaster1.xml" Id="Ra8c64cfb9a564b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21d23f6a949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313dc6110e4877" /><Relationship Type="http://schemas.openxmlformats.org/officeDocument/2006/relationships/slideLayout" Target="/ppt/slideLayouts/slideLayout1.xml" Id="Ra26cc40aa86240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6cc40aa86240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5d43123c64a30" /><Relationship Type="http://schemas.openxmlformats.org/officeDocument/2006/relationships/image" Target="/ppt/media/image.png" Id="R22c86df6e9fd4fb2" /><Relationship Type="http://schemas.openxmlformats.org/officeDocument/2006/relationships/image" Target="/ppt/media/image2.png" Id="R234ff9b3c32d4b7c" /><Relationship Type="http://schemas.openxmlformats.org/officeDocument/2006/relationships/notesSlide" Target="/ppt/notesSlides/notesSlide1.xml" Id="Rabceb52062ef4c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20058047b4b5b" /><Relationship Type="http://schemas.openxmlformats.org/officeDocument/2006/relationships/notesSlide" Target="/ppt/notesSlides/notesSlide2.xml" Id="Ra6d3c8aadf1844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c147b719f47b6" /><Relationship Type="http://schemas.openxmlformats.org/officeDocument/2006/relationships/image" Target="/ppt/media/image3.png" Id="R9cc12ea1b7cc4097" /><Relationship Type="http://schemas.openxmlformats.org/officeDocument/2006/relationships/notesSlide" Target="/ppt/notesSlides/notesSlide3.xml" Id="Rce46e9430a964b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a657183b546e8" /><Relationship Type="http://schemas.openxmlformats.org/officeDocument/2006/relationships/notesSlide" Target="/ppt/notesSlides/notesSlide4.xml" Id="Rea26785ffb294a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addb262964c9c" /><Relationship Type="http://schemas.openxmlformats.org/officeDocument/2006/relationships/image" Target="/ppt/media/image4.png" Id="Rc800bb067cbd4ca9" /><Relationship Type="http://schemas.openxmlformats.org/officeDocument/2006/relationships/notesSlide" Target="/ppt/notesSlides/notesSlide5.xml" Id="R890b4c01277f47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97f33c0ce4660" /><Relationship Type="http://schemas.openxmlformats.org/officeDocument/2006/relationships/image" Target="/ppt/media/image5.png" Id="Raee583c362824f5e" /><Relationship Type="http://schemas.openxmlformats.org/officeDocument/2006/relationships/notesSlide" Target="/ppt/notesSlides/notesSlide6.xml" Id="R36e13da9872c4f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da54ba0b34471" /><Relationship Type="http://schemas.openxmlformats.org/officeDocument/2006/relationships/image" Target="/ppt/media/image6.png" Id="R76dc3a9ce5f84ac0" /><Relationship Type="http://schemas.openxmlformats.org/officeDocument/2006/relationships/notesSlide" Target="/ppt/notesSlides/notesSlide7.xml" Id="R9def8b1866924a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3be4eab2b418e" /><Relationship Type="http://schemas.openxmlformats.org/officeDocument/2006/relationships/notesSlide" Target="/ppt/notesSlides/notesSlide8.xml" Id="Rd1a7caa696a74c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18acd22fb4bb8" /><Relationship Type="http://schemas.openxmlformats.org/officeDocument/2006/relationships/image" Target="/ppt/media/image7.png" Id="R7c1003599cf94eef" /><Relationship Type="http://schemas.openxmlformats.org/officeDocument/2006/relationships/notesSlide" Target="/ppt/notesSlides/notesSlide9.xml" Id="R43669548024141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8d686510e4da6" /><Relationship Type="http://schemas.openxmlformats.org/officeDocument/2006/relationships/notesSlide" Target="/ppt/notesSlides/notesSlide10.xml" Id="R838c701acfa14a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49d62697f4436" /><Relationship Type="http://schemas.openxmlformats.org/officeDocument/2006/relationships/notesSlide" Target="/ppt/notesSlides/notesSlide11.xml" Id="R2456d59e091e42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4cbc0eb0f4d65" /><Relationship Type="http://schemas.openxmlformats.org/officeDocument/2006/relationships/notesSlide" Target="/ppt/notesSlides/notesSlide12.xml" Id="Rc57fdb09f84147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85cc8d11a48a0" /><Relationship Type="http://schemas.openxmlformats.org/officeDocument/2006/relationships/image" Target="/ppt/media/image8.png" Id="R0fcc5527d2d1415f" /><Relationship Type="http://schemas.openxmlformats.org/officeDocument/2006/relationships/notesSlide" Target="/ppt/notesSlides/notesSlide13.xml" Id="Rf7f94dfc082b41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b7253671740b0" /><Relationship Type="http://schemas.openxmlformats.org/officeDocument/2006/relationships/image" Target="/ppt/media/image9.png" Id="R2f3a28c39ee842dc" /><Relationship Type="http://schemas.openxmlformats.org/officeDocument/2006/relationships/notesSlide" Target="/ppt/notesSlides/notesSlide14.xml" Id="R2e00678ca2974e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c64ad003c4a49" /><Relationship Type="http://schemas.openxmlformats.org/officeDocument/2006/relationships/notesSlide" Target="/ppt/notesSlides/notesSlide15.xml" Id="Ra13cc9b1642a42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8691e984945e7" /><Relationship Type="http://schemas.openxmlformats.org/officeDocument/2006/relationships/notesSlide" Target="/ppt/notesSlides/notesSlide16.xml" Id="R11cfc322d79346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e953114ed41e2" /><Relationship Type="http://schemas.openxmlformats.org/officeDocument/2006/relationships/notesSlide" Target="/ppt/notesSlides/notesSlide17.xml" Id="Rebf07d1f62c14f4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064ddc2854234" /><Relationship Type="http://schemas.openxmlformats.org/officeDocument/2006/relationships/notesSlide" Target="/ppt/notesSlides/notesSlide18.xml" Id="R608d225419dd44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8CF4B7-87E7-4D0C-A2CC-0C2C8878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86df6e9fd4fb2"/>
          <a:stretch xmlns:a="http://schemas.openxmlformats.org/drawingml/2006/main"/>
        </p:blipFill>
        <p:spPr>
          <a:xfrm xmlns:a="http://schemas.openxmlformats.org/drawingml/2006/main">
            <a:off x="781050" y="592308"/>
            <a:ext cx="1009650" cy="948984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ff9b3c32d4b7c"/>
          <a:stretch xmlns:a="http://schemas.openxmlformats.org/drawingml/2006/main"/>
        </p:blipFill>
        <p:spPr>
          <a:xfrm xmlns:a="http://schemas.openxmlformats.org/drawingml/2006/main">
            <a:off x="1943100" y="811244"/>
            <a:ext cx="2571750" cy="66351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88471-5D7C-4956-805F-DC32EDB9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584C8-D43C-4136-82CB-22F0EC36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详细答辩版｜主讲 + 备用页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F70E4-E980-455C-882D-C2548D8A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基于 PathVQA 数据集的轻量级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71E22-EA6A-421D-82B2-11FAB33E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0287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医疗视觉问答模型设计与实现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F06F2-70BA-489B-AB69-EFC14080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围绕“为什么做、怎么做、效果如何、系统如何演示、局限在哪里”展开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D33BB-1C22-4036-8F0D-141B475C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9F577-70FE-4D07-ACE7-B781FB62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答辩人：周健   学号：208221335   专业：人工智能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1143D-3498-4620-902F-87835C20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8096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指导教师：王青云 / 蔡亮亮    通信与人工智能学院、集成电路学院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953EC-B170-47E9-B30A-4205D1CE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建议主讲 7 分钟，附录用于问答</a:t>
            </a:r>
          </a:p>
        </p:txBody>
      </p:sp>
    </p:spTree>
    <p:extLst>
      <p:ext uri="{BB962C8B-B14F-4D97-AF65-F5344CB8AC3E}">
        <p14:creationId xmlns:p14="http://schemas.microsoft.com/office/powerpoint/2010/main" val="245290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DA85F8-5258-4B79-B86B-D2EECA8F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8EB13-3834-4F5D-929D-066B3173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7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41D10-02BA-4723-A9A1-72BC96FE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00 / 答辩路线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44203-D286-40A5-B471-65107BB5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先讲清楚主线，再用附录兜住追问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8C3F9-6D7D-4FBB-84BB-941E2743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答辩时不要逐字念论文，抓住每页的核心结论。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D0644-70CC-48A2-ACA5-74A4756A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64EDF-4057-4E1E-A6D8-6724BC48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289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CCC6B-1C8C-4297-829A-DFCB1743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67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24924-EDA2-4E13-A791-2B84B9C5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9D2C9-3ABE-4AA1-81FF-8BBC04EC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12420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为什么医疗 VQA 有意义，为什么选择轻量化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7FED3-964C-48AC-8E31-FFC4E657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76500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9B969-D592-43F4-97DC-08158FA1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289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8AFE8-BD65-4731-9B16-E4157D16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67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BE75C-35C1-4CF7-9DA0-CDDCB0CC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479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数据与模型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76064-165B-4EFB-B54F-4BE50E96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2420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PathVQA 数据处理、ResNet18 + LSTM 多模态结构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0C6518-2454-4E32-A83C-E9D8FA10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4553C-8A28-490D-B1F1-BCF70F64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6289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25712-D227-4105-A152-2EBD9A6C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667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B5187-5F81-4E4C-B4A8-CA7A3A2F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479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训练与评估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81CBDF-71A5-44BB-9245-2A44D142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12420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两阶段训练、Top-1/Top-5、Loss 与推理时间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B46E6B-E407-4D0C-B48C-04579C4E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76500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EE3AA-769E-470A-B1F4-291BAA75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6289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D6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47D267-0BAD-4D48-AFDB-476B2746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667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48E08A-323D-48D5-81AF-E17D9120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479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系统演示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1398EA-9D2E-4D7D-A56E-02452EE7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2420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Gradio 页面、Top-5 候选解释、演示边界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FD51E6-6905-420E-9700-B81B3BD2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76500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A5DCDA-9867-495C-8821-0D610FB1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6289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6A2227-48D4-4BD9-8BB2-F0339F40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667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610CD6-E336-492D-9B9A-B3E5C576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6479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F89450-8CE2-4557-A4FC-C01F7904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12420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已完成工作、局限性、后续改进方向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C521D1-F5B4-42D6-B618-F928A4B5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857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1678B6-580F-472D-A22A-2655579A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答辩话术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B6C951-A848-4551-848F-39BC6F7B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6029325"/>
            <a:ext cx="7448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每页只记一句话：我解决了什么问题，用什么方法证明，结果说明什么。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017222-A8D0-4AA4-B6C3-049035F7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7CB7CE-7175-4C27-824D-7EC41A7B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A681B5-7A03-44D5-AE90-8DAC93A4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963474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31A099-BE80-4998-80FB-96BC5A51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B2A6D-1CAA-49B0-9D9D-28FFE4BD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7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84A17-F1DE-46E6-970F-64D5FC57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01 / 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B5CE5-EE33-4F70-92DD-70D9E738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医疗视觉问答要同时理解图像和问题，比单一分类更接近交互式辅助分析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AC957-6284-4760-9120-2FB14262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它不是只判断一张图属于哪类，而是根据用户提出的问题输出有针对性的答案。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AA4EB-6E52-4F50-A806-1D1C5B05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8F4EF-4719-4E6A-BC92-01D7F32B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762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2895F-047E-477A-A799-3299CD9B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现实需求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B708B-EE1C-4D83-9AFD-AFEFB5CD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医学图像数量增长，基层医疗和教学场景需要更高效的图像信息提取方式。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95B49-5F5D-441D-9B6C-79D8A102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F9675-DB4A-4B93-B04A-44B91586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4762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1620B-0ED7-4C49-A87E-E6AB9CE5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7647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技术难点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88125-94FA-4E9F-A6A6-54B30EA3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38425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医学图像细节细微，问题文本包含专业术语，答案空间比普通分类更复杂。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D03D9-965E-4948-AE47-C0ED9108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34644-71B7-45B9-8C79-68CF427E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4762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6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29E1B-F2AD-4632-856E-44D52DEC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7647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本文切入点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DBE51-87E2-4BC6-B5EC-54B51EA2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38425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不追求大模型堆参数，而是验证轻量级多模态模型在原型系统中的可行性。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12ea1b7cc4097"/>
          <a:stretch xmlns:a="http://schemas.openxmlformats.org/drawingml/2006/main"/>
        </p:blipFill>
        <p:spPr>
          <a:xfrm xmlns:a="http://schemas.openxmlformats.org/drawingml/2006/main">
            <a:off x="4166607" y="4000500"/>
            <a:ext cx="3763537" cy="17145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013B9-1D3E-4381-ACB9-92D13446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857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A4DAF4-3A66-4EB5-9016-B2714392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答辩话术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55B08-8733-4013-B185-6D083F0D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6029325"/>
            <a:ext cx="7448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这一页重点说：我的系统定位是“医学图像问答原型”，不是临床诊断系统。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E2907A-FC97-4E83-B4D0-5FD963BE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8A48F4-C8BE-4686-A01E-5965A5FA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EB72EA-CEFA-42DC-9E8A-613A141C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865906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3C876F-DD60-43D9-908E-CD71C530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118A6-A74D-4BC3-98ED-841F4F30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7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B8A71-930F-4928-974F-54D41D7A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02 / 研究现状与本文定位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5C921-2925-4B14-9DC2-3253D655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高性能方法越来越复杂，本文强调轻量化、可复现和可演示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A8E68-D449-4E85-A852-4D0CB5CD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本科设计更重要的是把数据、模型、训练、测试、系统串成闭环。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BC66D-D4B0-45BF-AF13-A360A2AE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000375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43B26-A4BF-4F35-BDB3-777E0402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7625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3F2BC-8AF8-45E1-BC4C-3ADB0DDD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676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已有方向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8A60D-8B57-43A7-9A7E-1CD99092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26765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CNN/RNN 基础框架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注意力机制与双线性融合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Transformer 与视觉语言预训练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知识增强与医学先验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E8EE3-16D2-41F9-B41E-7C4476F1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000375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632AD-7E55-4DF0-A7EA-7C9835AC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47625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A3FDC-8995-426A-819D-E9D6C355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28850"/>
            <a:ext cx="2676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现实约束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7E19D-CB5A-4DF5-8544-32418C3A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90800"/>
            <a:ext cx="26765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数据量与标注成本有限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答案类别多且分布不均衡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大模型训练和部署成本高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普通设备演示稳定性要求高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A718EB-03E8-4ADA-86B6-90EE88FA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000375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79BDE-7898-4E2E-943F-1B75CE16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47625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6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92BE2-96EF-4EFD-8DB5-08976759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28850"/>
            <a:ext cx="2676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本文贡献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FBD64-A2F2-454C-A22D-91D3F458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90800"/>
            <a:ext cx="26765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固定划分保证可复现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轻量模型降低实现成本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两阶段训练提升适配能力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网页端完成交互展示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8F075-FB39-4C8C-A6E4-5C72BFCD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95875"/>
            <a:ext cx="628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A484D-5C48-482D-9A02-7DA07ED0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229225"/>
            <a:ext cx="601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完整闭环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286F6E-6A7F-4DBD-937E-AB8E1085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743575"/>
            <a:ext cx="594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数据处理 → 训练 → 评估 → Web 演示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110BF-1C3B-4A87-93C8-3685543D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857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B068C0-05C4-4921-8805-8514FF85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答辩话术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D7DA6-9D77-4996-A089-DEA7CBE3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6029325"/>
            <a:ext cx="7448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如果老师问创新点，就答：创新不是提出全新大模型，而是轻量化方案的完整实现和工程验证。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1617F4-123D-4354-969E-0A2286CF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C07E9A-A51B-4351-AF47-98BBB833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535E54-736F-4803-A5FF-67B3C0BF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629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5BF3B4-FD3C-4B2C-A4A1-5C0B4228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967D9-F9E2-4E8A-AC58-671BB869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7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09185-B70A-4C48-8043-1536030A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03 / 数据集与预处理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00119-5CD4-43A7-9630-C5957280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固定划分和统一映射，是后续实验可信的基础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35F3D-8209-479F-945F-C7FB1428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词表和答案类别只由训练集构建，验证集与测试集复用映射，避免信息泄露。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0bb067cbd4ca9"/>
          <a:stretch xmlns:a="http://schemas.openxmlformats.org/drawingml/2006/main"/>
        </p:blipFill>
        <p:spPr>
          <a:xfrm xmlns:a="http://schemas.openxmlformats.org/drawingml/2006/main">
            <a:off x="624138" y="2000250"/>
            <a:ext cx="5133474" cy="2438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6041F-678A-4B10-81EE-D10C4862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526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2D0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8302A-F4EB-4554-836E-00B17B2E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38375"/>
            <a:ext cx="1485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数据划分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022AD-FF2F-4EF2-A7FC-8A4D7982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526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2D0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59182-E928-481D-AA3F-30241E81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38375"/>
            <a:ext cx="1200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样本数量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A5E6E-B1F8-469D-B234-D231C0C3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526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2D0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931C2-D272-4026-8321-7E3FDF1B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238375"/>
            <a:ext cx="2247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EF69E-3A39-4491-B001-98E00E2B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479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B8141-DCFD-4FAD-B7CE-51573CBB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33675"/>
            <a:ext cx="1485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训练集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0885A-4F7D-4961-9739-6DB566DC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479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A0017-5CB7-4951-B670-C044216D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733675"/>
            <a:ext cx="1200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12,523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F3147-45BB-49EA-B511-0E675AAD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479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9094C-7D9F-4228-99D1-47F2DD14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33675"/>
            <a:ext cx="2247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模型参数学习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01741-2D38-4AF7-A01F-52379B43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7EE18-566E-4611-B2C2-042E4BCA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28975"/>
            <a:ext cx="1485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验证集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C6401E-7E69-402A-86D0-57FDE69A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432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AAAC4B-8828-44F1-833F-4CBF1A79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28975"/>
            <a:ext cx="1200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2,438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479391-424D-4B18-BEFD-7B3143BD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432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0B6FBE-FE7F-4F96-917B-352ADB96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228975"/>
            <a:ext cx="2247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训练过程选择模型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478075-6DD6-4EDA-92DD-64851CF9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385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DB900-593D-4C3D-B3CD-FD99BD2B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24275"/>
            <a:ext cx="1485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测试集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6291F-3E70-4022-AE5B-D21E3FFD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385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EEF48-6FA9-4FD7-8CBF-183D408C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24275"/>
            <a:ext cx="1200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2,342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B92335-A4C5-4ABE-B087-0CB74776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6385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331C5E-3A60-4D94-A065-E7252F86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724275"/>
            <a:ext cx="2247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最终泛化评估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4752B4-F2DD-4A9C-A255-01F62042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B3723D-B9F8-4167-95A3-9BFABAE9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148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问题最大长度 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9F9CF9-12E5-463C-9CC9-E218DD33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7675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871E9C-B6DD-44A1-8314-41BCC15A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148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rPr>
              <a:t>词表 4,331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EF9F75-047E-49B6-BEAF-C89A4513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175882-3BA6-441D-A620-761A5CB9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5148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2D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2D69B"/>
                </a:solidFill>
                <a:latin typeface="Microsoft YaHei"/>
                <a:ea typeface="Microsoft YaHei"/>
                <a:cs typeface="Microsoft YaHei"/>
              </a:rPr>
              <a:t>答案类别 2,079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348904-14DD-4A82-BB21-21D5460F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857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6D8955-B25F-4448-AB09-D1640478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答辩话术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6AE381-0ACB-46BC-9A35-7261FDB2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6029325"/>
            <a:ext cx="7448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这一页要强调“可复现”：不是每次随机切分，而是固定 train / val / test。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2B1BB2-3391-4C59-894D-D25984BE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C9AC32-E4F8-4968-9F29-3D626BA9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FB7924-1022-40EA-9E14-93C4C45A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649143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742AF2-BB1E-4092-B0D7-A9E4B91B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98B87-9F42-4C40-8271-73A0BD20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7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F0B75-D0A9-491E-B38A-0AEED5EB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04 / 数据特点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D94E5-A959-44CF-AB4A-D2A1CC4C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答案类别多且不均衡，所以需要同时看 Top-1 和 Top-5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C15F2-25DE-4DF6-9614-3888BE26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Top-5 能反映模型把正确答案放入候选范围的能力，更适合候选推荐系统。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583c362824f5e"/>
          <a:stretch xmlns:a="http://schemas.openxmlformats.org/drawingml/2006/main"/>
        </p:blipFill>
        <p:spPr>
          <a:xfrm xmlns:a="http://schemas.openxmlformats.org/drawingml/2006/main">
            <a:off x="1069462" y="1952625"/>
            <a:ext cx="5957326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76D89-06B1-488E-B939-12854FC3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3143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ADC48-D6BA-46CB-B08D-3CC1E4BC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4762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950A9-8135-4936-9E8D-9BB6BD83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现象 1：高频答案集中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BAAF5-33A6-45B0-9C24-CB42E361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90800"/>
            <a:ext cx="28194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yes / no、检查方式、器官名等高频答案占比较高，模型容易学习到这些分布规律。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78B6F-7372-4742-9102-B6EDE7E0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143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CAF6A-9CFE-4AA1-AADF-BA0A140F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4762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1DE06-E0FC-42AF-9F78-5761B78B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6710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现象 2：长尾答案较多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F0A29-7A4A-4937-87D7-CDA887FF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28194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答案类别达到 2,079，医学异常和诊断表达有长尾分布，Top-1 难度较高。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63C04-B796-445F-8C67-88143639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3143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5618B-3BB5-4562-9D6D-E941F45B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47625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6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4960B-4DC7-4BB1-8554-A227A17F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0535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展示策略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0CAA8-611A-4374-A880-D99357AD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67300"/>
            <a:ext cx="28194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网页端展示 Top-5 候选，不把单个概率包装为临床置信度。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5AE81-8FE3-4D3C-82F6-0F62C179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857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047B3C-3194-4E30-AB5E-C69CA925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答辩话术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79B36F-1D64-47D9-8BE2-EDCDC0F8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6029325"/>
            <a:ext cx="7448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如果老师问为什么 Top-5 高很多：因为答案空间大，正确答案进入前五说明模型有候选排序能力。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C048FE-8B14-4745-912A-00610EF7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2D233F-EE0A-4F58-A31C-0264334C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0987D5-2681-4D03-B286-F944BA99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93503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4EBFFC-6E9D-49EA-BF8D-4D0892A6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2E0ED-0D9C-430D-BC58-3584E4FE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7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A4C0B-6D64-4099-8205-B107E835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05 / 总体模型结构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86213-0EDF-41DC-93C2-CC3DBCDB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图像分支和文本分支分别编码，再拼接为联合特征进行答案分类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E55D4-517A-4A3D-A064-FCA927C9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本文把医疗 VQA 建模为多类别分类任务：从训练答案集合中选出最可能答案。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c3a9ce5f84ac0"/>
          <a:stretch xmlns:a="http://schemas.openxmlformats.org/drawingml/2006/main"/>
        </p:blipFill>
        <p:spPr>
          <a:xfrm xmlns:a="http://schemas.openxmlformats.org/drawingml/2006/main">
            <a:off x="680536" y="1905000"/>
            <a:ext cx="7782928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1DDB1-4CFD-4DC4-9398-59420ADB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193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FFB37-7685-41EF-B857-B4548245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19300"/>
            <a:ext cx="4762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82F93-D24D-4B80-BDFA-D4F78AED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526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22ADC-2D50-46BE-B164-B5E750A7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146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医学图像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英文问题文本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FF5DF-EC44-47A6-A6D0-BC0EA61A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19425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97B05-94C0-4550-91DA-818F3A20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19425"/>
            <a:ext cx="4762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A1532-7795-45E4-872F-5B8FF143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52775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编码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3E2D4-DD5B-41B5-B28F-82538F0C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14725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ResNet18 → 512维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Embedding+LSTM → 256维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11A0B-F225-4BEC-88DB-AE1A5C56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704C0-9F72-4694-A342-B4F588D6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4762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6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526EE-C929-4BAC-85CB-2EE85861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2435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142A0-FC61-48A2-A991-330711BB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8630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融合特征 768维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分类器输出 2079 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B1616-F94F-4670-A15E-E50424DC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857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C3F74-7AD5-4FC9-A240-3B152044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答辩话术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ACCD38-054F-4623-9E28-B7CB6794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6029325"/>
            <a:ext cx="7448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讲的时候按输入、编码、融合、分类四步走，不需要一上来讲公式。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DF4986-7C2C-44F4-A24C-0D9BE51B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B46EA5-7EFF-49D2-9FC7-271D965A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D833FC-FBB9-4360-81B5-3B0B278B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942565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9E5409-DD76-4BC3-B291-9A09DAFC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0AEE9-76B1-408D-B9BA-DAED80A0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7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757FF-9605-4FD8-B0B2-322C6280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06 / 关键模块细化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F5319-E548-4424-A655-2BBF1287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模型轻量化主要体现在 ResNet18、单层 LSTM 和简单特征拼接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98708-0AEF-4525-8532-73E8FE4F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结构简单的好处是训练成本低、调试清晰，缺点是细粒度对齐能力有限。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A3F07-2536-4653-B14A-DDC87D49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8DD3A-DF39-4A34-9E6A-B3F1D2BF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47625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F9995-DAD1-4EC6-98F2-67909784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图像编码器：ResNet18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F08BE-B915-46C2-8D40-D41CDAFF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9146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使用本地预训练权重；将 fc 层替换为 Identity；输出 512 维视觉特征；第一阶段冻结，第二阶段只微调 layer4。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0FADF-E14E-49AA-A252-FAC65E1B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F9B47-591B-41DB-8F9B-D6A146F3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47625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09722-D1ED-45FC-B27A-CF1DEB82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098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文本编码器：Embedding + LSTM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02699-B8BE-4845-BD7A-64F4FAC5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71750"/>
            <a:ext cx="29146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简单分词后映射到词表；Embedding 维度 128；LSTM hidden 维度 256；取最后隐藏状态表示问题语义。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04B87-D801-4F9C-94EB-EF7AFCC7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AC15D-1E45-4A58-80F5-B491FD90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47625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6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17D16-7C22-4663-98BF-1F956061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98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融合与分类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DA205-7E62-4C0B-A609-DC54E329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29146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torch.cat 拼接为 768 维；Linear → ReLU → Dropout → Linear；输出 2,079 个答案类别的 logits。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69D16-85BB-42EE-A9E7-41E58D63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0125"/>
            <a:ext cx="2667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A37289-9987-4D59-A5D6-0BD15887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943475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768维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1A252-235A-4F1D-B708-C28A8378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57825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512 图像特征 + 256 文本特征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E6D1F-6D3B-423C-B645-E4F8310B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10125"/>
            <a:ext cx="2667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C990C-07E0-4457-94EA-2D715A1D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943475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rPr>
              <a:t>Dropout 0.3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C82607-1150-4D55-9CDB-7F4944B9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457825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降低分类器过拟合风险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5C13E1-4295-499E-8B6F-37C8B044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10125"/>
            <a:ext cx="2667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3AFA15-000B-462A-8CBC-DCA171E7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943475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2D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2D69B"/>
                </a:solidFill>
                <a:latin typeface="Microsoft YaHei"/>
                <a:ea typeface="Microsoft YaHei"/>
                <a:cs typeface="Microsoft YaHei"/>
              </a:rPr>
              <a:t>Softmax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37D3C7-261D-4DD7-8485-0BED8E44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57825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用于候选答案排序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11C889-1748-4F8E-B0F3-E4F3AFE3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857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200683-9D52-47D0-875B-7890E460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答辩话术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94E0A3-FFC7-45E1-A8EB-3C2B8CD9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6029325"/>
            <a:ext cx="7448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老师问为什么不用更复杂模型：因为本文目标是轻量原型，优先保证可训练、可部署、可解释。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3EEF67-B497-4F0F-AAF2-FFAEC543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5BD475-14E0-444D-A3FE-15893030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68BAFA-743E-4493-B052-FBD497EA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41158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059013-DA6D-46BD-848D-EB6463A8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B9313-3AA3-46CD-BE33-180E6A7E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7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3F5E0-C612-48AA-855E-0C79C83E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07 / 训练策略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2D705-AD21-4296-BF3A-1955B848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两阶段训练让模型先学会图文映射，再适配医学图像高层特征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FC032-3913-45C9-B9AE-373BF154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这是一种在性能和训练成本之间折中的微调策略。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003599cf94eef"/>
          <a:stretch xmlns:a="http://schemas.openxmlformats.org/drawingml/2006/main"/>
        </p:blipFill>
        <p:spPr>
          <a:xfrm xmlns:a="http://schemas.openxmlformats.org/drawingml/2006/main">
            <a:off x="666750" y="2018740"/>
            <a:ext cx="5905500" cy="215377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D1033-87BC-4E6C-A02C-2035E1F2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00250"/>
            <a:ext cx="3714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D0E05-8240-4042-A3BF-D9B77804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19FE2-1669-4D57-9027-2A6B697C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907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E93D9-913B-4B7D-9650-C2A7A20A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717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第一阶段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87CA0-5D30-4059-BE76-76B0F8E1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647950"/>
            <a:ext cx="33718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冻结 ResNet18 卷积层</a:t>
            </a:r>
          </a:p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训练文本编码与分类器</a:t>
            </a:r>
          </a:p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5 个 epoch，学习基础映射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EECA8-4D9C-4969-B542-BAA3544B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19500"/>
            <a:ext cx="3714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46F5F-C1CB-4243-9AEA-E9977EF9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7719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38B8D-9459-41FB-8FEC-BBFE5263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810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F404E-40B8-4A43-AD75-92307063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9095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第二阶段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94984-0F27-4AF9-9823-BD22FD48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67200"/>
            <a:ext cx="33718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加载第一阶段最佳模型</a:t>
            </a:r>
          </a:p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解冻 ResNet18.layer4</a:t>
            </a:r>
          </a:p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分组学习率微调 3 个 epoch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366D2-6E8A-4C3E-B13A-EF4A7E4E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19625"/>
            <a:ext cx="1524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997BD8-4366-4FC9-8150-AD89F154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577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stage1 lr = 1e-3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5FA95-CC76-475F-B5D1-A1129286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19625"/>
            <a:ext cx="1524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E49CA-DC99-4C71-9C07-E6C62FB7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577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rPr>
              <a:t>layer4 lr = 1e-5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45C852-3475-4B1C-9BB2-F9F930E8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19625"/>
            <a:ext cx="1666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F8394B-5D0E-4D71-AEA7-739A78AD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57725"/>
            <a:ext cx="1666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2D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2D69B"/>
                </a:solidFill>
                <a:latin typeface="Microsoft YaHei"/>
                <a:ea typeface="Microsoft YaHei"/>
                <a:cs typeface="Microsoft YaHei"/>
              </a:rPr>
              <a:t>其他模块 lr = 1e-4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7FD4AC-208E-4BEC-AA9A-BF838394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857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B8FC08-8803-415F-8EE8-475A567E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答辩话术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9B6BC5-566C-4072-A71A-5F0B291B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6029325"/>
            <a:ext cx="7448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讲清原因：底层边缘纹理通用，高层语义更需要适配医学图像。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DA248D-3388-4C86-9512-2892601E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478AA9-9E2A-4D3B-8F06-40E03CF7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6CA2D4-A46B-4AE6-9130-BCA443FA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911218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0EC3D7-E84E-4551-9751-486DED13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931C0-CE74-44EF-9ACA-23EBEB95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7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E23BC-1424-4070-A080-89D64E4C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08 / 实验设置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0CEC0-2703-4821-BF43-50070121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评价指标围绕分类效果和演示实时性展开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CFAF2-EC32-4642-BC0C-5FA673AC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Top-1 看首选答案是否正确，Top-5 看候选排序是否覆盖正确答案。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2F233-7BF2-4FDB-A33D-9EB1F695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2D0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72611-78F5-40A1-8B62-F1FEB0E7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3906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96370-ACAB-47B9-A693-C5D6B06C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52625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2D0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312C7-A441-4DC7-9A54-7B16FD37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383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配置 / 取值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62D5C-D96D-4F70-B0DB-CC43A190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52625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2D0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FE864-2D68-4E66-AB74-D21CC8FF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38350"/>
            <a:ext cx="51054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D80CC-F90F-44F4-BCCC-8A312DA7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0119C-AE0E-4C4A-8E9A-3C5ABF66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3906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操作系统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654D1-9C7E-4907-BAC0-9105B82E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47925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A2B9F-52D4-44C7-87FB-133B8259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336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Windows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F583B-4E5F-46A5-9437-10C5CD31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47925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F4124-3685-4518-8756-B8A5C2B9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33650"/>
            <a:ext cx="51054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本地实验与演示环境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0B9BB-CB3E-4354-8847-95FA85C8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437C7-1B9C-4BC1-9256-D566C30A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3906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框架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878D2-818B-4E58-94A6-82A530DE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43225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94081A-31AB-4A7A-97F7-4D1255AB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28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C4514-2A55-4A81-8970-33C50BAD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43225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98B0C-7711-4AA5-9886-0E2DF210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28950"/>
            <a:ext cx="51054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模型训练与推理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D61F76-5892-4AD8-835C-2AE84C31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708BEC-471D-43C2-B969-F4F9B276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3906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D5DD34-AE61-4992-9EF0-A01F30C5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38525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50FFC4-BD0C-4739-8D9E-C2CA07E5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242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RTX 3060 + CUDA 11.8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22EDD3-35F1-4131-8FDC-D4057ACF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38525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380048-A07C-4F45-BDA2-5E639C60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24250"/>
            <a:ext cx="51054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用于加速训练与推理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192FCA-3B97-4FAA-AF5E-EC2E74B3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338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16A1AF-A0AC-4658-9236-317C9F2B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13906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损失函数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660C72-6EE6-4CEC-89FA-090F5850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918157-5CB7-4A9E-8871-5274C8F8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195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Cross Entropy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301F4F-A275-48B6-9D79-D2356E91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933825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4956D6-3699-4B65-9956-8E855E38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19550"/>
            <a:ext cx="51054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多类别分类常用损失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2B0FB1-6F96-49D9-8107-43792A50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291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ACF854-AA04-45B9-AFAE-AA1F7930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13906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批大小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34BF70-2CEA-4745-ADBA-7E790836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29125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EFC872-B117-4815-AD21-782B14AF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148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8 / 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EABE0D-25B1-4916-AD7D-EEFF359E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29125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8EA014-0825-44BF-AE66-DCDEA3A8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14850"/>
            <a:ext cx="51054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训练与评估分别设置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5405D0-A596-4BD9-8FB9-FF6282FF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B8DC27-B97D-43E3-AB2F-6CC3629E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3906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Top-k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932805-0B17-43A7-8E79-2CFF7C4C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24425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E2BB1E-3A04-4D0D-AE80-42B25675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101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362E1C-48C8-437F-80FE-8D9F3449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24425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4E5BBD-5FEF-4D9B-89DF-86144D9A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010150"/>
            <a:ext cx="51054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网页端展示前五候选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72019B-2DFC-451A-B0AA-CF2B58FA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9906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5A214A-D37D-4571-8077-C631B09A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47625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3417C4-A64E-4763-8EB4-92976D86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05475"/>
            <a:ext cx="958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核心评价逻辑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A52A38-2D98-4BF9-8E4E-5950F089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67425"/>
            <a:ext cx="95821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测试集不参与训练和调参，因此最终测试结果更能反映模型泛化能力。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B045C2-A191-4054-85B3-99008602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EA4FF2-00FB-46E7-B213-68C0AF02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D77443-F500-455F-A0C9-2F304584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521325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96484A-1952-499F-8667-450B272B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0D9F9-7BA0-4A64-AC81-D40CB11F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7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6BE33-22EE-4B72-BBC4-24E63EAF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09 / 验证集结果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109F2-DB78-43E2-AA87-096026EE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二阶段训练过程中验证损失下降，验证准确率提升到 0.4987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AE8E8-0C63-4D33-92C1-A2A7F4AD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说明解冻高层视觉特征后，模型对医学图像特征的适配更好。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5AB43-CC90-4445-AD52-AB79CD43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2D0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9991A-6F4E-40B5-92CC-DC435436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2152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D9E2E-8891-4EFE-A910-4E86213F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431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2D0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302E2-CD79-47A2-9856-B8789DED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28850"/>
            <a:ext cx="1390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Val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A86EC-09F9-49D9-AEC9-0D502FC2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2D0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8B362-4067-429F-AA43-1F0EDDDB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28850"/>
            <a:ext cx="1390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Val Acc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66107-FF46-46B3-A9E9-45625808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2D0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1D516-ABDA-4AFB-B604-541EF6A4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28850"/>
            <a:ext cx="4724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BA5E4-231A-4CAC-A5A8-16295A03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B2FD5-24E9-4998-9A98-BB2F4D77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2152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第一阶段第5轮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FDD6A-BADA-4BF5-94C8-6C37319D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336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A017E2-1FFD-410E-B7E6-F2007980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19400"/>
            <a:ext cx="1390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2.1022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86D67-F5EE-4B98-99E2-4A7DD25D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336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5ACF99-9467-4390-8041-F604D1C5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19400"/>
            <a:ext cx="1390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0.4171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C6F89-316F-4453-845A-E01865DA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33675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6A756-EC2D-40B8-BDA0-D79A4F2A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724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冻结图像编码器训练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17CD91-02D2-4F3C-9690-81CC647C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2FB4B-8A5C-4B92-A158-966AC0CC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2152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二阶段第1轮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C650C-4EF4-42A8-8C6D-FA59DBB6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242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188C13-344A-43AD-89F0-C0F74231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09950"/>
            <a:ext cx="1390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2.0060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773F70-A1CC-4C8C-A470-FED0F3D2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242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E2B570-031B-4B53-892A-904C70B9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09950"/>
            <a:ext cx="1390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0.4500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33EDD-16A8-4E41-AF7B-31688296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24225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C2219A-A050-49B1-9D55-1042F69D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09950"/>
            <a:ext cx="4724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开始微调 ResNet 高层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AE01CF-5E1B-47FB-8B1D-2333D5A5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1477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86343C-2161-4BEC-A0BE-947B49DB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2152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二阶段第2轮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9136A9-5884-44BD-A8B4-1CACAE10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147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D3678C-E337-4E9B-BD4B-BAF2E5B8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1390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1.9683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AA6E7E-4F9A-4FCD-9F1D-D83B9CB1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147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72C8CC-F087-4941-B449-31F5B7B3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00500"/>
            <a:ext cx="1390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0.4635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3F9E5D-28E8-4472-9B4A-E78A0CA6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14775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8FF6D3-86F3-4E99-989E-F98ADA63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00500"/>
            <a:ext cx="4724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验证性能继续提升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B8C931-36BC-4EB9-BA2B-FEDEB100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0532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EEEC03-C54D-415C-944C-26C2F597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2152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二阶段第3轮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B50632-35C0-4901-901A-225B6192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053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89C0DB-F4EE-4131-9B2F-2FF3FF35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91050"/>
            <a:ext cx="1390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1.9472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CA9A0E-455A-496E-849B-352531E2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053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0A9E7B-405C-4A35-962E-E6D49086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91050"/>
            <a:ext cx="13906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0.4987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28FEB8-12EB-49F7-A3A2-D8FC7F2A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05325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41FFB6-7FB0-4389-A111-8A1BE18E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91050"/>
            <a:ext cx="4724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保存二阶段最佳模型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A9831B-C85E-404D-8DB5-96F4B108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247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D48AAE-656F-441C-B0B1-8A00346F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467350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0.4987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6C53B7-8D09-4BBD-8C2D-E08F1EE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98170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最高验证准确率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CA888E-3675-474C-8B7F-C93F4CE3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34000"/>
            <a:ext cx="247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1EAFD8-83DA-4CC1-A8A4-BE04D775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467350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rPr>
              <a:t>1.9472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1BF0E4-8BE2-48C2-8AAA-0A926425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8170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最低验证损失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275B2B-762B-4310-B5B0-EACE4825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34000"/>
            <a:ext cx="247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B68919A-19BB-4D00-BD71-EE33A880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467350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2D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2D69B"/>
                </a:solidFill>
                <a:latin typeface="Microsoft YaHei"/>
                <a:ea typeface="Microsoft YaHei"/>
                <a:cs typeface="Microsoft YaHei"/>
              </a:rPr>
              <a:t>layer4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FB40EA-0CC7-4B69-AFCC-369CC791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98170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高层视觉特征微调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6AD378-6D71-4BF8-B06C-2BE5C4C8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C6204A3-E070-47B3-B633-92D96596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DB0841E-7FD4-442D-B2E3-ACDA3BB0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312469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08C05F-5011-46F5-8990-DF9AEC39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8C8CF-4DF3-4DC7-88F0-4B263579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7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C4C40-1051-4A4B-8D87-C839725B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10 / 测试集结果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11A84-DE4B-4854-9042-9D4CA2B8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最终测试显示二阶段模型 Top-1、Top-5 均有提升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16AD2-C645-4F0C-8AD2-D193AB76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Top-5 达到 85.65%，说明模型具备较好的候选答案排序能力。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64702-2E44-48BF-91CC-F9A4B4A0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38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BB829-BE24-4A1A-8FA5-E5D30075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81225"/>
            <a:ext cx="211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49.87%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5F4BD-A8A7-43AA-832A-5FB7A0C3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第二阶段 Top-1 Acc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52C5B-0184-4AE5-BBC2-7F153794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238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50F63-165B-4CD2-9917-55F24C22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81225"/>
            <a:ext cx="211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2D6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2D69B"/>
                </a:solidFill>
                <a:latin typeface="Microsoft YaHei"/>
                <a:ea typeface="Microsoft YaHei"/>
                <a:cs typeface="Microsoft YaHei"/>
              </a:rPr>
              <a:t>85.65%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E8038-140F-4326-9A34-00D7B77F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9557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第二阶段 Top-5 Acc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76FAA-5611-471B-BDAE-76A795A3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238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9945C-BDE6-4809-9B93-4218BAE7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81225"/>
            <a:ext cx="211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C857"/>
                </a:solidFill>
                <a:latin typeface="Microsoft YaHei"/>
                <a:ea typeface="Microsoft YaHei"/>
                <a:cs typeface="Microsoft YaHei"/>
              </a:rPr>
              <a:t>1.6937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75719-8508-4183-AEC2-0FBB125A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9557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第二阶段 Test Loss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0D2FD-F9A8-44E0-AB1A-DE290E71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238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7C535-25C2-46AF-B004-B547AEF3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81225"/>
            <a:ext cx="211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D7C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D7CFE"/>
                </a:solidFill>
                <a:latin typeface="Microsoft YaHei"/>
                <a:ea typeface="Microsoft YaHei"/>
                <a:cs typeface="Microsoft YaHei"/>
              </a:rPr>
              <a:t>0.007s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3AFCAD-B822-4EF0-B0FA-6EEF86D4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9557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平均单样本推理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647BA8-F2C0-4070-B43F-021E1707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1476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Top-1 阶段1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8AC392-5773-4C14-9C8C-D4E2A481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43325"/>
            <a:ext cx="4762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B3AD1F-BA6C-4311-9B2E-56F92B1C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43325"/>
            <a:ext cx="2102644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ABE21-204A-433F-BCD1-033FEB1B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957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44.15%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2370B-7D46-438A-A1FE-89F43ECA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24325"/>
            <a:ext cx="1476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Top-1 阶段2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25320A-4A42-4916-A335-E57B98E2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71950"/>
            <a:ext cx="4762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A848A4-33C2-45BC-A599-CE4D4D68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71950"/>
            <a:ext cx="2375059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130B81-1840-4AFF-8F57-44ACF23A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12432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49.87%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FA7A9C-95B3-4629-92AA-0F7D8649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1476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Top-5 阶段1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4BC72F-80F4-4DB8-8926-CB865783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38700"/>
            <a:ext cx="4762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6960FF-3377-4DF2-8D0A-16959538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38700"/>
            <a:ext cx="3875723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890435-145E-40F6-B905-580020AA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79107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81.38%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56EA40-BBD0-44BA-B897-9E6E7715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1476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Top-5 阶段2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804DA8-2A19-4998-AC18-8318190A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67325"/>
            <a:ext cx="4762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E37FE2-109D-4B96-88B1-834C5002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67325"/>
            <a:ext cx="4079081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6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5A5506-F025-452F-AED3-E1918E23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2197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85.65%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FA1126-0057-4CF3-88B1-2E204167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B4AD78-6D24-41CF-88E6-61B21077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4762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3EE95F-2F6C-4DD3-9437-11EBA16E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4810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一句话结论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F2A819-4210-4C0F-84EF-B5F5D3BF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10050"/>
            <a:ext cx="2247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二阶段微调后 Top-1 提升 5.72 个百分点，Top-5 提升 4.27 个百分点，Loss 下降 0.1840。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15632C-2184-4BD8-A124-5BFF17AB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1EE93F-7973-4BDC-8827-47C4EB9D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1808CE-5E15-43E0-AF29-E4B5DAE4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486856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672F97-DD24-4D6A-B929-78C54741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29874-7C0F-44A4-A45D-6FEC1D38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7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B8F17-6E06-4936-A93D-8EB3F72D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11 / 网页端系统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7ACB4-3248-462C-A199-DFE6F7A8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Gradio 页面把模型能力转成可现场演示的交互流程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E8CAF-F8CB-41E1-85A1-5C1B6236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重点展示上传图像、输入问题、Top-1 推荐、Top-5 候选和结果解释。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c5527d2d1415f"/>
          <a:stretch xmlns:a="http://schemas.openxmlformats.org/drawingml/2006/main"/>
        </p:blipFill>
        <p:spPr>
          <a:xfrm xmlns:a="http://schemas.openxmlformats.org/drawingml/2006/main">
            <a:off x="793119" y="1885950"/>
            <a:ext cx="7033888" cy="4114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BB828-262A-4B9D-8A6F-90F0358F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2667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19FAD-9FAA-4917-9146-66BFC579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47625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AB743-CAEC-444C-AF24-A486A6AA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133600"/>
            <a:ext cx="2343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输入层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B5C87-618F-403C-9C57-AB962AFB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4955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医学图像上传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英文问题输入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示例图片加载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E58FB-6A71-4EE8-B9F2-73D1467D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00400"/>
            <a:ext cx="2667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3EBF7-B9A4-4153-BD07-1765F853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00400"/>
            <a:ext cx="47625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1E512-73F8-418C-A715-6712A350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333750"/>
            <a:ext cx="2343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推理层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6FC37-270B-41D3-8AAC-8B831EAA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9570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加载二阶段最佳模型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使用 GPU/CPU 自动选择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Softmax 输出排序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107B2-AF6F-47E8-924B-63E79315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72000"/>
            <a:ext cx="2667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B9F74-D99B-4A42-8254-9FB577BB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72000"/>
            <a:ext cx="47625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6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CCA3B9-3275-4229-B876-D01FAD67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05350"/>
            <a:ext cx="2343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展示层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5D4061-6341-4B22-826C-5F76AB4D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06730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Top-1 推荐答案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Top-5 候选答案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Top1-Top2 差值解释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DBBDA-2077-4593-8B27-BA0652FC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3429D6-D5CF-47DC-9CB6-4EE3C846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8F39D-C89F-4056-9E7F-F64AA42A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4538865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D8C4FC-ED0F-4724-A483-4083E9B2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B9336-A0F1-47C2-8378-F6D8E044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7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26053-5D07-44FA-9980-E0640586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12 / 演示策略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FD682-87F3-491E-BB91-48D9625C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现场演示要稳定，不要临时自由输入太多陌生问题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7D24B-EA8B-4F6A-A9C7-21E32CFF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使用系统内置示例和高频问题，既能展示功能，也能减少输入分布偏移。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BE372-32A2-4113-8984-288BCBE6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190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BEBBB-28DD-4C77-A794-D59AA11F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EE771-9749-4F5D-BBEE-A1CF3E2A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07D77-8757-4FD1-B3D4-345B51EA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574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载入示例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EF712-DB96-4E15-9D58-73EB087A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1847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点击“载入示例1/2/3”</a:t>
            </a:r>
          </a:p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自动填入图像与问题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49857-01A9-4DB8-893B-3FB23F8C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67050"/>
            <a:ext cx="3333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0A0D5-3DF7-45F1-97FF-80E762E2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00375"/>
            <a:ext cx="1524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6EBCF-4965-42AE-8231-B341C780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86000"/>
            <a:ext cx="2190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0D4CD-D23C-4BB5-A932-AE80291B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4384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603DB-FEFB-4736-A326-F1D3BF5B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4765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7BB39-9B0E-40D4-B0A5-A007B792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开始问答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51F39-D45D-4B17-A2E8-918A0A44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933700"/>
            <a:ext cx="1847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点击按钮后等待推理</a:t>
            </a:r>
          </a:p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状态栏显示设备与差值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9144C-DF3C-4A77-A8A3-CF591502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067050"/>
            <a:ext cx="3333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E3E394-B176-462E-8E76-14DCC559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0375"/>
            <a:ext cx="1524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0FE21-E03B-414D-99CE-9DFE0E0A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2190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1728E9-EFBA-4F85-82F2-D5715B06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384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62D6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20F82-C183-4611-8446-6DA9E941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547EF-74AD-4A55-A7B1-D90EEB9A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574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解释结果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5AE06B-3A5E-4D67-94EB-5F9791AF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33700"/>
            <a:ext cx="1847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先读 Top-1</a:t>
            </a:r>
          </a:p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再说明 Top-5 候选范围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41CA22-D19E-4DA0-9FF5-5CBEE650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3333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AD099C-0B3B-4724-BE03-3C098011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00375"/>
            <a:ext cx="1524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A9A554-BB9B-4B60-A1A5-C5082E09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286000"/>
            <a:ext cx="1714500" cy="17621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0E56AE-D5E0-4DD1-B7FD-3B2B8625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4384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0FA7AB-DAE4-4A90-B953-BCF3DC7C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4765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AB8C62-92B7-4C8B-A8CA-7000B66B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45745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说明边界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4EC0B0-BC32-45EA-ADAE-24EE3E93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933700"/>
            <a:ext cx="13716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概率用于排序参考</a:t>
            </a:r>
          </a:p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不能替代医生诊断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a28c39ee842dc"/>
          <a:stretch xmlns:a="http://schemas.openxmlformats.org/drawingml/2006/main"/>
        </p:blipFill>
        <p:spPr>
          <a:xfrm xmlns:a="http://schemas.openxmlformats.org/drawingml/2006/main">
            <a:off x="4370620" y="4429125"/>
            <a:ext cx="3450760" cy="119062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F270C1-5DB7-4073-B1A3-C16AF102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857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5B0119-EC44-4E44-A951-8955502D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答辩话术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1844FC-6B60-4F95-A77F-F18404F3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6029325"/>
            <a:ext cx="7448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演示时说：为了稳定展示模型能力，我使用训练集中高频问题作为演示入口。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F42141-01F1-454D-8EA9-51446F7B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A39594-EC21-4B99-94D5-D9DE646D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45DC9F-05FD-4333-8485-91C10208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857323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9450ED-D632-4CB5-86ED-F3703D73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1B6D8-A246-4958-AEF8-96BCCB78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7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E1EE9-A6E5-4F4F-9021-C03CF7C8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13 / 局限性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815D0-8F2D-4622-993D-4C5A30F3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模型已经可运行，但仍是原型系统，不是临床诊断工具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D74B1-D74F-40BE-B127-0314362C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主动说明局限，反而能体现你对系统边界的理解。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94EFB-84E5-4BFB-B247-63371A42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F399F-E4DF-47C0-8E57-4FDDF14F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762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70BA0-6E7F-4188-B165-E7DB679B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结构局限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DCDC6-5A8A-4E0C-A2C4-C2613487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2819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融合方式是简单拼接，没有共同注意力或交叉注意力，对细粒度区域和词语对齐能力有限。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F4AB9-F488-4BD0-9B27-7BCBDAA1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540E3-2675-4647-AB8F-DC0A08CC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4762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9C89E-ABED-454E-AFA9-A8CF2A44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7647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数据局限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E2924-90B9-4CD1-A20B-CD387B63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38425"/>
            <a:ext cx="2819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答案类别长尾分布明显，同义答案和长短表达混杂，会增加分类难度。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168FB-24E6-4FB3-96ED-0253EC14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84603E-6A36-4C6B-AB45-FE0A6638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4762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57EBB-559A-44EF-90C8-CED3305E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7647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系统局限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FC3B2-A7B4-4B89-A42A-E891F624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38425"/>
            <a:ext cx="2819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目前不能主动识别分布外输入，输入偏离训练集时仍会给出某个候选答案。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7B1D2-9453-4CE6-82A1-83A27486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24375"/>
            <a:ext cx="7334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00A8AA-A8D0-4908-81F7-6DC2DEB0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24375"/>
            <a:ext cx="47625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6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2292E6-405E-422A-A664-35C35EBF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57725"/>
            <a:ext cx="701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展示策略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398F0-A8A2-4A26-97D2-425BCD8A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019675"/>
            <a:ext cx="701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所以网页端强调 Top-5 候选和排序参考，避免把概率当作临床置信度。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0DC522-9EDC-4967-AC5B-A814DE5C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857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791824-B25B-492D-84DD-8765F83D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答辩话术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E82D32-431B-4B51-B717-29A38EA1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6029325"/>
            <a:ext cx="7448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老师如果指出准确率不高，要承认：任务难、类别多；本文价值在轻量化闭环和候选排序能力。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DA4284-E807-4D50-8377-D87FC5B4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7DE450-7CD2-4ACB-ADE2-BC224B8A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3EA472-F708-44AC-8494-17E64F5F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8275160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875BAD-DCBC-4F3B-801D-39348AF4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2594C-C7B0-4F2A-9629-391CAE80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7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39236-126C-492E-9157-71399427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14 / 总结与展望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DF4F9-A2D3-419D-9D23-7684F6ED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本文完成了从数据处理到网页演示的轻量级医疗 VQA 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A4256-B88D-474B-886A-22A040A0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后续可从数据、模型和系统三方面继续优化。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FC0AA-65E8-4AEF-83B1-DB7E39F9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DD411-121E-4DF5-B093-E90AC184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7625" cy="2333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C8677-72E0-4FA3-AFCD-B0D4BF7D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本文完成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9CAC9-5A0E-4C1C-8F81-40E89C72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38425"/>
            <a:ext cx="281940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固定数据划分与预处理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ResNet18 + LSTM 多模态模型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两阶段训练与测试评估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Gradio 网页演示系统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1B404-BE0F-499D-9A67-F6E23483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09C6E-0D7C-4455-9EC5-D874D3AF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47625" cy="2333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6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D96AE-3B68-49AA-AE07-8AD6A57C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7647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实验结论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F5BE2-A216-4AF9-A3AE-42955BBC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38425"/>
            <a:ext cx="281940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二阶段模型 Top-1 为 49.87%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Top-5 为 85.65%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平均单样本推理 0.007s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具备实时演示能力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4117F-1C35-49EC-9B5A-D39BC692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07790-934B-4959-A4F2-83096203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47625" cy="2333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0F4ED-5AA2-4E73-8E8A-48F37934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7647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未来改进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0548F-744A-4E23-857C-15CA52FF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38425"/>
            <a:ext cx="281940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答案归一化与数据增强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轻量注意力或轻量 Transformer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分布外拒答与结果解释</a:t>
            </a:r>
          </a:p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ONNX / TorchScript 部署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0054B-2989-4DAA-ABBA-3E26F697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谢谢各位老师，欢迎批评指正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8A90E-054F-4E95-992B-97D1B328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3A4C69-D0D5-4679-AC60-DD99CE2B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备用页从下一页开始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7C6901-5BD3-4354-956B-626368B9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52E0CD-D5C7-4E8E-AB33-57A16B5D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5AE63-02D5-403D-B4C0-1E2447A4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8593817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E02683-30B5-4137-845A-D24AF196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96F97-815C-48B4-9E99-2E0531FE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7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8A47F-49BC-484E-B912-BCE0E16C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附录 A / 代码结构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B12B1-FCE3-4F43-A3D1-26C08076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老师追问代码时，可以按文件职责回答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8C981-A349-4585-9492-D5C1A5C7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不要背全部代码，抓住数据、模型、训练、评估、演示五条线。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EC497-D8AE-4F3C-A5D7-088B409D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2D0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72546-65F3-4E9A-B6DC-6BBD5B96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0BAA4-0441-4780-9544-DE38EA70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2D0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F2416-32E8-446C-892F-8277457D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38350"/>
            <a:ext cx="2914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7EC52-D5B6-4493-A8D0-49DAABA9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2D0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EC7FA-9004-4AE1-838D-FBC63651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5105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7111D"/>
                </a:solidFill>
                <a:latin typeface="Microsoft YaHei"/>
                <a:ea typeface="Microsoft YaHei"/>
                <a:cs typeface="Microsoft YaHei"/>
              </a:rPr>
              <a:t>答辩时怎么说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43AE2-8EE4-41B9-9672-90C8ACAD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030EF-E945-4997-8F81-7CF6C153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data_preprocess.py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A9B4A-0FB4-4676-B1CF-7932E02C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9E7EF6-BDBB-47DD-8C54-394D9D8E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90800"/>
            <a:ext cx="2914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固定划分数据读取、清洗、编码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50B92-6D8F-46D2-88C0-F083A4FE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0507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03D9A-0C4B-47E1-BBCF-46BB26BF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90800"/>
            <a:ext cx="5105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保证 train/val/test 映射一致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D4F013-CB69-46F2-86A2-91EB2E0B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9B9CE-23B5-436D-AEF3-4E063211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model.py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57A07-28B6-44FA-B10B-F7A58BE6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5752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7735B-1ECD-4A16-8B38-E8F6B0E1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2914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定义 VQAModel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F5E97-0784-462D-8F23-56226BEE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5752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096F51-4D1F-4A7F-993A-042C0408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43250"/>
            <a:ext cx="5105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ResNet18 + Embedding/LSTM + 分类器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439B6E-7570-409C-86C0-2169EDFF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5001CE-B328-4A10-BD9F-32BF1E61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train.py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F98714-849F-4EA3-B62F-80EB986E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0997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1681CE-DB6A-4B03-B812-53A28D7E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95700"/>
            <a:ext cx="2914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第一阶段训练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5A9007-7775-46E2-92F8-3A386466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0997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D61099-BF76-43F9-B755-CBB68B01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95700"/>
            <a:ext cx="5105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冻结图像编码器，先学基础映射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02A798-8AF1-481C-889B-BB8BCF08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DD608E-7975-49C6-9D83-D8FA9CB6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train_finetune.py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6AFF4E-2722-4E06-959F-CC3E2330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6242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A0A45B-4277-4392-9629-02730372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48150"/>
            <a:ext cx="2914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第二阶段微调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9FF447-E16D-4255-9DD8-6C0C9BE9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6242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86BF00-093A-4A3A-8D74-EDCFF6D9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48150"/>
            <a:ext cx="5105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只解冻 layer4，降低训练成本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613365-484F-4AA0-99BB-35C5283B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3FF0C7-815E-4531-9E6E-20E3AF5E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evaluate.py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14972B-A1CE-4A76-9D33-4B2F8F2A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1487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813EA1-3EFB-4109-90DC-FB37FA8B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00600"/>
            <a:ext cx="2914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测试集评估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581741-BA0D-4A7B-BA36-0101894B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1487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D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59B1AA-B029-4795-BF36-7F836762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00600"/>
            <a:ext cx="5105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计算 Loss、Top-1、Top-5、推理时间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F88642-9C9C-4644-8A0C-69BA9227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6732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BF95F9-5BEB-4134-A308-B3EB7E9B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app.py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3DABDF-72D2-4800-9634-D1388F0B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67325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BD3B7F-42FD-4EA3-99DF-D813B9B6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353050"/>
            <a:ext cx="29146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Gradio 演示系统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D6FE5F-1138-49FB-8262-60D6E213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67325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E"/>
          </a:solidFill>
          <a:ln xmlns:a="http://schemas.openxmlformats.org/drawingml/2006/main" w="9525">
            <a:solidFill>
              <a:srgbClr val="36546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A2D6B7-6D07-4CA4-B6B1-D8313400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53050"/>
            <a:ext cx="5105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完成上传、问答、候选结果展示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A55C577-5261-4796-988A-44183CD6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FFFEF5-B3EE-44EA-9AD4-6A7BFDA2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C91D61-66A7-436D-BD8E-840FB1BA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6986212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FF6CC5-4464-491D-97D6-C196BC2A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E7D03-ACB9-45D2-BB92-0558834A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571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A37DD-3234-4966-B7C9-5AEBC7EF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附录 B / 常见追问速答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183DA-58C6-462B-B517-02C3AD18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把问题往“设计取舍”和“工程闭环”上回答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94357-2E62-4E82-A68C-5B04B78E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这里不是主讲页，是老师问到时翻出来支撑。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40F95-2302-43D9-8FFF-3C010588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81E18-0C22-4191-A9AC-7110096A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76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7A947-A13A-44B5-98D6-72916C0F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为什么用 ResNet18？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E602A-443C-4446-8839-83BDC2F1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009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参数量相对小，预训练权重容易获得，推理快，适合轻量化原型和普通设备演示。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92B5B-3698-4288-A97F-97106C2B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47875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98FFD-DB60-41FE-9D09-90016F5A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47875"/>
            <a:ext cx="476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7C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51108-76FB-459A-9FC5-EDAA98CA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81225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为什么用 LSTM？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A2D8A-6EF6-4CCD-BA1B-6C80923C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43175"/>
            <a:ext cx="3009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问题文本较短，LSTM 足够表达基本语义，同时实现简单、训练成本低。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06216-D7A8-43AA-8B38-CA6D83C8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485B3-E2FA-4E3E-AB28-D7DC0631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476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6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B44E75-508D-42C5-A246-FCA69832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为什么 Top-5？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197162-AB0F-4001-A1C8-12B04F15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43175"/>
            <a:ext cx="3009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答案类别多，Top-1 不能完全反映候选排序能力，Top-5 更适合推荐式展示。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54605-FD73-4BD9-8535-C070580E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777D9-950A-4051-B1EC-827B1B0A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76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F88F01-FD1C-46ED-88A6-E5C995F6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为什么不用临床置信度？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7B241F-2D1B-47E1-8D29-29A876BE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3009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Softmax 概率受答案空间和训练分布影响，只用于排序参考，不能直接解释为医学置信度。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D4D313-3FC2-42F6-8C87-6AE5223E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14750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E4608-33DE-4A77-800C-E88567AF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14750"/>
            <a:ext cx="476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1817B8-6A5A-4F52-A842-B54E31FE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481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准确率不高怎么办？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DC485E-32BA-48FC-9560-F3D0DA42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10050"/>
            <a:ext cx="3009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医学 VQA 类别多、长尾明显；本文重点是轻量模型可行性和工程闭环，后续可用注意力和答案归一化提升。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DDAE4F-E0CF-4FBA-A92D-DE9B157E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32B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C59390-09D3-4DEF-8099-84971098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476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3CDE2D-F88D-41B7-BA80-9F7C13AE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481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FAFC"/>
                </a:solidFill>
                <a:latin typeface="Microsoft YaHei"/>
                <a:ea typeface="Microsoft YaHei"/>
                <a:cs typeface="Microsoft YaHei"/>
              </a:rPr>
              <a:t>系统价值是什么？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31CA19-6DCC-4A43-8128-ED3796BF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3009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1CC"/>
                </a:solidFill>
                <a:latin typeface="Microsoft YaHei"/>
                <a:ea typeface="Microsoft YaHei"/>
                <a:cs typeface="Microsoft YaHei"/>
              </a:rPr>
              <a:t>它能把模型训练结果转成可交互原型，适合教学演示和候选答案推荐验证。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B7A84F-ABF2-4DAA-B30F-C0F515A6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8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00B9B6-1920-41E9-A6A7-FA888910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692A3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452149-AD8A-4BCD-8200-17390516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7225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5D2D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15661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2026-06-05T06:32:14.7160000Z</dcterms:created>
  <dcterms:modified xsi:type="dcterms:W3CDTF">2026-06-05T06:32:14.7160000Z</dcterms:modified>
</coreProperties>
</file>